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7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60"/>
        <p:guide pos="289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Kính thưa Thầy/Cô và các bạn sinh viên. Hôm nay, nhóm em xin phép được trình bày báo cáo chuyên sâu về Chương 3: Thiết kế Kiến trúc Phần mềm. Trọng tâm của bài báo cáo tập trung làm sáng tỏ ba bài toán cốt lõi trong kỹ thuật phần mềm: Thứ nhất là phương pháp luận đánh giá các phương án kiến trúc thay thế; thứ hai là lý thuyết phân tích phổ mẫu thiết kế; và thứ ba là các phong cách kiến trúc hiện đại tiêu biểu. Toàn bộ lý thuyết này sẽ được nhóm em soi chiếu, minh chứng và liên hệ trực tiếp vào dự án thực tế của nhóm – đó là Hệ thống Quản lý Nhà hàng và Gọi món Trực tuyến php-restaurant. Kính mời Thầy/Cô cùng theo dõi nội dung chi tiết ngay sau đây.</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 name="PlaceHolder 1"/>
          <p:cNvSpPr>
            <a:spLocks noGrp="1"/>
          </p:cNvSpPr>
          <p:nvPr>
            <p:ph type="sldImg"/>
          </p:nvPr>
        </p:nvSpPr>
        <p:spPr>
          <a:xfrm>
            <a:off x="685800" y="1143000"/>
            <a:ext cx="5486040" cy="3085920"/>
          </a:xfrm>
          <a:prstGeom prst="rect">
            <a:avLst/>
          </a:prstGeom>
          <a:ln w="0">
            <a:noFill/>
          </a:ln>
        </p:spPr>
      </p:sp>
      <p:sp>
        <p:nvSpPr>
          <p:cNvPr id="34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vi-VN" sz="1800" b="0" u="none" strike="noStrike">
              <a:solidFill>
                <a:srgbClr val="000000"/>
              </a:solidFill>
              <a:effectLst/>
              <a:uFillTx/>
              <a:latin typeface="Arial" panose="020B0604020202020204"/>
            </a:endParaRPr>
          </a:p>
        </p:txBody>
      </p:sp>
      <p:sp>
        <p:nvSpPr>
          <p:cNvPr id="342"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50165EA-475E-4A0F-AD26-9DF73DA2E857}" type="slidenum">
              <a:rPr lang="en-US" sz="1200" b="0" u="none" strike="noStrike">
                <a:solidFill>
                  <a:schemeClr val="dk1"/>
                </a:solidFill>
                <a:effectLst/>
                <a:uFillTx/>
                <a:latin typeface="+mn-lt"/>
                <a:ea typeface="+mn-ea"/>
              </a:rPr>
            </a:fld>
            <a:endParaRPr lang="vi-VN" sz="1200" b="0" u="none" strike="noStrike">
              <a:solidFill>
                <a:srgbClr val="000000"/>
              </a:solidFill>
              <a:effectLst/>
              <a:uFillTx/>
              <a:latin typeface="Times New Roman" panose="02020603050405020304"/>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Bài thuyết trình của nhóm được chia làm 3 phần lớn với bố cục phân cấp logic từ 1.1 đến 3.4. Phần đầu tiên sẽ giải quyết bài toán ra quyết định kỹ thuật: Làm thế nào để chọn được kiến trúc phù hợp nhất giữa vô vàn giải pháp? Phần thứ hai đi sâu vào lý thuyết phân tích phổ của Buschmann để hiểu rõ cách các mẫu phần mềm kết nối từ cấp độ vĩ mô xuống từng dòng code PHP. Và phần thứ ba sẽ mở rộng sang các kiến trúc hiện đại như Microservices hay Event-Driven, đồng thời vạch ra lộ trình tiến hóa kiến trúc cho hệ thống nhà hàng của chúng em.</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Bước vào mục 1.1, câu hỏi đầu tiên đặt ra là: Tại sao chúng ta phải đánh giá các kiến trúc thay thế? Trong kỹ thuật phần mềm, một trong những chân lý quan trọng nhất là: Không có một kiến trúc nào là tốt nhất về mọi mặt. Nếu bạn muốn hệ thống có hiệu năng cực cao và bảo mật tối đa, bạn sẽ phải đánh đổi bằng chi phí phát triển lớn và thời gian ra mắt sản phẩm bị kéo dài. Nếu bạn chọn kiến trúc vi dịch vụ để mở rộng quy mô, bạn buộc phải đánh đổi tính nhất quán dữ liệu tức thời và chấp nhận tính phức tạp của hệ thống phân tán. Vì vậy, mục tiêu tối thượng của việc đánh giá kiến trúc là lượng hóa các thuộc tính chất lượng theo chuẩn ISO 25010 nhằm tìm ra điểm cân bằng tối ưu cho bài toán cụ thể.</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Để việc so sánh kiến trúc không bị rơi vào tranh luận cảm tính, các kỹ sư phần mềm trên thế giới sử dụng phương pháp ATAM do Viện SEI phát triển. ATAM hoạt động dựa trên các 'Kịch bản' (Scenarios) cụ thể để tìm ra hai yếu tố then chốt: 'Điểm nhạy cảm' – tức là điểm mà một thay đổi nhỏ sẽ làm thay đổi lớn hiệu năng hệ thống, và 'Điểm đánh đổi' – nơi mà hai thuộc tính chất lượng xung đột nhau. Bên cạnh đó, phương pháp CBAM sẽ giúp ban lãnh đạo trả lời câu hỏi: Bỏ thêm tiền nâng cấp kiến trúc thì mang lại bao nhiêu giá trị nghiệp vụ? Đây là những công cụ tư duy sắc bén của một kiến trúc sư phần mềm chuyên nghiệp.</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Trong thực tế dự án, quy trình đánh giá kiến trúc được chuẩn hóa thành 5 bước tuần tự như trên slide. Bắt đầu từ việc trích xuất các ASRs – tức là các yêu cầu kiến trúc trọng yếu. Sau đó nhóm sẽ đề xuất các kiến trúc ứng viên, đưa vào các kịch bản kiểm thử giả định, chấm điểm ma trận và quan trọng nhất là bước số 5: Ban hành tài liệu ADR. Tài liệu ADR chính là 'bản cam kết kỹ thuật' giải thích vì sao nhóm chọn kiến trúc này mà không chọn kiến trúc khác, giúp các lập trình viên vào sau hiểu được lý do thiết kế mà không tùy tiện phá vỡ cấu trúc.</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Áp dụng vào thực tế dự án của nhóm: Chúng em xây dựng hệ thống quản lý nhà hàng php-restaurant. Nghiệp vụ của nhà hàng đòi hỏi tính toàn vẹn dữ liệu cực kỳ khắt khe: Khi thủ kho tạo một phiếu nhập kho gồm 20 nguyên liệu, hệ thống bắt buộc phải cập nhật đồng bộ bảng phiếu nhập và bảng tồn kho trong một Transaction duy nhất; nếu có lỗi phải hoàn tác ngay lập tức. Đứng trước bài toán này, nhóm đã đặt lên bàn cân 4 phương án kiến trúc: Monolithic MVC, Microservices, Serverless và mô hình SPA tách rời API. Mỗi phương án đều có thế mạnh riêng, nhưng phải xem xét kỹ mức độ phù hợp với quy mô thực tế của dự án.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Nhìn vào bảng ma trận đánh đổi trên slide, Thầy/Cô có thể thấy lý do vì sao nhóm lựa chọn kiến trúc Monolith MVC. Với 3 tiêu chí quan trọng nhất chiếm 60% trọng số là: Chi phí hạ tầng, Thời gian phát triển và Tính toàn vẹn ACID của phiếu nhập kho, Monolith PHP đạt điểm số gần như tuyệt đối (9.0 đến 9.5). Trong khi đó, Microservices mặc dù rất mạnh về khả năng mở rộng (9.5 điểm) nhưng lại nhận điểm rất thấp ở chi phí và độ phức tạp vận hành. Kết quả tổng điểm 8.60 đã khẳng định Monolith MVC là lựa chọn tối ưu và kinh tế nhất cho dự án hiện nay. Quyết định này đã được chính thức chuẩn hóa trong hồ sơ ADR-001 của nhóm.</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Chuyển sang Phần 2, nhóm xin trình bày về một chủ đề rất sâu sắc trong lý thuyết kiến trúc phần mềm: 'Phân tích phổ trong thiết kế kiến trúc'. Khái niệm Phổ Mẫu (The Pattern Spectrum) được các tác giả cuốn sách POSA đưa ra nhằm giải quyết một sự nhầm lẫn phổ biến của các lập trình viên: Đó là đánh đồng giữa Mẫu Kiến trúc (Architectural Pattern) và Mẫu Thiết kế (Design Pattern). Phổ mẫu thiết lập một dải liên tục: Ở trên đỉnh cao nhất là các mẫu vĩ mô bao quát toàn hệ thống; ở giữa là các mẫu phối hợp đối tượng; và ở đáy là các thành ngữ cú pháp ngôn ngữ. Hiểu được phổ mẫu sẽ giúp chúng ta có cái nhìn toàn cảnh từ chiến lược đến chiến thuật.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Tầng đầu tiên trên đỉnh của phổ mẫu chính là Mẫu Kiến trúc (Architectural Patterns). Đây là những bản vẽ tổng mặt bằng của cả một tòa nhà phần mềm. Nó quy định hệ thống được chia thành mấy khối lớn, ví dụ mô hình MVC quy định tách thành Model, View và Controller. Điểm mấu chốt của tầng này là nó mang tính độc lập hoàn toàn với công nghệ. Dù quý vị lập trình bằng PHP, Java Spring Boot hay ASP.NET Core, thì các ràng buộc kiến trúc của mô hình MVC hay Layered vẫn hoàn toàn giữ nguyên giá trị.</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Đi xuống tầng trung gian là Mẫu Thiết kế (Design Patterns). Nếu Architectural Pattern là bản vẽ toàn bộ ngôi nhà, thì Design Pattern là thiết kế chi tiết của một căn phòng – ví dụ như cách lắp đặt hệ thống điện nước hay cách bố trí nội thất. Đó là 23 mẫu GoF nổi tiếng như Singleton, Factory, hay Strategy. Cuối cùng, ở đáy phổ là Thành ngữ Ngôn ngữ (Idioms). Đây là những mẹo lập trình tinh tế gắn liền với từng ngôn ngữ cụ thể, ví dụ như trong PHP, việc sử dụng hàm PDO Prepared Statements để truyền tham số an toàn chính là một Idiom kinh điển giúp chống lại lỗ hổng SQL Injection.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Một hệ thống phần mềm chất lượng cao là hệ thống có sự nhất quán tuyệt đối dọc theo dải phổ mẫu từ trên xuống dưới. Khi chúng ta đã quyết định áp dụng Architectural Pattern là MVC, thì ở tầng thiết kế, Controller bắt buộc phải tuân theo Template Method và Model phải tuân theo Table Data Gateway. Ở tầng cài đặt, lập trình viên không bao giờ được phép viết câu lệnh SQL trực tiếp vào tệp View HTML. Nếu lập trình viên vi phạm điều này, hiện tượng 'xói mòn kiến trúc' sẽ xảy ra, làm cho toàn bộ mô hình kiến trúc ban đầu bị sụp đổ chỉ sau một thời gian ngắn bảo trì.</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Trên slide 12, nhóm em xin minh chứng trực tiếp bản đồ phổ mẫu qua chính cấu trúc mã nguồn của dự án php-restaurant. Ở tầng vĩ mô, chúng em có bộ khung core/App, core/Controller và core/Model tạo nên khung sườn MVC. Ở tầng trung mô, chúng em ứng dụng Front Controller để định tuyến URL, Template Method để tái sử dụng mã lệnh kiểm tra quyền requireRoles(), và RBAC để phân chia quyền lực cho 6 nhóm người dùng. Xuống tới từng dòng code PHP ở tầng vi mô, toàn bộ các truy vấn CSDL đều tuân thủ nghiêm ngặt Idiom PDO Prepared Statements. Nhờ có sự phân tầng mạch lạc này, dự án của chúng em đạt độ tin cậy và khả năng bảo trì rất cao.</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Bước sang Phần 3, chúng ta cùng nhìn vào bức tranh toàn cảnh của các mẫu thiết kế kiến trúc hiện đại. Trong kỷ nguyên số hóa, phần mềm không còn chỉ phục vụ vài trăm nhân viên nội bộ, mà phải phục vụ hàng triệu người dùng cùng lúc trên Internet. Điều này đã thúc đẩy sự chuyển dịch mạnh mẽ từ các kiến trúc nguyên khối sang kiến trúc phân tán và Cloud-Native. Ba động lực sống còn thúc đẩy sự tiến hóa này chính là: Khả năng co giãn đàn hồi không giới hạn, tính sẵn sàng 99.99% không gián đoạn, và khả năng triển khai liên tục CI/CD mà không cần tắt server.</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Mẫu kiến trúc hiện đại đầu tiên mà nhóm muốn giới thiệu là Clean Architecture của tác giả Robert C. Martin. Bản chất của Clean Architecture được gói gọn trong một quy tắc vàng: 'Quy tắc phụ thuộc một chiều từ ngoài vào trong'. Trái tim của ứng dụng là các thực thể Entities và các ca sử dụng Use Cases. Chúng hoàn toàn độc lập, không hề biết đến sự tồn tại của cơ sở dữ liệu hay giao diện web bên ngoài. CSDL hay Framework chỉ đóng vai trò như các cổng cắm (Adapters) vào hệ thống. Nhờ đó, chúng ta có thể kiểm thử toàn bộ logic nghiệp vụ một cách độc lập và thay thế công nghệ bên ngoài mà không làm ảnh hưởng đến lõi phần mềm.</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Mẫu kiến trúc thứ hai – và cũng là mẫu kiến trúc phổ biến nhất trong các doanh nghiệp công nghệ lớn hiện nay – chính là Microservices. Thay vì gom tất cả mã nguồn vào một khối duy nhất, Microservices xé nhỏ ứng dụng thành các dịch vụ độc lập. Điểm mấu chốt của Microservices là nguyên tắc 'Database-per-Service': Mỗi dịch vụ sở hữu cơ sở dữ liệu riêng, cấm tuyệt đối việc truy cập chéo. Để điều phối, hệ thống cần một API Gateway làm cửa ngõ duy nhất. Mặc dù Microservices cho phép mở rộng quy mô độc lập tuyệt vời, nhưng nó đòi hỏi năng lực DevOps rất cao để quản lý hàng chục container phân tán.</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Tiếp theo là hai mô hình đại diện cho xu hướng điện toán đám mây hiện đại: Event-Driven và Serverless. Trong kiến trúc hướng sự kiện, các thành phần không cần phải đợi nhau trả lời; khi có một sự kiện như 'Khách đặt món', một tin nhắn được bắn vào hàng đợi Kafka và các dịch vụ khác như Bếp hay Kho sẽ tự động đón nhận xử lý bất đồng bộ. Điều này giúp hệ thống đạt thông lượng cực kỳ khủng khiếp. Trong khi đó, Serverless đưa sự tự động hóa lên đỉnh cao: Quý vị không cần thuê máy chủ hàng tháng, chỉ khi nào có khách bấm gọi món thì một hàm FaaS trên đám mây mới khởi chạy và tính tiền trong vài mili-giây, giúp tiết kiệm chi phí tối đa cho doanh nghiệp.</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Slide 17 tổng hợp lại một bức tranh so sánh đa chiều giữa 5 phong cách kiến trúc hiện đại. Một lần nữa, chúng ta thấy rõ nguyên lý đánh đổi: Không có giải pháp nào hoàn hảo về mọi mặt. Nếu quý vị cần tốc độ phản hồi tính bằng micro-giây, Space-Based là số một nhưng chi phí mua RAM sẽ vô cùng đắt đỏ. Nếu quý vị muốn tối ưu hóa chi phí và nhân lực vận hành, Serverless hoặc Clean Architecture sẽ là lựa chọn khôn ngoan. Bảng ma trận này đóng vai trò như một kim chỉ nam giúp các kỹ sư công nghệ lựa chọn đúng vũ khí cho bài toán của mình.</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Áp dụng những kiến thức hiện đại trên vào tương lai của dự án php-restaurant: Giả sử chuỗi nhà hàng của chúng em phát triển lên 50 chi nhánh. Vào giờ cao điểm trưa, hàng ngàn thực khách quét QR cùng lúc sẽ làm sập máy chủ MySQL của hệ thống Monolith hiện tại. Do đó, nhóm em đã thiết kế sẵn một Kiến trúc Đích (Target Architecture) kết hợp giữa Microservices và Event-Driven. Chúng em tách riêng module QR Order chạy bằng Node.js và Redis để gánh toàn bộ lưu lượng tải của khách hàng; module Bếp sử dụng WebSocket để báo món tức thời; trong khi module Nhập kho nguyên liệu cốt lõi vẫn kế thừa logic PHP vững chắc với CSDL PostgreSQL. Toàn bộ các dịch vụ được kết nối mượt mà qua luồng sự kiện của Apache Kafka.</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Một sai lầm chết người mà nhiều dự án mắc phải là 'đập đi xây lại' toàn bộ hệ thống cũ – điều này dễ dẫn đến thảm họa ngừng trệ kinh doanh. Nhóm em lựa chọn chiến lược Strangler Fig Pattern – tức là 'Mẫu cây đa siết' do Martin Fowler đề xuất. Chúng em sẽ trồng một 'cây đa mới' bằng cách đặt một API Gateway phía trước, sau đó bóc tách từng cành nhánh – bắt đầu từ tính năng quét QR gọi món. Khi tính năng mới chạy ổn định, chúng em chuyển hướng dần lưu lượng sang đó, giữ nguyên hệ thống cũ cho các nghiệp vụ nội bộ. Cứ như vậy, hệ thống mới sẽ lớn dần và thay thế hoàn toàn hệ thống cũ một cách êm đẹp, bảo đảm chuỗi nhà hàng luôn mở cửa kinh doanh 24/7.</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Kính thưa Thầy/Cô, thông điệp cuối cùng mà nhóm muốn đúc kết qua bài báo cáo hôm nay chính là: Kiến trúc phần mềm không phải là một mô hình tĩnh trên trang giấy, mà là một sinh thể sống đồng hành cùng sự phát triển của doanh nghiệp. Việc chúng em chọn Monolith MVC cho dự án php-restaurant ở thời điểm hiện tại là hoàn toàn đúng đắn về mặt kỹ thuật và chi phí; đồng thời việc chúng em chuẩn bị sẵn lộ trình Strangler Fig để tiến hóa sang Microservices thể hiện tầm nhìn dài hạn của người kỹ sư phần mềm. Nhóm xin chân thành cảm ơn Thầy/Cô và các bạn đã lắng nghe. Chúng em rất mong nhận được những nhận xét và câu hỏi đóng góp quý báu từ Thầy/Cô!</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image" Target="../media/image5.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0F2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0" y="1280160"/>
            <a:ext cx="2286000"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554480"/>
            <a:ext cx="9875520" cy="4114800"/>
          </a:xfrm>
          <a:prstGeom prst="rect">
            <a:avLst/>
          </a:prstGeom>
          <a:noFill/>
        </p:spPr>
        <p:txBody>
          <a:bodyPr wrap="square">
            <a:spAutoFit/>
          </a:bodyPr>
          <a:lstStyle/>
          <a:p>
            <a:r>
              <a:rPr sz="1300" b="1">
                <a:solidFill>
                  <a:srgbClr val="D97706"/>
                </a:solidFill>
                <a:latin typeface="Arial" panose="020B0604020202020204"/>
              </a:rPr>
              <a:t>HỌC PHẦN: KIẾN TRÚC VÀ THIẾT KẾ PHẦN MỀM</a:t>
            </a:r>
            <a:endParaRPr sz="1300" b="1">
              <a:solidFill>
                <a:srgbClr val="D97706"/>
              </a:solidFill>
              <a:latin typeface="Arial" panose="020B0604020202020204"/>
            </a:endParaRPr>
          </a:p>
          <a:p>
            <a:pPr>
              <a:spcBef>
                <a:spcPts val="1000"/>
              </a:spcBef>
              <a:spcAft>
                <a:spcPts val="1200"/>
              </a:spcAft>
            </a:pPr>
            <a:r>
              <a:rPr sz="3200" b="1">
                <a:solidFill>
                  <a:srgbClr val="FFFFFF"/>
                </a:solidFill>
                <a:latin typeface="Arial" panose="020B0604020202020204"/>
              </a:rPr>
              <a:t>CHƯƠNG 3: THIẾT KẾ KIẾN TRÚC</a:t>
            </a:r>
            <a:endParaRPr sz="3200" b="1">
              <a:solidFill>
                <a:srgbClr val="FFFFFF"/>
              </a:solidFill>
              <a:latin typeface="Arial" panose="020B0604020202020204"/>
            </a:endParaRPr>
          </a:p>
          <a:p>
            <a:pPr>
              <a:spcAft>
                <a:spcPts val="2400"/>
              </a:spcAft>
            </a:pPr>
            <a:r>
              <a:rPr sz="1500">
                <a:solidFill>
                  <a:srgbClr val="CBD5E1"/>
                </a:solidFill>
                <a:latin typeface="Arial" panose="020B0604020202020204"/>
              </a:rPr>
              <a:t>1. Đánh giá các kiến trúc thay thế (3.2.3)
2. Phân tích phổ trong thiết kế kiến trúc (3.3.1)
3. Một số mẫu thiết kế kiến trúc phổ biến &amp; hiện đại (3.3.2)</a:t>
            </a:r>
            <a:endParaRPr sz="1500">
              <a:solidFill>
                <a:srgbClr val="CBD5E1"/>
              </a:solidFill>
              <a:latin typeface="Arial" panose="020B0604020202020204"/>
            </a:endParaRPr>
          </a:p>
          <a:p>
            <a:r>
              <a:rPr sz="1100" i="1">
                <a:solidFill>
                  <a:srgbClr val="D97706"/>
                </a:solidFill>
                <a:latin typeface="Arial" panose="020B0604020202020204"/>
              </a:rPr>
              <a:t>Dự án thực nghiệm: Hệ thống Quản lý Nhà hàng &amp; Gọi món Trực tuyến (cimonwork-design/php-restaurant)
Công nghệ: PHP Native MVC, MySQL PDO, JWT Authentication, RBAC 6 vai trò</a:t>
            </a:r>
            <a:endParaRPr sz="1100" i="1">
              <a:solidFill>
                <a:srgbClr val="D97706"/>
              </a:solidFill>
              <a:latin typeface="Arial" panose="020B06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0"/>
          <p:cNvSpPr/>
          <p:nvPr/>
        </p:nvSpPr>
        <p:spPr>
          <a:xfrm>
            <a:off x="731482" y="426876"/>
            <a:ext cx="4876066" cy="365261"/>
          </a:xfrm>
          <a:prstGeom prst="rect">
            <a:avLst/>
          </a:prstGeom>
          <a:noFill/>
          <a:ln w="0">
            <a:noFill/>
          </a:ln>
        </p:spPr>
        <p:style>
          <a:lnRef idx="0">
            <a:srgbClr val="FFFFFF"/>
          </a:lnRef>
          <a:fillRef idx="0">
            <a:srgbClr val="FFFFFF"/>
          </a:fillRef>
          <a:effectRef idx="0">
            <a:srgbClr val="FFFFFF"/>
          </a:effectRef>
          <a:fontRef idx="minor"/>
        </p:style>
        <p:txBody>
          <a:bodyPr lIns="119993" tIns="59996" rIns="119993" bIns="59996" anchor="ctr">
            <a:noAutofit/>
          </a:bodyPr>
          <a:p>
            <a:pPr defTabSz="914400">
              <a:lnSpc>
                <a:spcPct val="100000"/>
              </a:lnSpc>
              <a:tabLst>
                <a:tab pos="0" algn="l"/>
              </a:tabLst>
            </a:pPr>
            <a:r>
              <a:rPr lang="en-US" sz="1335" b="1" u="none" strike="noStrike">
                <a:solidFill>
                  <a:srgbClr val="5B9CF6"/>
                </a:solidFill>
                <a:effectLst/>
                <a:uFillTx/>
                <a:latin typeface="Segoe UI" panose="020B0502040204020203"/>
                <a:ea typeface="Segoe UI" panose="020B0502040204020203"/>
              </a:rPr>
              <a:t>👥 NHÓM THỰC HIỆN</a:t>
            </a:r>
            <a:endParaRPr lang="vi-VN" sz="1335" b="0" u="none" strike="noStrike">
              <a:solidFill>
                <a:srgbClr val="FFFFFF"/>
              </a:solidFill>
              <a:effectLst/>
              <a:uFillTx/>
              <a:latin typeface="Arial" panose="020B0604020202020204"/>
            </a:endParaRPr>
          </a:p>
        </p:txBody>
      </p:sp>
      <p:sp>
        <p:nvSpPr>
          <p:cNvPr id="16" name="Text 1"/>
          <p:cNvSpPr/>
          <p:nvPr/>
        </p:nvSpPr>
        <p:spPr>
          <a:xfrm>
            <a:off x="10240747" y="426876"/>
            <a:ext cx="1218657" cy="365261"/>
          </a:xfrm>
          <a:prstGeom prst="rect">
            <a:avLst/>
          </a:prstGeom>
          <a:noFill/>
          <a:ln w="0">
            <a:noFill/>
          </a:ln>
        </p:spPr>
        <p:style>
          <a:lnRef idx="0">
            <a:srgbClr val="FFFFFF"/>
          </a:lnRef>
          <a:fillRef idx="0">
            <a:srgbClr val="FFFFFF"/>
          </a:fillRef>
          <a:effectRef idx="0">
            <a:srgbClr val="FFFFFF"/>
          </a:effectRef>
          <a:fontRef idx="minor"/>
        </p:style>
        <p:txBody>
          <a:bodyPr lIns="119993" tIns="59996" rIns="119993" bIns="59996" anchor="ctr">
            <a:noAutofit/>
          </a:bodyPr>
          <a:p>
            <a:pPr algn="r" defTabSz="914400">
              <a:lnSpc>
                <a:spcPct val="100000"/>
              </a:lnSpc>
              <a:tabLst>
                <a:tab pos="0" algn="l"/>
              </a:tabLst>
            </a:pPr>
            <a:r>
              <a:rPr lang="en-US" sz="1335" b="0" u="none" strike="noStrike">
                <a:solidFill>
                  <a:srgbClr val="6B7394"/>
                </a:solidFill>
                <a:effectLst/>
                <a:uFillTx/>
                <a:latin typeface="Segoe UI" panose="020B0502040204020203"/>
                <a:ea typeface="Segoe UI" panose="020B0502040204020203"/>
              </a:rPr>
              <a:t>2 / 27</a:t>
            </a:r>
            <a:endParaRPr lang="vi-VN" sz="1335" b="0" u="none" strike="noStrike">
              <a:solidFill>
                <a:srgbClr val="FFFFFF"/>
              </a:solidFill>
              <a:effectLst/>
              <a:uFillTx/>
              <a:latin typeface="Arial" panose="020B0604020202020204"/>
            </a:endParaRPr>
          </a:p>
        </p:txBody>
      </p:sp>
      <p:sp>
        <p:nvSpPr>
          <p:cNvPr id="17" name="Text 2"/>
          <p:cNvSpPr/>
          <p:nvPr/>
        </p:nvSpPr>
        <p:spPr>
          <a:xfrm>
            <a:off x="731482" y="853574"/>
            <a:ext cx="10727921" cy="670045"/>
          </a:xfrm>
          <a:prstGeom prst="rect">
            <a:avLst/>
          </a:prstGeom>
          <a:noFill/>
          <a:ln w="0">
            <a:noFill/>
          </a:ln>
        </p:spPr>
        <p:style>
          <a:lnRef idx="0">
            <a:srgbClr val="FFFFFF"/>
          </a:lnRef>
          <a:fillRef idx="0">
            <a:srgbClr val="FFFFFF"/>
          </a:fillRef>
          <a:effectRef idx="0">
            <a:srgbClr val="FFFFFF"/>
          </a:effectRef>
          <a:fontRef idx="minor"/>
        </p:style>
        <p:txBody>
          <a:bodyPr lIns="119993" tIns="59996" rIns="119993" bIns="59996" anchor="ctr">
            <a:noAutofit/>
          </a:bodyPr>
          <a:p>
            <a:pPr defTabSz="914400">
              <a:lnSpc>
                <a:spcPct val="100000"/>
              </a:lnSpc>
              <a:tabLst>
                <a:tab pos="0" algn="l"/>
              </a:tabLst>
            </a:pPr>
            <a:r>
              <a:rPr lang="en-US" sz="2935" b="1" u="none" strike="noStrike">
                <a:solidFill>
                  <a:srgbClr val="FF0000"/>
                </a:solidFill>
                <a:effectLst/>
                <a:uFillTx/>
                <a:latin typeface="Segoe UI" panose="020B0502040204020203"/>
                <a:ea typeface="Segoe UI" panose="020B0502040204020203"/>
              </a:rPr>
              <a:t>Thành viên nhóm</a:t>
            </a:r>
            <a:endParaRPr lang="en-US" sz="2935" b="1" u="none" strike="noStrike">
              <a:solidFill>
                <a:srgbClr val="FF0000"/>
              </a:solidFill>
              <a:effectLst/>
              <a:uFillTx/>
              <a:latin typeface="Segoe UI" panose="020B0502040204020203"/>
              <a:ea typeface="Segoe UI" panose="020B0502040204020203"/>
            </a:endParaRPr>
          </a:p>
        </p:txBody>
      </p:sp>
      <p:sp>
        <p:nvSpPr>
          <p:cNvPr id="18" name="Shape 3"/>
          <p:cNvSpPr/>
          <p:nvPr/>
        </p:nvSpPr>
        <p:spPr>
          <a:xfrm>
            <a:off x="731482" y="1585056"/>
            <a:ext cx="731002" cy="48477"/>
          </a:xfrm>
          <a:prstGeom prst="rect">
            <a:avLst/>
          </a:prstGeom>
          <a:solidFill>
            <a:srgbClr val="5B9CF6"/>
          </a:solidFill>
          <a:ln w="12700">
            <a:solidFill>
              <a:srgbClr val="5B9CF6"/>
            </a:solidFill>
            <a:round/>
          </a:ln>
        </p:spPr>
        <p:style>
          <a:lnRef idx="0">
            <a:srgbClr val="FFFFFF"/>
          </a:lnRef>
          <a:fillRef idx="0">
            <a:srgbClr val="FFFFFF"/>
          </a:fillRef>
          <a:effectRef idx="0">
            <a:srgbClr val="FFFFFF"/>
          </a:effectRef>
          <a:fontRef idx="minor"/>
        </p:style>
        <p:txBody>
          <a:bodyPr lIns="119993" tIns="-11039" rIns="119993" bIns="-11039" anchor="t">
            <a:noAutofit/>
          </a:bodyPr>
          <a:p>
            <a:endParaRPr lang="vi-VN" sz="2400" b="0" u="none" strike="noStrike">
              <a:solidFill>
                <a:srgbClr val="FFFFFF"/>
              </a:solidFill>
              <a:effectLst/>
              <a:uFillTx/>
              <a:latin typeface="Arial" panose="020B0604020202020204"/>
            </a:endParaRPr>
          </a:p>
        </p:txBody>
      </p:sp>
      <p:sp>
        <p:nvSpPr>
          <p:cNvPr id="20" name="Shape 5"/>
          <p:cNvSpPr/>
          <p:nvPr/>
        </p:nvSpPr>
        <p:spPr>
          <a:xfrm>
            <a:off x="731482" y="2560365"/>
            <a:ext cx="1950138" cy="2925448"/>
          </a:xfrm>
          <a:prstGeom prst="roundRect">
            <a:avLst>
              <a:gd name="adj" fmla="val 16667"/>
            </a:avLst>
          </a:prstGeom>
          <a:solidFill>
            <a:srgbClr val="1A2240"/>
          </a:solidFill>
          <a:ln w="12700">
            <a:solidFill>
              <a:srgbClr val="242D52"/>
            </a:solidFill>
            <a:round/>
          </a:ln>
        </p:spPr>
        <p:style>
          <a:lnRef idx="0">
            <a:srgbClr val="FFFFFF"/>
          </a:lnRef>
          <a:fillRef idx="0">
            <a:srgbClr val="FFFFFF"/>
          </a:fillRef>
          <a:effectRef idx="0">
            <a:srgbClr val="FFFFFF"/>
          </a:effectRef>
          <a:fontRef idx="minor"/>
        </p:style>
        <p:txBody>
          <a:bodyPr lIns="119993" tIns="59996" rIns="119993" bIns="59996" anchor="t">
            <a:noAutofit/>
          </a:bodyPr>
          <a:p>
            <a:endParaRPr lang="vi-VN" sz="2400" b="0" u="none" strike="noStrike">
              <a:solidFill>
                <a:srgbClr val="FFFFFF"/>
              </a:solidFill>
              <a:effectLst/>
              <a:uFillTx/>
              <a:latin typeface="Arial" panose="020B0604020202020204"/>
            </a:endParaRPr>
          </a:p>
        </p:txBody>
      </p:sp>
      <p:sp>
        <p:nvSpPr>
          <p:cNvPr id="21" name="Shape 6"/>
          <p:cNvSpPr/>
          <p:nvPr/>
        </p:nvSpPr>
        <p:spPr>
          <a:xfrm>
            <a:off x="1219137" y="2865149"/>
            <a:ext cx="974829" cy="974829"/>
          </a:xfrm>
          <a:prstGeom prst="ellipse">
            <a:avLst/>
          </a:prstGeom>
          <a:solidFill>
            <a:srgbClr val="5B9CF6"/>
          </a:solidFill>
          <a:ln w="12700">
            <a:solidFill>
              <a:srgbClr val="5B9CF6"/>
            </a:solidFill>
            <a:round/>
          </a:ln>
        </p:spPr>
        <p:style>
          <a:lnRef idx="0">
            <a:srgbClr val="FFFFFF"/>
          </a:lnRef>
          <a:fillRef idx="0">
            <a:srgbClr val="FFFFFF"/>
          </a:fillRef>
          <a:effectRef idx="0">
            <a:srgbClr val="FFFFFF"/>
          </a:effectRef>
          <a:fontRef idx="minor"/>
        </p:style>
        <p:txBody>
          <a:bodyPr lIns="119993" tIns="59996" rIns="119993" bIns="59996" anchor="t">
            <a:noAutofit/>
          </a:bodyPr>
          <a:p>
            <a:endParaRPr lang="vi-VN" sz="2400" b="0" u="none" strike="noStrike">
              <a:solidFill>
                <a:srgbClr val="FFFFFF"/>
              </a:solidFill>
              <a:effectLst/>
              <a:uFillTx/>
              <a:latin typeface="Arial" panose="020B0604020202020204"/>
            </a:endParaRPr>
          </a:p>
        </p:txBody>
      </p:sp>
      <p:sp>
        <p:nvSpPr>
          <p:cNvPr id="22" name="Text 7"/>
          <p:cNvSpPr/>
          <p:nvPr/>
        </p:nvSpPr>
        <p:spPr>
          <a:xfrm>
            <a:off x="1219137" y="2865149"/>
            <a:ext cx="974829" cy="974829"/>
          </a:xfrm>
          <a:prstGeom prst="rect">
            <a:avLst/>
          </a:prstGeom>
          <a:noFill/>
          <a:ln w="0">
            <a:noFill/>
          </a:ln>
        </p:spPr>
        <p:style>
          <a:lnRef idx="0">
            <a:srgbClr val="FFFFFF"/>
          </a:lnRef>
          <a:fillRef idx="0">
            <a:srgbClr val="FFFFFF"/>
          </a:fillRef>
          <a:effectRef idx="0">
            <a:srgbClr val="FFFFFF"/>
          </a:effectRef>
          <a:fontRef idx="minor"/>
        </p:style>
        <p:txBody>
          <a:bodyPr lIns="119993" tIns="59996" rIns="119993" bIns="59996" anchor="ctr">
            <a:noAutofit/>
          </a:bodyPr>
          <a:p>
            <a:pPr algn="ctr" defTabSz="914400">
              <a:lnSpc>
                <a:spcPct val="100000"/>
              </a:lnSpc>
              <a:tabLst>
                <a:tab pos="0" algn="l"/>
              </a:tabLst>
            </a:pPr>
            <a:r>
              <a:rPr lang="en-US" sz="2665" b="1" u="none" strike="noStrike">
                <a:solidFill>
                  <a:srgbClr val="0B1120"/>
                </a:solidFill>
                <a:effectLst/>
                <a:uFillTx/>
                <a:latin typeface="Segoe UI" panose="020B0502040204020203"/>
                <a:ea typeface="Segoe UI" panose="020B0502040204020203"/>
              </a:rPr>
              <a:t>D</a:t>
            </a:r>
            <a:endParaRPr lang="vi-VN" sz="2665" b="0" u="none" strike="noStrike">
              <a:solidFill>
                <a:srgbClr val="FFFFFF"/>
              </a:solidFill>
              <a:effectLst/>
              <a:uFillTx/>
              <a:latin typeface="Arial" panose="020B0604020202020204"/>
            </a:endParaRPr>
          </a:p>
        </p:txBody>
      </p:sp>
      <p:sp>
        <p:nvSpPr>
          <p:cNvPr id="23" name="Text 8"/>
          <p:cNvSpPr/>
          <p:nvPr/>
        </p:nvSpPr>
        <p:spPr>
          <a:xfrm>
            <a:off x="792439" y="4023329"/>
            <a:ext cx="1828225" cy="609088"/>
          </a:xfrm>
          <a:prstGeom prst="rect">
            <a:avLst/>
          </a:prstGeom>
          <a:noFill/>
          <a:ln w="0">
            <a:noFill/>
          </a:ln>
        </p:spPr>
        <p:style>
          <a:lnRef idx="0">
            <a:srgbClr val="FFFFFF"/>
          </a:lnRef>
          <a:fillRef idx="0">
            <a:srgbClr val="FFFFFF"/>
          </a:fillRef>
          <a:effectRef idx="0">
            <a:srgbClr val="FFFFFF"/>
          </a:effectRef>
          <a:fontRef idx="minor"/>
        </p:style>
        <p:txBody>
          <a:bodyPr lIns="119993" tIns="59996" rIns="119993" bIns="59996" anchor="ctr">
            <a:noAutofit/>
          </a:bodyPr>
          <a:p>
            <a:pPr algn="ctr" defTabSz="914400">
              <a:lnSpc>
                <a:spcPct val="100000"/>
              </a:lnSpc>
              <a:tabLst>
                <a:tab pos="0" algn="l"/>
              </a:tabLst>
            </a:pPr>
            <a:r>
              <a:rPr lang="en-US" sz="1735" b="1" u="none" strike="noStrike">
                <a:solidFill>
                  <a:srgbClr val="F0F2F8"/>
                </a:solidFill>
                <a:effectLst/>
                <a:uFillTx/>
                <a:latin typeface="Segoe UI" panose="020B0502040204020203"/>
                <a:ea typeface="Segoe UI" panose="020B0502040204020203"/>
              </a:rPr>
              <a:t>Lê Minh Duy</a:t>
            </a:r>
            <a:endParaRPr lang="vi-VN" sz="1735" b="0" u="none" strike="noStrike">
              <a:solidFill>
                <a:srgbClr val="FFFFFF"/>
              </a:solidFill>
              <a:effectLst/>
              <a:uFillTx/>
              <a:latin typeface="Arial" panose="020B0604020202020204"/>
            </a:endParaRPr>
          </a:p>
        </p:txBody>
      </p:sp>
      <p:sp>
        <p:nvSpPr>
          <p:cNvPr id="24" name="Text 9"/>
          <p:cNvSpPr/>
          <p:nvPr/>
        </p:nvSpPr>
        <p:spPr>
          <a:xfrm>
            <a:off x="792439" y="4693854"/>
            <a:ext cx="1828225" cy="365261"/>
          </a:xfrm>
          <a:prstGeom prst="rect">
            <a:avLst/>
          </a:prstGeom>
          <a:noFill/>
          <a:ln w="0">
            <a:noFill/>
          </a:ln>
        </p:spPr>
        <p:style>
          <a:lnRef idx="0">
            <a:srgbClr val="FFFFFF"/>
          </a:lnRef>
          <a:fillRef idx="0">
            <a:srgbClr val="FFFFFF"/>
          </a:fillRef>
          <a:effectRef idx="0">
            <a:srgbClr val="FFFFFF"/>
          </a:effectRef>
          <a:fontRef idx="minor"/>
        </p:style>
        <p:txBody>
          <a:bodyPr lIns="119993" tIns="59996" rIns="119993" bIns="59996" anchor="ctr">
            <a:noAutofit/>
          </a:bodyPr>
          <a:p>
            <a:pPr algn="ctr" defTabSz="914400">
              <a:lnSpc>
                <a:spcPct val="100000"/>
              </a:lnSpc>
              <a:tabLst>
                <a:tab pos="0" algn="l"/>
              </a:tabLst>
            </a:pPr>
            <a:r>
              <a:rPr lang="en-US" sz="1465" b="0" u="none" strike="noStrike">
                <a:solidFill>
                  <a:srgbClr val="6B7394"/>
                </a:solidFill>
                <a:effectLst/>
                <a:uFillTx/>
                <a:latin typeface="Segoe UI" panose="020B0502040204020203"/>
                <a:ea typeface="Segoe UI" panose="020B0502040204020203"/>
              </a:rPr>
              <a:t>Thành viên</a:t>
            </a:r>
            <a:endParaRPr lang="vi-VN" sz="1465" b="0" u="none" strike="noStrike">
              <a:solidFill>
                <a:srgbClr val="FFFFFF"/>
              </a:solidFill>
              <a:effectLst/>
              <a:uFillTx/>
              <a:latin typeface="Arial" panose="020B0604020202020204"/>
            </a:endParaRPr>
          </a:p>
        </p:txBody>
      </p:sp>
      <p:sp>
        <p:nvSpPr>
          <p:cNvPr id="25" name="Shape 10"/>
          <p:cNvSpPr/>
          <p:nvPr/>
        </p:nvSpPr>
        <p:spPr>
          <a:xfrm>
            <a:off x="2925928" y="2560365"/>
            <a:ext cx="1950138" cy="2925448"/>
          </a:xfrm>
          <a:prstGeom prst="roundRect">
            <a:avLst>
              <a:gd name="adj" fmla="val 16667"/>
            </a:avLst>
          </a:prstGeom>
          <a:solidFill>
            <a:srgbClr val="1A2240"/>
          </a:solidFill>
          <a:ln w="12700">
            <a:solidFill>
              <a:srgbClr val="242D52"/>
            </a:solidFill>
            <a:round/>
          </a:ln>
        </p:spPr>
        <p:style>
          <a:lnRef idx="0">
            <a:srgbClr val="FFFFFF"/>
          </a:lnRef>
          <a:fillRef idx="0">
            <a:srgbClr val="FFFFFF"/>
          </a:fillRef>
          <a:effectRef idx="0">
            <a:srgbClr val="FFFFFF"/>
          </a:effectRef>
          <a:fontRef idx="minor"/>
        </p:style>
        <p:txBody>
          <a:bodyPr lIns="119993" tIns="59996" rIns="119993" bIns="59996" anchor="t">
            <a:noAutofit/>
          </a:bodyPr>
          <a:p>
            <a:endParaRPr lang="vi-VN" sz="2400" b="0" u="none" strike="noStrike">
              <a:solidFill>
                <a:srgbClr val="FFFFFF"/>
              </a:solidFill>
              <a:effectLst/>
              <a:uFillTx/>
              <a:latin typeface="Arial" panose="020B0604020202020204"/>
            </a:endParaRPr>
          </a:p>
        </p:txBody>
      </p:sp>
      <p:sp>
        <p:nvSpPr>
          <p:cNvPr id="26" name="Shape 11"/>
          <p:cNvSpPr/>
          <p:nvPr/>
        </p:nvSpPr>
        <p:spPr>
          <a:xfrm>
            <a:off x="3413582" y="2865149"/>
            <a:ext cx="974829" cy="974829"/>
          </a:xfrm>
          <a:prstGeom prst="ellipse">
            <a:avLst/>
          </a:prstGeom>
          <a:solidFill>
            <a:srgbClr val="9B7AFF"/>
          </a:solidFill>
          <a:ln w="12700">
            <a:solidFill>
              <a:srgbClr val="9B7AFF"/>
            </a:solidFill>
            <a:round/>
          </a:ln>
        </p:spPr>
        <p:style>
          <a:lnRef idx="0">
            <a:srgbClr val="FFFFFF"/>
          </a:lnRef>
          <a:fillRef idx="0">
            <a:srgbClr val="FFFFFF"/>
          </a:fillRef>
          <a:effectRef idx="0">
            <a:srgbClr val="FFFFFF"/>
          </a:effectRef>
          <a:fontRef idx="minor"/>
        </p:style>
        <p:txBody>
          <a:bodyPr lIns="119993" tIns="59996" rIns="119993" bIns="59996" anchor="t">
            <a:noAutofit/>
          </a:bodyPr>
          <a:p>
            <a:endParaRPr lang="vi-VN" sz="2400" b="0" u="none" strike="noStrike">
              <a:solidFill>
                <a:srgbClr val="FFFFFF"/>
              </a:solidFill>
              <a:effectLst/>
              <a:uFillTx/>
              <a:latin typeface="Arial" panose="020B0604020202020204"/>
            </a:endParaRPr>
          </a:p>
        </p:txBody>
      </p:sp>
      <p:sp>
        <p:nvSpPr>
          <p:cNvPr id="27" name="Text 12"/>
          <p:cNvSpPr/>
          <p:nvPr/>
        </p:nvSpPr>
        <p:spPr>
          <a:xfrm>
            <a:off x="3413582" y="2865149"/>
            <a:ext cx="974829" cy="974829"/>
          </a:xfrm>
          <a:prstGeom prst="rect">
            <a:avLst/>
          </a:prstGeom>
          <a:noFill/>
          <a:ln w="0">
            <a:noFill/>
          </a:ln>
        </p:spPr>
        <p:style>
          <a:lnRef idx="0">
            <a:srgbClr val="FFFFFF"/>
          </a:lnRef>
          <a:fillRef idx="0">
            <a:srgbClr val="FFFFFF"/>
          </a:fillRef>
          <a:effectRef idx="0">
            <a:srgbClr val="FFFFFF"/>
          </a:effectRef>
          <a:fontRef idx="minor"/>
        </p:style>
        <p:txBody>
          <a:bodyPr lIns="119993" tIns="59996" rIns="119993" bIns="59996" anchor="ctr">
            <a:noAutofit/>
          </a:bodyPr>
          <a:p>
            <a:pPr algn="ctr" defTabSz="914400">
              <a:lnSpc>
                <a:spcPct val="100000"/>
              </a:lnSpc>
              <a:tabLst>
                <a:tab pos="0" algn="l"/>
              </a:tabLst>
            </a:pPr>
            <a:r>
              <a:rPr lang="en-US" sz="2665" b="1" u="none" strike="noStrike">
                <a:solidFill>
                  <a:srgbClr val="0B1120"/>
                </a:solidFill>
                <a:effectLst/>
                <a:uFillTx/>
                <a:latin typeface="Segoe UI" panose="020B0502040204020203"/>
                <a:ea typeface="Segoe UI" panose="020B0502040204020203"/>
              </a:rPr>
              <a:t>Đ</a:t>
            </a:r>
            <a:endParaRPr lang="vi-VN" sz="2665" b="0" u="none" strike="noStrike">
              <a:solidFill>
                <a:srgbClr val="FFFFFF"/>
              </a:solidFill>
              <a:effectLst/>
              <a:uFillTx/>
              <a:latin typeface="Arial" panose="020B0604020202020204"/>
            </a:endParaRPr>
          </a:p>
        </p:txBody>
      </p:sp>
      <p:sp>
        <p:nvSpPr>
          <p:cNvPr id="28" name="Text 13"/>
          <p:cNvSpPr/>
          <p:nvPr/>
        </p:nvSpPr>
        <p:spPr>
          <a:xfrm>
            <a:off x="2986884" y="4023329"/>
            <a:ext cx="1828225" cy="609088"/>
          </a:xfrm>
          <a:prstGeom prst="rect">
            <a:avLst/>
          </a:prstGeom>
          <a:noFill/>
          <a:ln w="0">
            <a:noFill/>
          </a:ln>
        </p:spPr>
        <p:style>
          <a:lnRef idx="0">
            <a:srgbClr val="FFFFFF"/>
          </a:lnRef>
          <a:fillRef idx="0">
            <a:srgbClr val="FFFFFF"/>
          </a:fillRef>
          <a:effectRef idx="0">
            <a:srgbClr val="FFFFFF"/>
          </a:effectRef>
          <a:fontRef idx="minor"/>
        </p:style>
        <p:txBody>
          <a:bodyPr lIns="119993" tIns="59996" rIns="119993" bIns="59996" anchor="ctr">
            <a:noAutofit/>
          </a:bodyPr>
          <a:p>
            <a:pPr algn="ctr" defTabSz="914400">
              <a:lnSpc>
                <a:spcPct val="100000"/>
              </a:lnSpc>
              <a:tabLst>
                <a:tab pos="0" algn="l"/>
              </a:tabLst>
            </a:pPr>
            <a:r>
              <a:rPr lang="en-US" sz="1735" b="1" u="none" strike="noStrike">
                <a:solidFill>
                  <a:srgbClr val="F0F2F8"/>
                </a:solidFill>
                <a:effectLst/>
                <a:uFillTx/>
                <a:latin typeface="Segoe UI" panose="020B0502040204020203"/>
                <a:ea typeface="Segoe UI" panose="020B0502040204020203"/>
              </a:rPr>
              <a:t>Nguyễn Mạnh Đức</a:t>
            </a:r>
            <a:endParaRPr lang="vi-VN" sz="1735" b="0" u="none" strike="noStrike">
              <a:solidFill>
                <a:srgbClr val="FFFFFF"/>
              </a:solidFill>
              <a:effectLst/>
              <a:uFillTx/>
              <a:latin typeface="Arial" panose="020B0604020202020204"/>
            </a:endParaRPr>
          </a:p>
        </p:txBody>
      </p:sp>
      <p:sp>
        <p:nvSpPr>
          <p:cNvPr id="29" name="Text 14"/>
          <p:cNvSpPr/>
          <p:nvPr/>
        </p:nvSpPr>
        <p:spPr>
          <a:xfrm>
            <a:off x="2986884" y="4693854"/>
            <a:ext cx="1828225" cy="365261"/>
          </a:xfrm>
          <a:prstGeom prst="rect">
            <a:avLst/>
          </a:prstGeom>
          <a:noFill/>
          <a:ln w="0">
            <a:noFill/>
          </a:ln>
        </p:spPr>
        <p:style>
          <a:lnRef idx="0">
            <a:srgbClr val="FFFFFF"/>
          </a:lnRef>
          <a:fillRef idx="0">
            <a:srgbClr val="FFFFFF"/>
          </a:fillRef>
          <a:effectRef idx="0">
            <a:srgbClr val="FFFFFF"/>
          </a:effectRef>
          <a:fontRef idx="minor"/>
        </p:style>
        <p:txBody>
          <a:bodyPr lIns="119993" tIns="59996" rIns="119993" bIns="59996" anchor="ctr">
            <a:noAutofit/>
          </a:bodyPr>
          <a:p>
            <a:pPr algn="ctr" defTabSz="914400">
              <a:lnSpc>
                <a:spcPct val="100000"/>
              </a:lnSpc>
              <a:tabLst>
                <a:tab pos="0" algn="l"/>
              </a:tabLst>
            </a:pPr>
            <a:r>
              <a:rPr lang="en-US" sz="1465" b="0" u="none" strike="noStrike">
                <a:solidFill>
                  <a:srgbClr val="6B7394"/>
                </a:solidFill>
                <a:effectLst/>
                <a:uFillTx/>
                <a:latin typeface="Segoe UI" panose="020B0502040204020203"/>
                <a:ea typeface="Segoe UI" panose="020B0502040204020203"/>
              </a:rPr>
              <a:t>Thành viên</a:t>
            </a:r>
            <a:endParaRPr lang="vi-VN" sz="1465" b="0" u="none" strike="noStrike">
              <a:solidFill>
                <a:srgbClr val="FFFFFF"/>
              </a:solidFill>
              <a:effectLst/>
              <a:uFillTx/>
              <a:latin typeface="Arial" panose="020B0604020202020204"/>
            </a:endParaRPr>
          </a:p>
        </p:txBody>
      </p:sp>
      <p:sp>
        <p:nvSpPr>
          <p:cNvPr id="30" name="Shape 15"/>
          <p:cNvSpPr/>
          <p:nvPr/>
        </p:nvSpPr>
        <p:spPr>
          <a:xfrm>
            <a:off x="5120373" y="2560365"/>
            <a:ext cx="1950138" cy="2925448"/>
          </a:xfrm>
          <a:prstGeom prst="roundRect">
            <a:avLst>
              <a:gd name="adj" fmla="val 16667"/>
            </a:avLst>
          </a:prstGeom>
          <a:solidFill>
            <a:srgbClr val="1A2240"/>
          </a:solidFill>
          <a:ln w="12700">
            <a:solidFill>
              <a:srgbClr val="242D52"/>
            </a:solidFill>
            <a:round/>
          </a:ln>
        </p:spPr>
        <p:style>
          <a:lnRef idx="0">
            <a:srgbClr val="FFFFFF"/>
          </a:lnRef>
          <a:fillRef idx="0">
            <a:srgbClr val="FFFFFF"/>
          </a:fillRef>
          <a:effectRef idx="0">
            <a:srgbClr val="FFFFFF"/>
          </a:effectRef>
          <a:fontRef idx="minor"/>
        </p:style>
        <p:txBody>
          <a:bodyPr lIns="119993" tIns="59996" rIns="119993" bIns="59996" anchor="t">
            <a:noAutofit/>
          </a:bodyPr>
          <a:p>
            <a:endParaRPr lang="vi-VN" sz="2400" b="0" u="none" strike="noStrike">
              <a:solidFill>
                <a:srgbClr val="FFFFFF"/>
              </a:solidFill>
              <a:effectLst/>
              <a:uFillTx/>
              <a:latin typeface="Arial" panose="020B0604020202020204"/>
            </a:endParaRPr>
          </a:p>
        </p:txBody>
      </p:sp>
      <p:sp>
        <p:nvSpPr>
          <p:cNvPr id="31" name="Shape 16"/>
          <p:cNvSpPr/>
          <p:nvPr/>
        </p:nvSpPr>
        <p:spPr>
          <a:xfrm>
            <a:off x="5608028" y="2865149"/>
            <a:ext cx="974829" cy="974829"/>
          </a:xfrm>
          <a:prstGeom prst="ellipse">
            <a:avLst/>
          </a:prstGeom>
          <a:solidFill>
            <a:srgbClr val="F5A623"/>
          </a:solidFill>
          <a:ln w="12700">
            <a:solidFill>
              <a:srgbClr val="F5A623"/>
            </a:solidFill>
            <a:round/>
          </a:ln>
        </p:spPr>
        <p:style>
          <a:lnRef idx="0">
            <a:srgbClr val="FFFFFF"/>
          </a:lnRef>
          <a:fillRef idx="0">
            <a:srgbClr val="FFFFFF"/>
          </a:fillRef>
          <a:effectRef idx="0">
            <a:srgbClr val="FFFFFF"/>
          </a:effectRef>
          <a:fontRef idx="minor"/>
        </p:style>
        <p:txBody>
          <a:bodyPr lIns="119993" tIns="59996" rIns="119993" bIns="59996" anchor="t">
            <a:noAutofit/>
          </a:bodyPr>
          <a:p>
            <a:endParaRPr lang="vi-VN" sz="2400" b="0" u="none" strike="noStrike">
              <a:solidFill>
                <a:srgbClr val="000000"/>
              </a:solidFill>
              <a:effectLst/>
              <a:uFillTx/>
              <a:latin typeface="Arial" panose="020B0604020202020204"/>
            </a:endParaRPr>
          </a:p>
        </p:txBody>
      </p:sp>
      <p:sp>
        <p:nvSpPr>
          <p:cNvPr id="32" name="Text 17"/>
          <p:cNvSpPr/>
          <p:nvPr/>
        </p:nvSpPr>
        <p:spPr>
          <a:xfrm>
            <a:off x="5608028" y="2865149"/>
            <a:ext cx="974829" cy="974829"/>
          </a:xfrm>
          <a:prstGeom prst="rect">
            <a:avLst/>
          </a:prstGeom>
          <a:noFill/>
          <a:ln w="0">
            <a:noFill/>
          </a:ln>
        </p:spPr>
        <p:style>
          <a:lnRef idx="0">
            <a:srgbClr val="FFFFFF"/>
          </a:lnRef>
          <a:fillRef idx="0">
            <a:srgbClr val="FFFFFF"/>
          </a:fillRef>
          <a:effectRef idx="0">
            <a:srgbClr val="FFFFFF"/>
          </a:effectRef>
          <a:fontRef idx="minor"/>
        </p:style>
        <p:txBody>
          <a:bodyPr lIns="119993" tIns="59996" rIns="119993" bIns="59996" anchor="ctr">
            <a:noAutofit/>
          </a:bodyPr>
          <a:p>
            <a:pPr algn="ctr" defTabSz="914400">
              <a:lnSpc>
                <a:spcPct val="100000"/>
              </a:lnSpc>
              <a:tabLst>
                <a:tab pos="0" algn="l"/>
              </a:tabLst>
            </a:pPr>
            <a:r>
              <a:rPr lang="en-US" sz="2665" b="1" u="none" strike="noStrike">
                <a:solidFill>
                  <a:srgbClr val="0B1120"/>
                </a:solidFill>
                <a:effectLst/>
                <a:uFillTx/>
                <a:latin typeface="Segoe UI" panose="020B0502040204020203"/>
                <a:ea typeface="Segoe UI" panose="020B0502040204020203"/>
              </a:rPr>
              <a:t>H</a:t>
            </a:r>
            <a:endParaRPr lang="vi-VN" sz="2665" b="0" u="none" strike="noStrike">
              <a:solidFill>
                <a:srgbClr val="FFFFFF"/>
              </a:solidFill>
              <a:effectLst/>
              <a:uFillTx/>
              <a:latin typeface="Arial" panose="020B0604020202020204"/>
            </a:endParaRPr>
          </a:p>
        </p:txBody>
      </p:sp>
      <p:sp>
        <p:nvSpPr>
          <p:cNvPr id="33" name="Text 18"/>
          <p:cNvSpPr/>
          <p:nvPr/>
        </p:nvSpPr>
        <p:spPr>
          <a:xfrm>
            <a:off x="5181330" y="4023329"/>
            <a:ext cx="1828225" cy="609088"/>
          </a:xfrm>
          <a:prstGeom prst="rect">
            <a:avLst/>
          </a:prstGeom>
          <a:noFill/>
          <a:ln w="0">
            <a:noFill/>
          </a:ln>
        </p:spPr>
        <p:style>
          <a:lnRef idx="0">
            <a:srgbClr val="FFFFFF"/>
          </a:lnRef>
          <a:fillRef idx="0">
            <a:srgbClr val="FFFFFF"/>
          </a:fillRef>
          <a:effectRef idx="0">
            <a:srgbClr val="FFFFFF"/>
          </a:effectRef>
          <a:fontRef idx="minor"/>
        </p:style>
        <p:txBody>
          <a:bodyPr lIns="119993" tIns="59996" rIns="119993" bIns="59996" anchor="ctr">
            <a:noAutofit/>
          </a:bodyPr>
          <a:p>
            <a:pPr algn="ctr" defTabSz="914400">
              <a:lnSpc>
                <a:spcPct val="100000"/>
              </a:lnSpc>
              <a:tabLst>
                <a:tab pos="0" algn="l"/>
              </a:tabLst>
            </a:pPr>
            <a:r>
              <a:rPr lang="en-US" sz="1735" b="1" u="none" strike="noStrike">
                <a:solidFill>
                  <a:srgbClr val="F0F2F8"/>
                </a:solidFill>
                <a:effectLst/>
                <a:uFillTx/>
                <a:latin typeface="Segoe UI" panose="020B0502040204020203"/>
                <a:ea typeface="Segoe UI" panose="020B0502040204020203"/>
              </a:rPr>
              <a:t>Phạm Chấn Hưng</a:t>
            </a:r>
            <a:endParaRPr lang="vi-VN" sz="1735" b="0" u="none" strike="noStrike">
              <a:solidFill>
                <a:srgbClr val="FFFFFF"/>
              </a:solidFill>
              <a:effectLst/>
              <a:uFillTx/>
              <a:latin typeface="Arial" panose="020B0604020202020204"/>
            </a:endParaRPr>
          </a:p>
        </p:txBody>
      </p:sp>
      <p:sp>
        <p:nvSpPr>
          <p:cNvPr id="34" name="Text 19"/>
          <p:cNvSpPr/>
          <p:nvPr/>
        </p:nvSpPr>
        <p:spPr>
          <a:xfrm>
            <a:off x="5181330" y="4693854"/>
            <a:ext cx="1828225" cy="365261"/>
          </a:xfrm>
          <a:prstGeom prst="rect">
            <a:avLst/>
          </a:prstGeom>
          <a:noFill/>
          <a:ln w="0">
            <a:noFill/>
          </a:ln>
        </p:spPr>
        <p:style>
          <a:lnRef idx="0">
            <a:srgbClr val="FFFFFF"/>
          </a:lnRef>
          <a:fillRef idx="0">
            <a:srgbClr val="FFFFFF"/>
          </a:fillRef>
          <a:effectRef idx="0">
            <a:srgbClr val="FFFFFF"/>
          </a:effectRef>
          <a:fontRef idx="minor"/>
        </p:style>
        <p:txBody>
          <a:bodyPr lIns="119993" tIns="59996" rIns="119993" bIns="59996" anchor="ctr">
            <a:noAutofit/>
          </a:bodyPr>
          <a:p>
            <a:pPr algn="ctr" defTabSz="914400">
              <a:lnSpc>
                <a:spcPct val="100000"/>
              </a:lnSpc>
              <a:tabLst>
                <a:tab pos="0" algn="l"/>
              </a:tabLst>
            </a:pPr>
            <a:r>
              <a:rPr lang="en-US" sz="1465" b="0" u="none" strike="noStrike">
                <a:solidFill>
                  <a:srgbClr val="6B7394"/>
                </a:solidFill>
                <a:effectLst/>
                <a:uFillTx/>
                <a:latin typeface="Segoe UI" panose="020B0502040204020203"/>
                <a:ea typeface="Segoe UI" panose="020B0502040204020203"/>
              </a:rPr>
              <a:t>Thành viên</a:t>
            </a:r>
            <a:endParaRPr lang="vi-VN" sz="1465" b="0" u="none" strike="noStrike">
              <a:solidFill>
                <a:srgbClr val="FFFFFF"/>
              </a:solidFill>
              <a:effectLst/>
              <a:uFillTx/>
              <a:latin typeface="Arial" panose="020B0604020202020204"/>
            </a:endParaRPr>
          </a:p>
        </p:txBody>
      </p:sp>
      <p:sp>
        <p:nvSpPr>
          <p:cNvPr id="35" name="Shape 20"/>
          <p:cNvSpPr/>
          <p:nvPr/>
        </p:nvSpPr>
        <p:spPr>
          <a:xfrm>
            <a:off x="7314819" y="2560365"/>
            <a:ext cx="1950138" cy="2925448"/>
          </a:xfrm>
          <a:prstGeom prst="roundRect">
            <a:avLst>
              <a:gd name="adj" fmla="val 16667"/>
            </a:avLst>
          </a:prstGeom>
          <a:solidFill>
            <a:srgbClr val="1A2240"/>
          </a:solidFill>
          <a:ln w="12700">
            <a:solidFill>
              <a:srgbClr val="242D52"/>
            </a:solidFill>
            <a:round/>
          </a:ln>
        </p:spPr>
        <p:style>
          <a:lnRef idx="0">
            <a:srgbClr val="FFFFFF"/>
          </a:lnRef>
          <a:fillRef idx="0">
            <a:srgbClr val="FFFFFF"/>
          </a:fillRef>
          <a:effectRef idx="0">
            <a:srgbClr val="FFFFFF"/>
          </a:effectRef>
          <a:fontRef idx="minor"/>
        </p:style>
        <p:txBody>
          <a:bodyPr lIns="119993" tIns="59996" rIns="119993" bIns="59996" anchor="t">
            <a:noAutofit/>
          </a:bodyPr>
          <a:p>
            <a:endParaRPr lang="vi-VN" sz="2400" b="0" u="none" strike="noStrike">
              <a:solidFill>
                <a:srgbClr val="FFFFFF"/>
              </a:solidFill>
              <a:effectLst/>
              <a:uFillTx/>
              <a:latin typeface="Arial" panose="020B0604020202020204"/>
            </a:endParaRPr>
          </a:p>
        </p:txBody>
      </p:sp>
      <p:sp>
        <p:nvSpPr>
          <p:cNvPr id="36" name="Shape 21"/>
          <p:cNvSpPr/>
          <p:nvPr/>
        </p:nvSpPr>
        <p:spPr>
          <a:xfrm>
            <a:off x="7802474" y="2865149"/>
            <a:ext cx="974829" cy="974829"/>
          </a:xfrm>
          <a:prstGeom prst="ellipse">
            <a:avLst/>
          </a:prstGeom>
          <a:solidFill>
            <a:srgbClr val="5AE0A0"/>
          </a:solidFill>
          <a:ln w="12700">
            <a:solidFill>
              <a:srgbClr val="5AE0A0"/>
            </a:solidFill>
            <a:round/>
          </a:ln>
        </p:spPr>
        <p:style>
          <a:lnRef idx="0">
            <a:srgbClr val="FFFFFF"/>
          </a:lnRef>
          <a:fillRef idx="0">
            <a:srgbClr val="FFFFFF"/>
          </a:fillRef>
          <a:effectRef idx="0">
            <a:srgbClr val="FFFFFF"/>
          </a:effectRef>
          <a:fontRef idx="minor"/>
        </p:style>
        <p:txBody>
          <a:bodyPr lIns="119993" tIns="59996" rIns="119993" bIns="59996" anchor="t">
            <a:noAutofit/>
          </a:bodyPr>
          <a:p>
            <a:endParaRPr lang="vi-VN" sz="2400" b="0" u="none" strike="noStrike">
              <a:solidFill>
                <a:srgbClr val="000000"/>
              </a:solidFill>
              <a:effectLst/>
              <a:uFillTx/>
              <a:latin typeface="Arial" panose="020B0604020202020204"/>
            </a:endParaRPr>
          </a:p>
        </p:txBody>
      </p:sp>
      <p:sp>
        <p:nvSpPr>
          <p:cNvPr id="37" name="Text 22"/>
          <p:cNvSpPr/>
          <p:nvPr/>
        </p:nvSpPr>
        <p:spPr>
          <a:xfrm>
            <a:off x="7802474" y="2865149"/>
            <a:ext cx="974829" cy="974829"/>
          </a:xfrm>
          <a:prstGeom prst="rect">
            <a:avLst/>
          </a:prstGeom>
          <a:noFill/>
          <a:ln w="0">
            <a:noFill/>
          </a:ln>
        </p:spPr>
        <p:style>
          <a:lnRef idx="0">
            <a:srgbClr val="FFFFFF"/>
          </a:lnRef>
          <a:fillRef idx="0">
            <a:srgbClr val="FFFFFF"/>
          </a:fillRef>
          <a:effectRef idx="0">
            <a:srgbClr val="FFFFFF"/>
          </a:effectRef>
          <a:fontRef idx="minor"/>
        </p:style>
        <p:txBody>
          <a:bodyPr lIns="119993" tIns="59996" rIns="119993" bIns="59996" anchor="ctr">
            <a:noAutofit/>
          </a:bodyPr>
          <a:p>
            <a:pPr algn="ctr" defTabSz="914400">
              <a:lnSpc>
                <a:spcPct val="100000"/>
              </a:lnSpc>
              <a:tabLst>
                <a:tab pos="0" algn="l"/>
              </a:tabLst>
            </a:pPr>
            <a:r>
              <a:rPr lang="en-US" sz="2665" b="1" u="none" strike="noStrike">
                <a:solidFill>
                  <a:srgbClr val="0B1120"/>
                </a:solidFill>
                <a:effectLst/>
                <a:uFillTx/>
                <a:latin typeface="Segoe UI" panose="020B0502040204020203"/>
                <a:ea typeface="Segoe UI" panose="020B0502040204020203"/>
              </a:rPr>
              <a:t>S</a:t>
            </a:r>
            <a:endParaRPr lang="vi-VN" sz="2665" b="0" u="none" strike="noStrike">
              <a:solidFill>
                <a:srgbClr val="FFFFFF"/>
              </a:solidFill>
              <a:effectLst/>
              <a:uFillTx/>
              <a:latin typeface="Arial" panose="020B0604020202020204"/>
            </a:endParaRPr>
          </a:p>
        </p:txBody>
      </p:sp>
      <p:sp>
        <p:nvSpPr>
          <p:cNvPr id="38" name="Text 23"/>
          <p:cNvSpPr/>
          <p:nvPr/>
        </p:nvSpPr>
        <p:spPr>
          <a:xfrm>
            <a:off x="7375776" y="4023329"/>
            <a:ext cx="1828225" cy="609088"/>
          </a:xfrm>
          <a:prstGeom prst="rect">
            <a:avLst/>
          </a:prstGeom>
          <a:noFill/>
          <a:ln w="0">
            <a:noFill/>
          </a:ln>
        </p:spPr>
        <p:style>
          <a:lnRef idx="0">
            <a:srgbClr val="FFFFFF"/>
          </a:lnRef>
          <a:fillRef idx="0">
            <a:srgbClr val="FFFFFF"/>
          </a:fillRef>
          <a:effectRef idx="0">
            <a:srgbClr val="FFFFFF"/>
          </a:effectRef>
          <a:fontRef idx="minor"/>
        </p:style>
        <p:txBody>
          <a:bodyPr lIns="119993" tIns="59996" rIns="119993" bIns="59996" anchor="ctr">
            <a:noAutofit/>
          </a:bodyPr>
          <a:p>
            <a:pPr algn="ctr" defTabSz="914400">
              <a:lnSpc>
                <a:spcPct val="100000"/>
              </a:lnSpc>
              <a:tabLst>
                <a:tab pos="0" algn="l"/>
              </a:tabLst>
            </a:pPr>
            <a:r>
              <a:rPr lang="en-US" sz="1735" b="1" u="none" strike="noStrike">
                <a:solidFill>
                  <a:srgbClr val="F0F2F8"/>
                </a:solidFill>
                <a:effectLst/>
                <a:uFillTx/>
                <a:latin typeface="Segoe UI" panose="020B0502040204020203"/>
                <a:ea typeface="Segoe UI" panose="020B0502040204020203"/>
              </a:rPr>
              <a:t>Đàm Quang Sáng</a:t>
            </a:r>
            <a:endParaRPr lang="vi-VN" sz="1735" b="0" u="none" strike="noStrike">
              <a:solidFill>
                <a:srgbClr val="FFFFFF"/>
              </a:solidFill>
              <a:effectLst/>
              <a:uFillTx/>
              <a:latin typeface="Arial" panose="020B0604020202020204"/>
            </a:endParaRPr>
          </a:p>
        </p:txBody>
      </p:sp>
      <p:sp>
        <p:nvSpPr>
          <p:cNvPr id="39" name="Text 24"/>
          <p:cNvSpPr/>
          <p:nvPr/>
        </p:nvSpPr>
        <p:spPr>
          <a:xfrm>
            <a:off x="7375776" y="4693854"/>
            <a:ext cx="1828225" cy="365261"/>
          </a:xfrm>
          <a:prstGeom prst="rect">
            <a:avLst/>
          </a:prstGeom>
          <a:noFill/>
          <a:ln w="0">
            <a:noFill/>
          </a:ln>
        </p:spPr>
        <p:style>
          <a:lnRef idx="0">
            <a:srgbClr val="FFFFFF"/>
          </a:lnRef>
          <a:fillRef idx="0">
            <a:srgbClr val="FFFFFF"/>
          </a:fillRef>
          <a:effectRef idx="0">
            <a:srgbClr val="FFFFFF"/>
          </a:effectRef>
          <a:fontRef idx="minor"/>
        </p:style>
        <p:txBody>
          <a:bodyPr lIns="119993" tIns="59996" rIns="119993" bIns="59996" anchor="ctr">
            <a:noAutofit/>
          </a:bodyPr>
          <a:p>
            <a:pPr algn="ctr" defTabSz="914400">
              <a:lnSpc>
                <a:spcPct val="100000"/>
              </a:lnSpc>
              <a:tabLst>
                <a:tab pos="0" algn="l"/>
              </a:tabLst>
            </a:pPr>
            <a:r>
              <a:rPr lang="en-US" sz="1465" b="0" u="none" strike="noStrike">
                <a:solidFill>
                  <a:srgbClr val="6B7394"/>
                </a:solidFill>
                <a:effectLst/>
                <a:uFillTx/>
                <a:latin typeface="Segoe UI" panose="020B0502040204020203"/>
                <a:ea typeface="Segoe UI" panose="020B0502040204020203"/>
              </a:rPr>
              <a:t>Thành viên</a:t>
            </a:r>
            <a:endParaRPr lang="vi-VN" sz="1465" b="0" u="none" strike="noStrike">
              <a:solidFill>
                <a:srgbClr val="FFFFFF"/>
              </a:solidFill>
              <a:effectLst/>
              <a:uFillTx/>
              <a:latin typeface="Arial" panose="020B0604020202020204"/>
            </a:endParaRPr>
          </a:p>
        </p:txBody>
      </p:sp>
      <p:sp>
        <p:nvSpPr>
          <p:cNvPr id="40" name="Shape 25"/>
          <p:cNvSpPr/>
          <p:nvPr/>
        </p:nvSpPr>
        <p:spPr>
          <a:xfrm>
            <a:off x="9509265" y="2560365"/>
            <a:ext cx="1950138" cy="2925448"/>
          </a:xfrm>
          <a:prstGeom prst="roundRect">
            <a:avLst>
              <a:gd name="adj" fmla="val 16667"/>
            </a:avLst>
          </a:prstGeom>
          <a:solidFill>
            <a:srgbClr val="1A2240"/>
          </a:solidFill>
          <a:ln w="12700">
            <a:solidFill>
              <a:srgbClr val="242D52"/>
            </a:solidFill>
            <a:round/>
          </a:ln>
        </p:spPr>
        <p:style>
          <a:lnRef idx="0">
            <a:srgbClr val="FFFFFF"/>
          </a:lnRef>
          <a:fillRef idx="0">
            <a:srgbClr val="FFFFFF"/>
          </a:fillRef>
          <a:effectRef idx="0">
            <a:srgbClr val="FFFFFF"/>
          </a:effectRef>
          <a:fontRef idx="minor"/>
        </p:style>
        <p:txBody>
          <a:bodyPr lIns="119993" tIns="59996" rIns="119993" bIns="59996" anchor="t">
            <a:noAutofit/>
          </a:bodyPr>
          <a:p>
            <a:endParaRPr lang="vi-VN" sz="2400" b="0" u="none" strike="noStrike">
              <a:solidFill>
                <a:srgbClr val="FFFFFF"/>
              </a:solidFill>
              <a:effectLst/>
              <a:uFillTx/>
              <a:latin typeface="Arial" panose="020B0604020202020204"/>
            </a:endParaRPr>
          </a:p>
        </p:txBody>
      </p:sp>
      <p:sp>
        <p:nvSpPr>
          <p:cNvPr id="41" name="Shape 26"/>
          <p:cNvSpPr/>
          <p:nvPr/>
        </p:nvSpPr>
        <p:spPr>
          <a:xfrm>
            <a:off x="9996919" y="2865149"/>
            <a:ext cx="974829" cy="974829"/>
          </a:xfrm>
          <a:prstGeom prst="ellipse">
            <a:avLst/>
          </a:prstGeom>
          <a:solidFill>
            <a:srgbClr val="4DD9E8"/>
          </a:solidFill>
          <a:ln w="12700">
            <a:solidFill>
              <a:srgbClr val="4DD9E8"/>
            </a:solidFill>
            <a:round/>
          </a:ln>
        </p:spPr>
        <p:style>
          <a:lnRef idx="0">
            <a:srgbClr val="FFFFFF"/>
          </a:lnRef>
          <a:fillRef idx="0">
            <a:srgbClr val="FFFFFF"/>
          </a:fillRef>
          <a:effectRef idx="0">
            <a:srgbClr val="FFFFFF"/>
          </a:effectRef>
          <a:fontRef idx="minor"/>
        </p:style>
        <p:txBody>
          <a:bodyPr lIns="119993" tIns="59996" rIns="119993" bIns="59996" anchor="t">
            <a:noAutofit/>
          </a:bodyPr>
          <a:p>
            <a:endParaRPr lang="vi-VN" sz="2400" b="0" u="none" strike="noStrike">
              <a:solidFill>
                <a:srgbClr val="000000"/>
              </a:solidFill>
              <a:effectLst/>
              <a:uFillTx/>
              <a:latin typeface="Arial" panose="020B0604020202020204"/>
            </a:endParaRPr>
          </a:p>
        </p:txBody>
      </p:sp>
      <p:sp>
        <p:nvSpPr>
          <p:cNvPr id="42" name="Text 27"/>
          <p:cNvSpPr/>
          <p:nvPr/>
        </p:nvSpPr>
        <p:spPr>
          <a:xfrm>
            <a:off x="9996919" y="2865149"/>
            <a:ext cx="974829" cy="974829"/>
          </a:xfrm>
          <a:prstGeom prst="rect">
            <a:avLst/>
          </a:prstGeom>
          <a:noFill/>
          <a:ln w="0">
            <a:noFill/>
          </a:ln>
        </p:spPr>
        <p:style>
          <a:lnRef idx="0">
            <a:srgbClr val="FFFFFF"/>
          </a:lnRef>
          <a:fillRef idx="0">
            <a:srgbClr val="FFFFFF"/>
          </a:fillRef>
          <a:effectRef idx="0">
            <a:srgbClr val="FFFFFF"/>
          </a:effectRef>
          <a:fontRef idx="minor"/>
        </p:style>
        <p:txBody>
          <a:bodyPr lIns="119993" tIns="59996" rIns="119993" bIns="59996" anchor="ctr">
            <a:noAutofit/>
          </a:bodyPr>
          <a:p>
            <a:pPr algn="ctr" defTabSz="914400">
              <a:lnSpc>
                <a:spcPct val="100000"/>
              </a:lnSpc>
              <a:tabLst>
                <a:tab pos="0" algn="l"/>
              </a:tabLst>
            </a:pPr>
            <a:r>
              <a:rPr lang="en-US" sz="2665" b="1" u="none" strike="noStrike">
                <a:solidFill>
                  <a:srgbClr val="0B1120"/>
                </a:solidFill>
                <a:effectLst/>
                <a:uFillTx/>
                <a:latin typeface="Segoe UI" panose="020B0502040204020203"/>
                <a:ea typeface="Segoe UI" panose="020B0502040204020203"/>
              </a:rPr>
              <a:t>M</a:t>
            </a:r>
            <a:endParaRPr lang="vi-VN" sz="2665" b="0" u="none" strike="noStrike">
              <a:solidFill>
                <a:srgbClr val="FFFFFF"/>
              </a:solidFill>
              <a:effectLst/>
              <a:uFillTx/>
              <a:latin typeface="Arial" panose="020B0604020202020204"/>
            </a:endParaRPr>
          </a:p>
        </p:txBody>
      </p:sp>
      <p:sp>
        <p:nvSpPr>
          <p:cNvPr id="43" name="Text 28"/>
          <p:cNvSpPr/>
          <p:nvPr/>
        </p:nvSpPr>
        <p:spPr>
          <a:xfrm>
            <a:off x="9570222" y="4023329"/>
            <a:ext cx="1828225" cy="609088"/>
          </a:xfrm>
          <a:prstGeom prst="rect">
            <a:avLst/>
          </a:prstGeom>
          <a:noFill/>
          <a:ln w="0">
            <a:noFill/>
          </a:ln>
        </p:spPr>
        <p:style>
          <a:lnRef idx="0">
            <a:srgbClr val="FFFFFF"/>
          </a:lnRef>
          <a:fillRef idx="0">
            <a:srgbClr val="FFFFFF"/>
          </a:fillRef>
          <a:effectRef idx="0">
            <a:srgbClr val="FFFFFF"/>
          </a:effectRef>
          <a:fontRef idx="minor"/>
        </p:style>
        <p:txBody>
          <a:bodyPr lIns="119993" tIns="59996" rIns="119993" bIns="59996" anchor="ctr">
            <a:noAutofit/>
          </a:bodyPr>
          <a:p>
            <a:pPr algn="ctr" defTabSz="914400">
              <a:lnSpc>
                <a:spcPct val="100000"/>
              </a:lnSpc>
              <a:tabLst>
                <a:tab pos="0" algn="l"/>
              </a:tabLst>
            </a:pPr>
            <a:r>
              <a:rPr lang="en-US" sz="1735" b="1" u="none" strike="noStrike">
                <a:solidFill>
                  <a:srgbClr val="F0F2F8"/>
                </a:solidFill>
                <a:effectLst/>
                <a:uFillTx/>
                <a:latin typeface="Segoe UI" panose="020B0502040204020203"/>
                <a:ea typeface="Segoe UI" panose="020B0502040204020203"/>
              </a:rPr>
              <a:t>Trần Đức Mạnh</a:t>
            </a:r>
            <a:endParaRPr lang="vi-VN" sz="1735" b="0" u="none" strike="noStrike">
              <a:solidFill>
                <a:srgbClr val="FFFFFF"/>
              </a:solidFill>
              <a:effectLst/>
              <a:uFillTx/>
              <a:latin typeface="Arial" panose="020B0604020202020204"/>
            </a:endParaRPr>
          </a:p>
        </p:txBody>
      </p:sp>
      <p:sp>
        <p:nvSpPr>
          <p:cNvPr id="44" name="Text 29"/>
          <p:cNvSpPr/>
          <p:nvPr/>
        </p:nvSpPr>
        <p:spPr>
          <a:xfrm>
            <a:off x="9570222" y="4693854"/>
            <a:ext cx="1828225" cy="365261"/>
          </a:xfrm>
          <a:prstGeom prst="rect">
            <a:avLst/>
          </a:prstGeom>
          <a:noFill/>
          <a:ln w="0">
            <a:noFill/>
          </a:ln>
        </p:spPr>
        <p:style>
          <a:lnRef idx="0">
            <a:srgbClr val="FFFFFF"/>
          </a:lnRef>
          <a:fillRef idx="0">
            <a:srgbClr val="FFFFFF"/>
          </a:fillRef>
          <a:effectRef idx="0">
            <a:srgbClr val="FFFFFF"/>
          </a:effectRef>
          <a:fontRef idx="minor"/>
        </p:style>
        <p:txBody>
          <a:bodyPr lIns="119993" tIns="59996" rIns="119993" bIns="59996" anchor="ctr">
            <a:noAutofit/>
          </a:bodyPr>
          <a:p>
            <a:pPr algn="ctr" defTabSz="914400">
              <a:lnSpc>
                <a:spcPct val="100000"/>
              </a:lnSpc>
              <a:tabLst>
                <a:tab pos="0" algn="l"/>
              </a:tabLst>
            </a:pPr>
            <a:r>
              <a:rPr lang="en-US" sz="1465" b="0" u="none" strike="noStrike">
                <a:solidFill>
                  <a:srgbClr val="6B7394"/>
                </a:solidFill>
                <a:effectLst/>
                <a:uFillTx/>
                <a:latin typeface="Segoe UI" panose="020B0502040204020203"/>
                <a:ea typeface="Segoe UI" panose="020B0502040204020203"/>
              </a:rPr>
              <a:t>Thành viên</a:t>
            </a:r>
            <a:endParaRPr lang="vi-VN" sz="1465" b="0" u="none" strike="noStrike">
              <a:solidFill>
                <a:srgbClr val="FFFFFF"/>
              </a:solidFill>
              <a:effectLst/>
              <a:uFillTx/>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914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659130"/>
          </a:xfrm>
          <a:prstGeom prst="rect">
            <a:avLst/>
          </a:prstGeom>
          <a:noFill/>
        </p:spPr>
        <p:txBody>
          <a:bodyPr wrap="square" lIns="0" tIns="0" rIns="0" bIns="0">
            <a:spAutoFit/>
          </a:bodyPr>
          <a:lstStyle/>
          <a:p>
            <a:pPr>
              <a:spcAft>
                <a:spcPts val="200"/>
              </a:spcAft>
            </a:pPr>
            <a:r>
              <a:rPr sz="950" b="1">
                <a:solidFill>
                  <a:srgbClr val="D97706"/>
                </a:solidFill>
                <a:latin typeface="Arial" panose="020B0604020202020204"/>
              </a:rPr>
              <a:t>TỔNG QUAN BÁO CÁO</a:t>
            </a:r>
            <a:endParaRPr sz="950" b="1">
              <a:solidFill>
                <a:srgbClr val="D97706"/>
              </a:solidFill>
              <a:latin typeface="Arial" panose="020B0604020202020204"/>
            </a:endParaRPr>
          </a:p>
          <a:p>
            <a:pPr>
              <a:spcAft>
                <a:spcPts val="200"/>
              </a:spcAft>
            </a:pPr>
            <a:r>
              <a:rPr lang="en-US" sz="1900" b="1">
                <a:solidFill>
                  <a:srgbClr val="0F2043"/>
                </a:solidFill>
                <a:latin typeface="Arial" panose="020B0604020202020204"/>
              </a:rPr>
              <a:t>MỤC LỤC</a:t>
            </a:r>
            <a:endParaRPr sz="1900" b="1">
              <a:solidFill>
                <a:srgbClr val="0F2043"/>
              </a:solidFill>
              <a:latin typeface="Arial" panose="020B0604020202020204"/>
            </a:endParaRPr>
          </a:p>
          <a:p>
            <a:endParaRPr sz="1100" i="1">
              <a:solidFill>
                <a:srgbClr val="64748B"/>
              </a:solidFill>
              <a:latin typeface="Arial" panose="020B0604020202020204"/>
            </a:endParaRPr>
          </a:p>
        </p:txBody>
      </p:sp>
      <p:sp>
        <p:nvSpPr>
          <p:cNvPr id="4" name="TextBox 3"/>
          <p:cNvSpPr txBox="1"/>
          <p:nvPr/>
        </p:nvSpPr>
        <p:spPr>
          <a:xfrm>
            <a:off x="731520" y="6400800"/>
            <a:ext cx="10698480" cy="320040"/>
          </a:xfrm>
          <a:prstGeom prst="rect">
            <a:avLst/>
          </a:prstGeom>
          <a:noFill/>
        </p:spPr>
        <p:txBody>
          <a:bodyPr wrap="none" lIns="0" tIns="0" rIns="0" bIns="0">
            <a:spAutoFit/>
          </a:bodyPr>
          <a:lstStyle/>
          <a:p>
            <a:r>
              <a:rPr sz="850">
                <a:solidFill>
                  <a:srgbClr val="64748B"/>
                </a:solidFill>
                <a:latin typeface="Arial" panose="020B0604020202020204"/>
              </a:rPr>
              <a:t>Học phần: Kiến trúc và Thiết kế Phần mềm — Báo cáo Chương 3: Thiết kế Kiến trúc | Dự án: php-restaurant</a:t>
            </a:r>
            <a:r>
              <a:rPr sz="850" b="1">
                <a:solidFill>
                  <a:srgbClr val="1F4E79"/>
                </a:solidFill>
                <a:latin typeface="Arial" panose="020B0604020202020204"/>
              </a:rPr>
              <a:t>             Slide 02 / 20</a:t>
            </a:r>
            <a:endParaRPr sz="850" b="1">
              <a:solidFill>
                <a:srgbClr val="1F4E79"/>
              </a:solidFill>
              <a:latin typeface="Arial" panose="020B0604020202020204"/>
            </a:endParaRPr>
          </a:p>
        </p:txBody>
      </p:sp>
      <p:sp>
        <p:nvSpPr>
          <p:cNvPr id="5" name="Rounded Rectangle 4"/>
          <p:cNvSpPr/>
          <p:nvPr/>
        </p:nvSpPr>
        <p:spPr>
          <a:xfrm>
            <a:off x="731520" y="1645920"/>
            <a:ext cx="3328416" cy="4389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2962656" cy="4023360"/>
          </a:xfrm>
          <a:prstGeom prst="rect">
            <a:avLst/>
          </a:prstGeom>
          <a:noFill/>
        </p:spPr>
        <p:txBody>
          <a:bodyPr wrap="square">
            <a:spAutoFit/>
          </a:bodyPr>
          <a:lstStyle/>
          <a:p>
            <a:pPr>
              <a:lnSpc>
                <a:spcPct val="115000"/>
              </a:lnSpc>
              <a:spcAft>
                <a:spcPts val="1200"/>
              </a:spcAft>
            </a:pPr>
            <a:r>
              <a:rPr sz="1150" b="1">
                <a:solidFill>
                  <a:srgbClr val="1F4E79"/>
                </a:solidFill>
                <a:latin typeface="Arial" panose="020B0604020202020204"/>
              </a:rPr>
              <a:t>PHẦN 1 </a:t>
            </a:r>
            <a:r>
              <a:rPr sz="1100">
                <a:solidFill>
                  <a:srgbClr val="1E293B"/>
                </a:solidFill>
                <a:latin typeface="Arial" panose="020B0604020202020204"/>
              </a:rPr>
              <a:t>ĐÁNH GIÁ KIẾN TRÚC THAY THẾ (3.2.3)</a:t>
            </a:r>
            <a:endParaRPr sz="1100">
              <a:solidFill>
                <a:srgbClr val="1E293B"/>
              </a:solidFill>
              <a:latin typeface="Arial" panose="020B0604020202020204"/>
            </a:endParaRPr>
          </a:p>
          <a:p>
            <a:pPr lvl="1">
              <a:lnSpc>
                <a:spcPct val="115000"/>
              </a:lnSpc>
              <a:spcAft>
                <a:spcPts val="600"/>
              </a:spcAft>
            </a:pPr>
            <a:r>
              <a:rPr sz="1050" b="1">
                <a:solidFill>
                  <a:srgbClr val="1E293B"/>
                </a:solidFill>
                <a:latin typeface="Arial" panose="020B0604020202020204"/>
              </a:rPr>
              <a:t>1.1 </a:t>
            </a:r>
            <a:r>
              <a:rPr sz="1000">
                <a:solidFill>
                  <a:srgbClr val="1E293B"/>
                </a:solidFill>
                <a:latin typeface="Arial" panose="020B0604020202020204"/>
              </a:rPr>
              <a:t>Bản chất &amp; Cây thuộc tính chất lượng (ISO 25010)</a:t>
            </a:r>
            <a:endParaRPr sz="1000">
              <a:solidFill>
                <a:srgbClr val="1E293B"/>
              </a:solidFill>
              <a:latin typeface="Arial" panose="020B0604020202020204"/>
            </a:endParaRPr>
          </a:p>
          <a:p>
            <a:pPr lvl="1">
              <a:lnSpc>
                <a:spcPct val="115000"/>
              </a:lnSpc>
              <a:spcAft>
                <a:spcPts val="600"/>
              </a:spcAft>
            </a:pPr>
            <a:r>
              <a:rPr sz="1050" b="1">
                <a:solidFill>
                  <a:srgbClr val="1E293B"/>
                </a:solidFill>
                <a:latin typeface="Arial" panose="020B0604020202020204"/>
              </a:rPr>
              <a:t>1.2 </a:t>
            </a:r>
            <a:r>
              <a:rPr sz="1000">
                <a:solidFill>
                  <a:srgbClr val="1E293B"/>
                </a:solidFill>
                <a:latin typeface="Arial" panose="020B0604020202020204"/>
              </a:rPr>
              <a:t>Khung phương pháp ATAM, CBAM, SAAM</a:t>
            </a:r>
            <a:endParaRPr sz="1000">
              <a:solidFill>
                <a:srgbClr val="1E293B"/>
              </a:solidFill>
              <a:latin typeface="Arial" panose="020B0604020202020204"/>
            </a:endParaRPr>
          </a:p>
          <a:p>
            <a:pPr lvl="1">
              <a:lnSpc>
                <a:spcPct val="115000"/>
              </a:lnSpc>
              <a:spcAft>
                <a:spcPts val="600"/>
              </a:spcAft>
            </a:pPr>
            <a:r>
              <a:rPr sz="1050" b="1">
                <a:solidFill>
                  <a:srgbClr val="1E293B"/>
                </a:solidFill>
                <a:latin typeface="Arial" panose="020B0604020202020204"/>
              </a:rPr>
              <a:t>1.3 </a:t>
            </a:r>
            <a:r>
              <a:rPr sz="1000">
                <a:solidFill>
                  <a:srgbClr val="1E293B"/>
                </a:solidFill>
                <a:latin typeface="Arial" panose="020B0604020202020204"/>
              </a:rPr>
              <a:t>Quy trình 5 bước thực thi đánh giá kiến trúc</a:t>
            </a:r>
            <a:endParaRPr sz="1000">
              <a:solidFill>
                <a:srgbClr val="1E293B"/>
              </a:solidFill>
              <a:latin typeface="Arial" panose="020B0604020202020204"/>
            </a:endParaRPr>
          </a:p>
          <a:p>
            <a:pPr lvl="1">
              <a:lnSpc>
                <a:spcPct val="115000"/>
              </a:lnSpc>
              <a:spcAft>
                <a:spcPts val="600"/>
              </a:spcAft>
            </a:pPr>
            <a:r>
              <a:rPr sz="1050" b="1">
                <a:solidFill>
                  <a:srgbClr val="1E293B"/>
                </a:solidFill>
                <a:latin typeface="Arial" panose="020B0604020202020204"/>
              </a:rPr>
              <a:t>1.4 </a:t>
            </a:r>
            <a:r>
              <a:rPr sz="1000">
                <a:solidFill>
                  <a:srgbClr val="1E293B"/>
                </a:solidFill>
                <a:latin typeface="Arial" panose="020B0604020202020204"/>
              </a:rPr>
              <a:t>Đánh giá 4 kiến trúc ứng viên dự án nhà hàng</a:t>
            </a:r>
            <a:endParaRPr sz="1000">
              <a:solidFill>
                <a:srgbClr val="1E293B"/>
              </a:solidFill>
              <a:latin typeface="Arial" panose="020B0604020202020204"/>
            </a:endParaRPr>
          </a:p>
          <a:p>
            <a:pPr lvl="1">
              <a:lnSpc>
                <a:spcPct val="115000"/>
              </a:lnSpc>
              <a:spcAft>
                <a:spcPts val="600"/>
              </a:spcAft>
            </a:pPr>
            <a:r>
              <a:rPr sz="1050" b="1">
                <a:solidFill>
                  <a:srgbClr val="1E293B"/>
                </a:solidFill>
                <a:latin typeface="Arial" panose="020B0604020202020204"/>
              </a:rPr>
              <a:t>1.4 </a:t>
            </a:r>
            <a:r>
              <a:rPr sz="1000">
                <a:solidFill>
                  <a:srgbClr val="1E293B"/>
                </a:solidFill>
                <a:latin typeface="Arial" panose="020B0604020202020204"/>
              </a:rPr>
              <a:t>Ma trận Trade-off &amp; Hồ sơ quyết định ADR-001</a:t>
            </a:r>
            <a:endParaRPr sz="1000">
              <a:solidFill>
                <a:srgbClr val="1E293B"/>
              </a:solidFill>
              <a:latin typeface="Arial" panose="020B0604020202020204"/>
            </a:endParaRPr>
          </a:p>
        </p:txBody>
      </p:sp>
      <p:sp>
        <p:nvSpPr>
          <p:cNvPr id="7" name="Rounded Rectangle 6"/>
          <p:cNvSpPr/>
          <p:nvPr/>
        </p:nvSpPr>
        <p:spPr>
          <a:xfrm>
            <a:off x="4407408" y="1645920"/>
            <a:ext cx="3328416" cy="4389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90288" y="1828800"/>
            <a:ext cx="2962656" cy="4023360"/>
          </a:xfrm>
          <a:prstGeom prst="rect">
            <a:avLst/>
          </a:prstGeom>
          <a:noFill/>
        </p:spPr>
        <p:txBody>
          <a:bodyPr wrap="square">
            <a:spAutoFit/>
          </a:bodyPr>
          <a:lstStyle/>
          <a:p>
            <a:pPr>
              <a:lnSpc>
                <a:spcPct val="115000"/>
              </a:lnSpc>
              <a:spcAft>
                <a:spcPts val="1200"/>
              </a:spcAft>
            </a:pPr>
            <a:r>
              <a:rPr sz="1150" b="1">
                <a:solidFill>
                  <a:srgbClr val="1F4E79"/>
                </a:solidFill>
                <a:latin typeface="Arial" panose="020B0604020202020204"/>
              </a:rPr>
              <a:t>PHẦN 2 </a:t>
            </a:r>
            <a:r>
              <a:rPr sz="1100">
                <a:solidFill>
                  <a:srgbClr val="1E293B"/>
                </a:solidFill>
                <a:latin typeface="Arial" panose="020B0604020202020204"/>
              </a:rPr>
              <a:t>PHÂN TÍCH PHỔ TRONG THIẾT KẾ (3.3.1)</a:t>
            </a:r>
            <a:endParaRPr sz="1100">
              <a:solidFill>
                <a:srgbClr val="1E293B"/>
              </a:solidFill>
              <a:latin typeface="Arial" panose="020B0604020202020204"/>
            </a:endParaRPr>
          </a:p>
          <a:p>
            <a:pPr lvl="1">
              <a:lnSpc>
                <a:spcPct val="115000"/>
              </a:lnSpc>
              <a:spcAft>
                <a:spcPts val="600"/>
              </a:spcAft>
            </a:pPr>
            <a:r>
              <a:rPr sz="1050" b="1">
                <a:solidFill>
                  <a:srgbClr val="1E293B"/>
                </a:solidFill>
                <a:latin typeface="Arial" panose="020B0604020202020204"/>
              </a:rPr>
              <a:t>2.1 </a:t>
            </a:r>
            <a:r>
              <a:rPr sz="1000">
                <a:solidFill>
                  <a:srgbClr val="1E293B"/>
                </a:solidFill>
                <a:latin typeface="Arial" panose="020B0604020202020204"/>
              </a:rPr>
              <a:t>Khái niệm The Pattern Spectrum (POSA)</a:t>
            </a:r>
            <a:endParaRPr sz="1000">
              <a:solidFill>
                <a:srgbClr val="1E293B"/>
              </a:solidFill>
              <a:latin typeface="Arial" panose="020B0604020202020204"/>
            </a:endParaRPr>
          </a:p>
          <a:p>
            <a:pPr lvl="1">
              <a:lnSpc>
                <a:spcPct val="115000"/>
              </a:lnSpc>
              <a:spcAft>
                <a:spcPts val="600"/>
              </a:spcAft>
            </a:pPr>
            <a:r>
              <a:rPr sz="1050" b="1">
                <a:solidFill>
                  <a:srgbClr val="1E293B"/>
                </a:solidFill>
                <a:latin typeface="Arial" panose="020B0604020202020204"/>
              </a:rPr>
              <a:t>2.2 </a:t>
            </a:r>
            <a:r>
              <a:rPr sz="1000">
                <a:solidFill>
                  <a:srgbClr val="1E293B"/>
                </a:solidFill>
                <a:latin typeface="Arial" panose="020B0604020202020204"/>
              </a:rPr>
              <a:t>Tầng Vĩ mô: Mẫu Kiến trúc (Architectural)</a:t>
            </a:r>
            <a:endParaRPr sz="1000">
              <a:solidFill>
                <a:srgbClr val="1E293B"/>
              </a:solidFill>
              <a:latin typeface="Arial" panose="020B0604020202020204"/>
            </a:endParaRPr>
          </a:p>
          <a:p>
            <a:pPr lvl="1">
              <a:lnSpc>
                <a:spcPct val="115000"/>
              </a:lnSpc>
              <a:spcAft>
                <a:spcPts val="600"/>
              </a:spcAft>
            </a:pPr>
            <a:r>
              <a:rPr sz="1050" b="1">
                <a:solidFill>
                  <a:srgbClr val="1E293B"/>
                </a:solidFill>
                <a:latin typeface="Arial" panose="020B0604020202020204"/>
              </a:rPr>
              <a:t>2.2 </a:t>
            </a:r>
            <a:r>
              <a:rPr sz="1000">
                <a:solidFill>
                  <a:srgbClr val="1E293B"/>
                </a:solidFill>
                <a:latin typeface="Arial" panose="020B0604020202020204"/>
              </a:rPr>
              <a:t>Tầng Trung mô &amp; Vi mô: Mẫu Thiết kế &amp; Idioms</a:t>
            </a:r>
            <a:endParaRPr sz="1000">
              <a:solidFill>
                <a:srgbClr val="1E293B"/>
              </a:solidFill>
              <a:latin typeface="Arial" panose="020B0604020202020204"/>
            </a:endParaRPr>
          </a:p>
          <a:p>
            <a:pPr lvl="1">
              <a:lnSpc>
                <a:spcPct val="115000"/>
              </a:lnSpc>
              <a:spcAft>
                <a:spcPts val="600"/>
              </a:spcAft>
            </a:pPr>
            <a:r>
              <a:rPr sz="1050" b="1">
                <a:solidFill>
                  <a:srgbClr val="1E293B"/>
                </a:solidFill>
                <a:latin typeface="Arial" panose="020B0604020202020204"/>
              </a:rPr>
              <a:t>2.3 </a:t>
            </a:r>
            <a:r>
              <a:rPr sz="1000">
                <a:solidFill>
                  <a:srgbClr val="1E293B"/>
                </a:solidFill>
                <a:latin typeface="Arial" panose="020B0604020202020204"/>
              </a:rPr>
              <a:t>Mối quan hệ tương hỗ &amp; Ánh xạ Top-Down</a:t>
            </a:r>
            <a:endParaRPr sz="1000">
              <a:solidFill>
                <a:srgbClr val="1E293B"/>
              </a:solidFill>
              <a:latin typeface="Arial" panose="020B0604020202020204"/>
            </a:endParaRPr>
          </a:p>
          <a:p>
            <a:pPr lvl="1">
              <a:lnSpc>
                <a:spcPct val="115000"/>
              </a:lnSpc>
              <a:spcAft>
                <a:spcPts val="600"/>
              </a:spcAft>
            </a:pPr>
            <a:r>
              <a:rPr sz="1050" b="1">
                <a:solidFill>
                  <a:srgbClr val="1E293B"/>
                </a:solidFill>
                <a:latin typeface="Arial" panose="020B0604020202020204"/>
              </a:rPr>
              <a:t>2.4 </a:t>
            </a:r>
            <a:r>
              <a:rPr sz="1000">
                <a:solidFill>
                  <a:srgbClr val="1E293B"/>
                </a:solidFill>
                <a:latin typeface="Arial" panose="020B0604020202020204"/>
              </a:rPr>
              <a:t>Bản đồ phổ mẫu chiếu vào source code PHP</a:t>
            </a:r>
            <a:endParaRPr sz="1000">
              <a:solidFill>
                <a:srgbClr val="1E293B"/>
              </a:solidFill>
              <a:latin typeface="Arial" panose="020B0604020202020204"/>
            </a:endParaRPr>
          </a:p>
        </p:txBody>
      </p:sp>
      <p:sp>
        <p:nvSpPr>
          <p:cNvPr id="9" name="Rounded Rectangle 8"/>
          <p:cNvSpPr/>
          <p:nvPr/>
        </p:nvSpPr>
        <p:spPr>
          <a:xfrm>
            <a:off x="8083296" y="1645920"/>
            <a:ext cx="3328416" cy="4389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66176" y="1828800"/>
            <a:ext cx="2962656" cy="4023360"/>
          </a:xfrm>
          <a:prstGeom prst="rect">
            <a:avLst/>
          </a:prstGeom>
          <a:noFill/>
        </p:spPr>
        <p:txBody>
          <a:bodyPr wrap="square">
            <a:spAutoFit/>
          </a:bodyPr>
          <a:lstStyle/>
          <a:p>
            <a:pPr>
              <a:lnSpc>
                <a:spcPct val="115000"/>
              </a:lnSpc>
              <a:spcAft>
                <a:spcPts val="1200"/>
              </a:spcAft>
            </a:pPr>
            <a:r>
              <a:rPr sz="1150" b="1">
                <a:solidFill>
                  <a:srgbClr val="1F4E79"/>
                </a:solidFill>
                <a:latin typeface="Arial" panose="020B0604020202020204"/>
              </a:rPr>
              <a:t>PHẦN 3 </a:t>
            </a:r>
            <a:r>
              <a:rPr sz="1100">
                <a:solidFill>
                  <a:srgbClr val="1E293B"/>
                </a:solidFill>
                <a:latin typeface="Arial" panose="020B0604020202020204"/>
              </a:rPr>
              <a:t>CÁC MẪU KIẾN TRÚC HIỆN ĐẠI (3.3.2)</a:t>
            </a:r>
            <a:endParaRPr sz="1100">
              <a:solidFill>
                <a:srgbClr val="1E293B"/>
              </a:solidFill>
              <a:latin typeface="Arial" panose="020B0604020202020204"/>
            </a:endParaRPr>
          </a:p>
          <a:p>
            <a:pPr lvl="1">
              <a:lnSpc>
                <a:spcPct val="115000"/>
              </a:lnSpc>
              <a:spcAft>
                <a:spcPts val="600"/>
              </a:spcAft>
            </a:pPr>
            <a:r>
              <a:rPr sz="1050" b="1">
                <a:solidFill>
                  <a:srgbClr val="1E293B"/>
                </a:solidFill>
                <a:latin typeface="Arial" panose="020B0604020202020204"/>
              </a:rPr>
              <a:t>3.1 </a:t>
            </a:r>
            <a:r>
              <a:rPr sz="1000">
                <a:solidFill>
                  <a:srgbClr val="1E293B"/>
                </a:solidFill>
                <a:latin typeface="Arial" panose="020B0604020202020204"/>
              </a:rPr>
              <a:t>Bối cảnh tiến hóa Cloud-Native &amp; Phân tán</a:t>
            </a:r>
            <a:endParaRPr sz="1000">
              <a:solidFill>
                <a:srgbClr val="1E293B"/>
              </a:solidFill>
              <a:latin typeface="Arial" panose="020B0604020202020204"/>
            </a:endParaRPr>
          </a:p>
          <a:p>
            <a:pPr lvl="1">
              <a:lnSpc>
                <a:spcPct val="115000"/>
              </a:lnSpc>
              <a:spcAft>
                <a:spcPts val="600"/>
              </a:spcAft>
            </a:pPr>
            <a:r>
              <a:rPr sz="1050" b="1">
                <a:solidFill>
                  <a:srgbClr val="1E293B"/>
                </a:solidFill>
                <a:latin typeface="Arial" panose="020B0604020202020204"/>
              </a:rPr>
              <a:t>3.2 </a:t>
            </a:r>
            <a:r>
              <a:rPr sz="1000">
                <a:solidFill>
                  <a:srgbClr val="1E293B"/>
                </a:solidFill>
                <a:latin typeface="Arial" panose="020B0604020202020204"/>
              </a:rPr>
              <a:t>5 Mẫu hiện đại: Clean, Microservices, EDA...</a:t>
            </a:r>
            <a:endParaRPr sz="1000">
              <a:solidFill>
                <a:srgbClr val="1E293B"/>
              </a:solidFill>
              <a:latin typeface="Arial" panose="020B0604020202020204"/>
            </a:endParaRPr>
          </a:p>
          <a:p>
            <a:pPr lvl="1">
              <a:lnSpc>
                <a:spcPct val="115000"/>
              </a:lnSpc>
              <a:spcAft>
                <a:spcPts val="600"/>
              </a:spcAft>
            </a:pPr>
            <a:r>
              <a:rPr sz="1050" b="1">
                <a:solidFill>
                  <a:srgbClr val="1E293B"/>
                </a:solidFill>
                <a:latin typeface="Arial" panose="020B0604020202020204"/>
              </a:rPr>
              <a:t>3.3 </a:t>
            </a:r>
            <a:r>
              <a:rPr sz="1000">
                <a:solidFill>
                  <a:srgbClr val="1E293B"/>
                </a:solidFill>
                <a:latin typeface="Arial" panose="020B0604020202020204"/>
              </a:rPr>
              <a:t>Ma trận so sánh đa chiều 5 mẫu kiến trúc</a:t>
            </a:r>
            <a:endParaRPr sz="1000">
              <a:solidFill>
                <a:srgbClr val="1E293B"/>
              </a:solidFill>
              <a:latin typeface="Arial" panose="020B0604020202020204"/>
            </a:endParaRPr>
          </a:p>
          <a:p>
            <a:pPr lvl="1">
              <a:lnSpc>
                <a:spcPct val="115000"/>
              </a:lnSpc>
              <a:spcAft>
                <a:spcPts val="600"/>
              </a:spcAft>
            </a:pPr>
            <a:r>
              <a:rPr sz="1050" b="1">
                <a:solidFill>
                  <a:srgbClr val="1E293B"/>
                </a:solidFill>
                <a:latin typeface="Arial" panose="020B0604020202020204"/>
              </a:rPr>
              <a:t>3.4 </a:t>
            </a:r>
            <a:r>
              <a:rPr sz="1000">
                <a:solidFill>
                  <a:srgbClr val="1E293B"/>
                </a:solidFill>
                <a:latin typeface="Arial" panose="020B0604020202020204"/>
              </a:rPr>
              <a:t>Điểm nghẽn chuỗi 50 nhà hàng &amp; Target Arch</a:t>
            </a:r>
            <a:endParaRPr sz="1000">
              <a:solidFill>
                <a:srgbClr val="1E293B"/>
              </a:solidFill>
              <a:latin typeface="Arial" panose="020B0604020202020204"/>
            </a:endParaRPr>
          </a:p>
          <a:p>
            <a:pPr lvl="1">
              <a:lnSpc>
                <a:spcPct val="115000"/>
              </a:lnSpc>
              <a:spcAft>
                <a:spcPts val="600"/>
              </a:spcAft>
            </a:pPr>
            <a:r>
              <a:rPr sz="1050" b="1">
                <a:solidFill>
                  <a:srgbClr val="1E293B"/>
                </a:solidFill>
                <a:latin typeface="Arial" panose="020B0604020202020204"/>
              </a:rPr>
              <a:t>3.4 </a:t>
            </a:r>
            <a:r>
              <a:rPr sz="1000">
                <a:solidFill>
                  <a:srgbClr val="1E293B"/>
                </a:solidFill>
                <a:latin typeface="Arial" panose="020B0604020202020204"/>
              </a:rPr>
              <a:t>Lộ trình chuyển đổi: Strangler Fig Pattern</a:t>
            </a:r>
            <a:endParaRPr sz="1000">
              <a:solidFill>
                <a:srgbClr val="1E293B"/>
              </a:solidFill>
              <a:latin typeface="Arial" panose="020B060402020202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914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1005840"/>
          </a:xfrm>
          <a:prstGeom prst="rect">
            <a:avLst/>
          </a:prstGeom>
          <a:noFill/>
        </p:spPr>
        <p:txBody>
          <a:bodyPr wrap="square" lIns="0" tIns="0" rIns="0" bIns="0">
            <a:spAutoFit/>
          </a:bodyPr>
          <a:lstStyle/>
          <a:p>
            <a:pPr>
              <a:spcAft>
                <a:spcPts val="200"/>
              </a:spcAft>
            </a:pPr>
            <a:r>
              <a:rPr sz="950" b="1">
                <a:solidFill>
                  <a:srgbClr val="D97706"/>
                </a:solidFill>
                <a:latin typeface="Arial" panose="020B0604020202020204"/>
              </a:rPr>
              <a:t>PHẦN 1: ĐÁNH GIÁ CÁC KIẾN TRÚC THAY THẾ (MỤC 3.2.3)</a:t>
            </a:r>
            <a:endParaRPr sz="950" b="1">
              <a:solidFill>
                <a:srgbClr val="D97706"/>
              </a:solidFill>
              <a:latin typeface="Arial" panose="020B0604020202020204"/>
            </a:endParaRPr>
          </a:p>
          <a:p>
            <a:pPr>
              <a:spcAft>
                <a:spcPts val="200"/>
              </a:spcAft>
            </a:pPr>
            <a:r>
              <a:rPr sz="1900" b="1">
                <a:solidFill>
                  <a:srgbClr val="0F2043"/>
                </a:solidFill>
                <a:latin typeface="Arial" panose="020B0604020202020204"/>
              </a:rPr>
              <a:t>1.1. BẢN CHẤT, MỤC TIÊU &amp; NGUYÊN LÝ ĐÁNH ĐỔI (TRADE-OFFS)</a:t>
            </a:r>
            <a:endParaRPr sz="1900" b="1">
              <a:solidFill>
                <a:srgbClr val="0F2043"/>
              </a:solidFill>
              <a:latin typeface="Arial" panose="020B0604020202020204"/>
            </a:endParaRPr>
          </a:p>
          <a:p>
            <a:r>
              <a:rPr sz="1100" i="1">
                <a:solidFill>
                  <a:srgbClr val="64748B"/>
                </a:solidFill>
                <a:latin typeface="Arial" panose="020B0604020202020204"/>
              </a:rPr>
              <a:t>Cân bằng các thuộc tính chất lượng phần mềm theo tiêu chuẩn quốc tế ISO/IEC 25010</a:t>
            </a:r>
            <a:endParaRPr sz="1100" i="1">
              <a:solidFill>
                <a:srgbClr val="64748B"/>
              </a:solidFill>
              <a:latin typeface="Arial" panose="020B0604020202020204"/>
            </a:endParaRPr>
          </a:p>
        </p:txBody>
      </p:sp>
      <p:sp>
        <p:nvSpPr>
          <p:cNvPr id="4" name="TextBox 3"/>
          <p:cNvSpPr txBox="1"/>
          <p:nvPr/>
        </p:nvSpPr>
        <p:spPr>
          <a:xfrm>
            <a:off x="731520" y="6400800"/>
            <a:ext cx="10698480" cy="320040"/>
          </a:xfrm>
          <a:prstGeom prst="rect">
            <a:avLst/>
          </a:prstGeom>
          <a:noFill/>
        </p:spPr>
        <p:txBody>
          <a:bodyPr wrap="none" lIns="0" tIns="0" rIns="0" bIns="0">
            <a:spAutoFit/>
          </a:bodyPr>
          <a:lstStyle/>
          <a:p>
            <a:r>
              <a:rPr sz="850">
                <a:solidFill>
                  <a:srgbClr val="64748B"/>
                </a:solidFill>
                <a:latin typeface="Arial" panose="020B0604020202020204"/>
              </a:rPr>
              <a:t>Học phần: Kiến trúc và Thiết kế Phần mềm — Báo cáo Chương 3: Thiết kế Kiến trúc | Dự án: php-restaurant</a:t>
            </a:r>
            <a:r>
              <a:rPr sz="850" b="1">
                <a:solidFill>
                  <a:srgbClr val="1F4E79"/>
                </a:solidFill>
                <a:latin typeface="Arial" panose="020B0604020202020204"/>
              </a:rPr>
              <a:t>             Slide 03 / 20</a:t>
            </a:r>
            <a:endParaRPr sz="850" b="1">
              <a:solidFill>
                <a:srgbClr val="1F4E79"/>
              </a:solidFill>
              <a:latin typeface="Arial" panose="020B0604020202020204"/>
            </a:endParaRPr>
          </a:p>
        </p:txBody>
      </p:sp>
      <p:sp>
        <p:nvSpPr>
          <p:cNvPr id="5" name="Rounded Rectangle 4"/>
          <p:cNvSpPr/>
          <p:nvPr/>
        </p:nvSpPr>
        <p:spPr>
          <a:xfrm>
            <a:off x="731520" y="1645920"/>
            <a:ext cx="6217920" cy="4389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5852160" cy="4114800"/>
          </a:xfrm>
          <a:prstGeom prst="rect">
            <a:avLst/>
          </a:prstGeom>
          <a:noFill/>
        </p:spPr>
        <p:txBody>
          <a:bodyPr wrap="square">
            <a:spAutoFit/>
          </a:bodyPr>
          <a:lstStyle/>
          <a:p>
            <a:pPr>
              <a:lnSpc>
                <a:spcPct val="115000"/>
              </a:lnSpc>
              <a:spcAft>
                <a:spcPts val="600"/>
              </a:spcAft>
            </a:pPr>
            <a:r>
              <a:rPr sz="1150" b="1">
                <a:solidFill>
                  <a:srgbClr val="1F4E79"/>
                </a:solidFill>
                <a:latin typeface="Arial" panose="020B0604020202020204"/>
              </a:rPr>
              <a:t>Bản chất cốt lõi: </a:t>
            </a:r>
            <a:r>
              <a:rPr sz="1100">
                <a:solidFill>
                  <a:srgbClr val="1E293B"/>
                </a:solidFill>
                <a:latin typeface="Arial" panose="020B0604020202020204"/>
              </a:rPr>
              <a:t>Không tồn tại kiến trúc hoàn hảo tuyệt đối cho mọi bài toán. Mọi thiết kế kiến trúc đều là sự thỏa hiệp có chủ đích giữa các thuộc tính chất lượng đối nghịch nhau.</a:t>
            </a:r>
            <a:endParaRPr sz="1100">
              <a:solidFill>
                <a:srgbClr val="1E293B"/>
              </a:solidFill>
              <a:latin typeface="Arial" panose="020B0604020202020204"/>
            </a:endParaRPr>
          </a:p>
          <a:p>
            <a:pPr>
              <a:lnSpc>
                <a:spcPct val="115000"/>
              </a:lnSpc>
              <a:spcAft>
                <a:spcPts val="600"/>
              </a:spcAft>
            </a:pPr>
            <a:r>
              <a:rPr sz="1150" b="1">
                <a:solidFill>
                  <a:srgbClr val="1F4E79"/>
                </a:solidFill>
                <a:latin typeface="Arial" panose="020B0604020202020204"/>
              </a:rPr>
              <a:t>Nguyên lý Trade-offs: </a:t>
            </a:r>
            <a:r>
              <a:rPr sz="1100">
                <a:solidFill>
                  <a:srgbClr val="1E293B"/>
                </a:solidFill>
                <a:latin typeface="Arial" panose="020B0604020202020204"/>
              </a:rPr>
              <a:t>Gia tăng Bảo mật &amp; Phân tầng sâu sẽ làm tăng độ trễ (Latency). Mở rộng sang Microservices sẽ hy sinh tính nhất quán ACID tức thời và tăng chi phí hạ tầng.</a:t>
            </a:r>
            <a:endParaRPr sz="1100">
              <a:solidFill>
                <a:srgbClr val="1E293B"/>
              </a:solidFill>
              <a:latin typeface="Arial" panose="020B0604020202020204"/>
            </a:endParaRPr>
          </a:p>
          <a:p>
            <a:pPr>
              <a:lnSpc>
                <a:spcPct val="115000"/>
              </a:lnSpc>
              <a:spcAft>
                <a:spcPts val="600"/>
              </a:spcAft>
            </a:pPr>
            <a:r>
              <a:rPr sz="1150" b="1">
                <a:solidFill>
                  <a:srgbClr val="1F4E79"/>
                </a:solidFill>
                <a:latin typeface="Arial" panose="020B0604020202020204"/>
              </a:rPr>
              <a:t>Mục tiêu tối thượng: </a:t>
            </a:r>
            <a:r>
              <a:rPr sz="1100">
                <a:solidFill>
                  <a:srgbClr val="1E293B"/>
                </a:solidFill>
                <a:latin typeface="Arial" panose="020B0604020202020204"/>
              </a:rPr>
              <a:t>Giảm thiểu tối đa rủi ro kỹ thuật trước giai đoạn code; tối ưu tổng chi phí sở hữu (TCO); rút ngắn thời gian ra mắt thị trường (Time-to-Market).</a:t>
            </a:r>
            <a:endParaRPr sz="1100">
              <a:solidFill>
                <a:srgbClr val="1E293B"/>
              </a:solidFill>
              <a:latin typeface="Arial" panose="020B0604020202020204"/>
            </a:endParaRPr>
          </a:p>
          <a:p>
            <a:pPr>
              <a:lnSpc>
                <a:spcPct val="115000"/>
              </a:lnSpc>
              <a:spcAft>
                <a:spcPts val="600"/>
              </a:spcAft>
            </a:pPr>
            <a:r>
              <a:rPr sz="1150" b="1">
                <a:solidFill>
                  <a:srgbClr val="1F4E79"/>
                </a:solidFill>
                <a:latin typeface="Arial" panose="020B0604020202020204"/>
              </a:rPr>
              <a:t>Cây thuộc tính ISO/IEC 25010: </a:t>
            </a:r>
            <a:r>
              <a:rPr sz="1100">
                <a:solidFill>
                  <a:srgbClr val="1E293B"/>
                </a:solidFill>
                <a:latin typeface="Arial" panose="020B0604020202020204"/>
              </a:rPr>
              <a:t>Định lượng hóa yêu cầu phi chức năng qua 8 đặc tính: Hiệu năng, Tương thích, Khả dụng, Độ tin cậy, Bảo mật, Khả năng bảo trì, Khả chuyển và Tính hoàn thiện chức năng.</a:t>
            </a:r>
            <a:endParaRPr sz="1100">
              <a:solidFill>
                <a:srgbClr val="1E293B"/>
              </a:solidFill>
              <a:latin typeface="Arial" panose="020B0604020202020204"/>
            </a:endParaRPr>
          </a:p>
        </p:txBody>
      </p:sp>
      <p:sp>
        <p:nvSpPr>
          <p:cNvPr id="7" name="Rounded Rectangle 6"/>
          <p:cNvSpPr/>
          <p:nvPr/>
        </p:nvSpPr>
        <p:spPr>
          <a:xfrm>
            <a:off x="7132320" y="1645920"/>
            <a:ext cx="429768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so_25010.jpg"/>
          <p:cNvPicPr>
            <a:picLocks noChangeAspect="1"/>
          </p:cNvPicPr>
          <p:nvPr/>
        </p:nvPicPr>
        <p:blipFill>
          <a:blip r:embed="rId1"/>
          <a:stretch>
            <a:fillRect/>
          </a:stretch>
        </p:blipFill>
        <p:spPr>
          <a:xfrm>
            <a:off x="7269480" y="1783080"/>
            <a:ext cx="4023360" cy="3749040"/>
          </a:xfrm>
          <a:prstGeom prst="rect">
            <a:avLst/>
          </a:prstGeom>
        </p:spPr>
      </p:pic>
      <p:sp>
        <p:nvSpPr>
          <p:cNvPr id="9" name="TextBox 8"/>
          <p:cNvSpPr txBox="1"/>
          <p:nvPr/>
        </p:nvSpPr>
        <p:spPr>
          <a:xfrm>
            <a:off x="7223760" y="5623560"/>
            <a:ext cx="4114800" cy="365760"/>
          </a:xfrm>
          <a:prstGeom prst="rect">
            <a:avLst/>
          </a:prstGeom>
          <a:noFill/>
        </p:spPr>
        <p:txBody>
          <a:bodyPr wrap="square">
            <a:spAutoFit/>
          </a:bodyPr>
          <a:lstStyle/>
          <a:p>
            <a:pPr algn="ctr"/>
            <a:r>
              <a:rPr sz="850" i="1">
                <a:solidFill>
                  <a:srgbClr val="64748B"/>
                </a:solidFill>
                <a:latin typeface="Arial" panose="020B0604020202020204"/>
              </a:rPr>
              <a:t>Minh họa: Cây Thuộc tính Chất lượng Phần mềm Tiêu chuẩn Quốc tế ISO/IEC 25010</a:t>
            </a:r>
            <a:endParaRPr sz="850" i="1">
              <a:solidFill>
                <a:srgbClr val="64748B"/>
              </a:solidFill>
              <a:latin typeface="Arial" panose="020B060402020202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914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1005840"/>
          </a:xfrm>
          <a:prstGeom prst="rect">
            <a:avLst/>
          </a:prstGeom>
          <a:noFill/>
        </p:spPr>
        <p:txBody>
          <a:bodyPr wrap="square" lIns="0" tIns="0" rIns="0" bIns="0">
            <a:spAutoFit/>
          </a:bodyPr>
          <a:lstStyle/>
          <a:p>
            <a:pPr>
              <a:spcAft>
                <a:spcPts val="200"/>
              </a:spcAft>
            </a:pPr>
            <a:r>
              <a:rPr sz="950" b="1">
                <a:solidFill>
                  <a:srgbClr val="D97706"/>
                </a:solidFill>
                <a:latin typeface="Arial" panose="020B0604020202020204"/>
              </a:rPr>
              <a:t>PHẦN 1: ĐÁNH GIÁ CÁC KIẾN TRÚC THAY THẾ (MỤC 3.2.3)</a:t>
            </a:r>
            <a:endParaRPr sz="950" b="1">
              <a:solidFill>
                <a:srgbClr val="D97706"/>
              </a:solidFill>
              <a:latin typeface="Arial" panose="020B0604020202020204"/>
            </a:endParaRPr>
          </a:p>
          <a:p>
            <a:pPr>
              <a:spcAft>
                <a:spcPts val="200"/>
              </a:spcAft>
            </a:pPr>
            <a:r>
              <a:rPr sz="1900" b="1">
                <a:solidFill>
                  <a:srgbClr val="0F2043"/>
                </a:solidFill>
                <a:latin typeface="Arial" panose="020B0604020202020204"/>
              </a:rPr>
              <a:t>1.2. CÁC PHƯƠNG PHÁP &amp; KHUNG ĐÁNH GIÁ CHUẨN HÓA</a:t>
            </a:r>
            <a:endParaRPr sz="1900" b="1">
              <a:solidFill>
                <a:srgbClr val="0F2043"/>
              </a:solidFill>
              <a:latin typeface="Arial" panose="020B0604020202020204"/>
            </a:endParaRPr>
          </a:p>
          <a:p>
            <a:r>
              <a:rPr sz="1100" i="1">
                <a:solidFill>
                  <a:srgbClr val="64748B"/>
                </a:solidFill>
                <a:latin typeface="Arial" panose="020B0604020202020204"/>
              </a:rPr>
              <a:t>Khung đánh giá kiến trúc ATAM và CBAM của Viện Kỹ thuật Phần mềm Mỹ (SEI)</a:t>
            </a:r>
            <a:endParaRPr sz="1100" i="1">
              <a:solidFill>
                <a:srgbClr val="64748B"/>
              </a:solidFill>
              <a:latin typeface="Arial" panose="020B0604020202020204"/>
            </a:endParaRPr>
          </a:p>
        </p:txBody>
      </p:sp>
      <p:sp>
        <p:nvSpPr>
          <p:cNvPr id="4" name="TextBox 3"/>
          <p:cNvSpPr txBox="1"/>
          <p:nvPr/>
        </p:nvSpPr>
        <p:spPr>
          <a:xfrm>
            <a:off x="731520" y="6400800"/>
            <a:ext cx="10698480" cy="320040"/>
          </a:xfrm>
          <a:prstGeom prst="rect">
            <a:avLst/>
          </a:prstGeom>
          <a:noFill/>
        </p:spPr>
        <p:txBody>
          <a:bodyPr wrap="none" lIns="0" tIns="0" rIns="0" bIns="0">
            <a:spAutoFit/>
          </a:bodyPr>
          <a:lstStyle/>
          <a:p>
            <a:r>
              <a:rPr sz="850">
                <a:solidFill>
                  <a:srgbClr val="64748B"/>
                </a:solidFill>
                <a:latin typeface="Arial" panose="020B0604020202020204"/>
              </a:rPr>
              <a:t>Học phần: Kiến trúc và Thiết kế Phần mềm — Báo cáo Chương 3: Thiết kế Kiến trúc | Dự án: php-restaurant</a:t>
            </a:r>
            <a:r>
              <a:rPr sz="850" b="1">
                <a:solidFill>
                  <a:srgbClr val="1F4E79"/>
                </a:solidFill>
                <a:latin typeface="Arial" panose="020B0604020202020204"/>
              </a:rPr>
              <a:t>             Slide 04 / 20</a:t>
            </a:r>
            <a:endParaRPr sz="850" b="1">
              <a:solidFill>
                <a:srgbClr val="1F4E79"/>
              </a:solidFill>
              <a:latin typeface="Arial" panose="020B0604020202020204"/>
            </a:endParaRPr>
          </a:p>
        </p:txBody>
      </p:sp>
      <p:sp>
        <p:nvSpPr>
          <p:cNvPr id="5" name="Rounded Rectangle 4"/>
          <p:cNvSpPr/>
          <p:nvPr/>
        </p:nvSpPr>
        <p:spPr>
          <a:xfrm>
            <a:off x="731520" y="1645920"/>
            <a:ext cx="6217920" cy="4389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5852160" cy="4114800"/>
          </a:xfrm>
          <a:prstGeom prst="rect">
            <a:avLst/>
          </a:prstGeom>
          <a:noFill/>
        </p:spPr>
        <p:txBody>
          <a:bodyPr wrap="square">
            <a:spAutoFit/>
          </a:bodyPr>
          <a:lstStyle/>
          <a:p>
            <a:pPr>
              <a:lnSpc>
                <a:spcPct val="115000"/>
              </a:lnSpc>
              <a:spcAft>
                <a:spcPts val="600"/>
              </a:spcAft>
            </a:pPr>
            <a:r>
              <a:rPr sz="1150" b="1">
                <a:solidFill>
                  <a:srgbClr val="1F4E79"/>
                </a:solidFill>
                <a:latin typeface="Arial" panose="020B0604020202020204"/>
              </a:rPr>
              <a:t>1. Phương pháp ATAM (SEI): </a:t>
            </a:r>
            <a:r>
              <a:rPr sz="1100">
                <a:solidFill>
                  <a:srgbClr val="1E293B"/>
                </a:solidFill>
                <a:latin typeface="Arial" panose="020B0604020202020204"/>
              </a:rPr>
              <a:t>Architecture Tradeoff Analysis Method — Tiêu chuẩn vàng quốc tế để đánh giá kiến trúc phần mềm trước khi triển khai.</a:t>
            </a:r>
            <a:endParaRPr sz="1100">
              <a:solidFill>
                <a:srgbClr val="1E293B"/>
              </a:solidFill>
              <a:latin typeface="Arial" panose="020B0604020202020204"/>
            </a:endParaRPr>
          </a:p>
          <a:p>
            <a:pPr lvl="1">
              <a:lnSpc>
                <a:spcPct val="115000"/>
              </a:lnSpc>
              <a:spcAft>
                <a:spcPts val="600"/>
              </a:spcAft>
            </a:pPr>
            <a:r>
              <a:rPr sz="1050" b="1">
                <a:solidFill>
                  <a:srgbClr val="1E293B"/>
                </a:solidFill>
                <a:latin typeface="Arial" panose="020B0604020202020204"/>
              </a:rPr>
              <a:t>Quy trình 4 pha, 9 bước: </a:t>
            </a:r>
            <a:r>
              <a:rPr sz="1000">
                <a:solidFill>
                  <a:srgbClr val="1E293B"/>
                </a:solidFill>
                <a:latin typeface="Arial" panose="020B0604020202020204"/>
              </a:rPr>
              <a:t>Trình bày mục tiêu nghiệp vụ -&gt; Xây dựng Cây thuộc tính chất lượng -&gt; Đánh giá kịch bản ưu tiên -&gt; Nhận diện rủi ro kỹ thuật.</a:t>
            </a:r>
            <a:endParaRPr sz="1000">
              <a:solidFill>
                <a:srgbClr val="1E293B"/>
              </a:solidFill>
              <a:latin typeface="Arial" panose="020B0604020202020204"/>
            </a:endParaRPr>
          </a:p>
          <a:p>
            <a:pPr lvl="1">
              <a:lnSpc>
                <a:spcPct val="115000"/>
              </a:lnSpc>
              <a:spcAft>
                <a:spcPts val="600"/>
              </a:spcAft>
            </a:pPr>
            <a:r>
              <a:rPr sz="1050" b="1">
                <a:solidFill>
                  <a:srgbClr val="1E293B"/>
                </a:solidFill>
                <a:latin typeface="Arial" panose="020B0604020202020204"/>
              </a:rPr>
              <a:t>3 Khái niệm hạt nhân ATAM: </a:t>
            </a:r>
            <a:endParaRPr sz="1050" b="1">
              <a:solidFill>
                <a:srgbClr val="1E293B"/>
              </a:solidFill>
              <a:latin typeface="Arial" panose="020B0604020202020204"/>
            </a:endParaRPr>
          </a:p>
          <a:p>
            <a:pPr lvl="2">
              <a:lnSpc>
                <a:spcPct val="115000"/>
              </a:lnSpc>
              <a:spcAft>
                <a:spcPts val="600"/>
              </a:spcAft>
            </a:pPr>
            <a:r>
              <a:rPr sz="1050" b="1">
                <a:solidFill>
                  <a:srgbClr val="1E293B"/>
                </a:solidFill>
                <a:latin typeface="Arial" panose="020B0604020202020204"/>
              </a:rPr>
              <a:t>• Scenarios: </a:t>
            </a:r>
            <a:r>
              <a:rPr sz="1000">
                <a:solidFill>
                  <a:srgbClr val="1E293B"/>
                </a:solidFill>
                <a:latin typeface="Arial" panose="020B0604020202020204"/>
              </a:rPr>
              <a:t>Kịch bản vận hành thực tế (Use-case, Growth, Exploratory).</a:t>
            </a:r>
            <a:endParaRPr sz="1000">
              <a:solidFill>
                <a:srgbClr val="1E293B"/>
              </a:solidFill>
              <a:latin typeface="Arial" panose="020B0604020202020204"/>
            </a:endParaRPr>
          </a:p>
          <a:p>
            <a:pPr lvl="2">
              <a:lnSpc>
                <a:spcPct val="115000"/>
              </a:lnSpc>
              <a:spcAft>
                <a:spcPts val="600"/>
              </a:spcAft>
            </a:pPr>
            <a:r>
              <a:rPr sz="1050" b="1">
                <a:solidFill>
                  <a:srgbClr val="1E293B"/>
                </a:solidFill>
                <a:latin typeface="Arial" panose="020B0604020202020204"/>
              </a:rPr>
              <a:t>• Sensitivity Points: </a:t>
            </a:r>
            <a:r>
              <a:rPr sz="1000">
                <a:solidFill>
                  <a:srgbClr val="1E293B"/>
                </a:solidFill>
                <a:latin typeface="Arial" panose="020B0604020202020204"/>
              </a:rPr>
              <a:t>Điểm nhạy cảm mà thay đổi nhỏ ảnh hưởng lớn đến chất lượng.</a:t>
            </a:r>
            <a:endParaRPr sz="1000">
              <a:solidFill>
                <a:srgbClr val="1E293B"/>
              </a:solidFill>
              <a:latin typeface="Arial" panose="020B0604020202020204"/>
            </a:endParaRPr>
          </a:p>
          <a:p>
            <a:pPr lvl="2">
              <a:lnSpc>
                <a:spcPct val="115000"/>
              </a:lnSpc>
              <a:spcAft>
                <a:spcPts val="600"/>
              </a:spcAft>
            </a:pPr>
            <a:r>
              <a:rPr sz="1050" b="1">
                <a:solidFill>
                  <a:srgbClr val="1E293B"/>
                </a:solidFill>
                <a:latin typeface="Arial" panose="020B0604020202020204"/>
              </a:rPr>
              <a:t>• Tradeoff Points: </a:t>
            </a:r>
            <a:r>
              <a:rPr sz="1000">
                <a:solidFill>
                  <a:srgbClr val="1E293B"/>
                </a:solidFill>
                <a:latin typeface="Arial" panose="020B0604020202020204"/>
              </a:rPr>
              <a:t>Điểm đánh đổi mà quyết định ảnh hưởng trái chiều tới 2 thuộc tính.</a:t>
            </a:r>
            <a:endParaRPr sz="1000">
              <a:solidFill>
                <a:srgbClr val="1E293B"/>
              </a:solidFill>
              <a:latin typeface="Arial" panose="020B0604020202020204"/>
            </a:endParaRPr>
          </a:p>
          <a:p>
            <a:pPr>
              <a:lnSpc>
                <a:spcPct val="115000"/>
              </a:lnSpc>
              <a:spcAft>
                <a:spcPts val="600"/>
              </a:spcAft>
            </a:pPr>
            <a:r>
              <a:rPr sz="1150" b="1">
                <a:solidFill>
                  <a:srgbClr val="1F4E79"/>
                </a:solidFill>
                <a:latin typeface="Arial" panose="020B0604020202020204"/>
              </a:rPr>
              <a:t>2. Phương pháp CBAM: </a:t>
            </a:r>
            <a:r>
              <a:rPr sz="1100">
                <a:solidFill>
                  <a:srgbClr val="1E293B"/>
                </a:solidFill>
                <a:latin typeface="Arial" panose="020B0604020202020204"/>
              </a:rPr>
              <a:t>Cost-Benefit Analysis Method — Đưa yếu tố kinh tế lượng vào kiến trúc: Tính toán ROI = Lợi ích nghiệp vụ / Chi phí đầu tư hạ tầng.</a:t>
            </a:r>
            <a:endParaRPr sz="1100">
              <a:solidFill>
                <a:srgbClr val="1E293B"/>
              </a:solidFill>
              <a:latin typeface="Arial" panose="020B0604020202020204"/>
            </a:endParaRPr>
          </a:p>
          <a:p>
            <a:pPr>
              <a:lnSpc>
                <a:spcPct val="115000"/>
              </a:lnSpc>
              <a:spcAft>
                <a:spcPts val="600"/>
              </a:spcAft>
            </a:pPr>
            <a:r>
              <a:rPr sz="1150" b="1">
                <a:solidFill>
                  <a:srgbClr val="1F4E79"/>
                </a:solidFill>
                <a:latin typeface="Arial" panose="020B0604020202020204"/>
              </a:rPr>
              <a:t>3. Ma trận Quyết định có Trọng số: </a:t>
            </a:r>
            <a:r>
              <a:rPr sz="1100">
                <a:solidFill>
                  <a:srgbClr val="1E293B"/>
                </a:solidFill>
                <a:latin typeface="Arial" panose="020B0604020202020204"/>
              </a:rPr>
              <a:t>Gán trọng số % cho tiêu chí và chấm điểm định lượng 1-10 các ứng viên.</a:t>
            </a:r>
            <a:endParaRPr sz="1100">
              <a:solidFill>
                <a:srgbClr val="1E293B"/>
              </a:solidFill>
              <a:latin typeface="Arial" panose="020B0604020202020204"/>
            </a:endParaRPr>
          </a:p>
        </p:txBody>
      </p:sp>
      <p:sp>
        <p:nvSpPr>
          <p:cNvPr id="7" name="Rounded Rectangle 6"/>
          <p:cNvSpPr/>
          <p:nvPr/>
        </p:nvSpPr>
        <p:spPr>
          <a:xfrm>
            <a:off x="7132320" y="1645920"/>
            <a:ext cx="429768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rchitecture_activities.jpg"/>
          <p:cNvPicPr>
            <a:picLocks noChangeAspect="1"/>
          </p:cNvPicPr>
          <p:nvPr/>
        </p:nvPicPr>
        <p:blipFill>
          <a:blip r:embed="rId1"/>
          <a:stretch>
            <a:fillRect/>
          </a:stretch>
        </p:blipFill>
        <p:spPr>
          <a:xfrm>
            <a:off x="7269480" y="1783080"/>
            <a:ext cx="4023360" cy="1352741"/>
          </a:xfrm>
          <a:prstGeom prst="rect">
            <a:avLst/>
          </a:prstGeom>
        </p:spPr>
      </p:pic>
      <p:sp>
        <p:nvSpPr>
          <p:cNvPr id="9" name="TextBox 8"/>
          <p:cNvSpPr txBox="1"/>
          <p:nvPr/>
        </p:nvSpPr>
        <p:spPr>
          <a:xfrm>
            <a:off x="7223760" y="5623560"/>
            <a:ext cx="4114800" cy="365760"/>
          </a:xfrm>
          <a:prstGeom prst="rect">
            <a:avLst/>
          </a:prstGeom>
          <a:noFill/>
        </p:spPr>
        <p:txBody>
          <a:bodyPr wrap="square">
            <a:spAutoFit/>
          </a:bodyPr>
          <a:lstStyle/>
          <a:p>
            <a:pPr algn="ctr"/>
            <a:r>
              <a:rPr sz="850" i="1">
                <a:solidFill>
                  <a:srgbClr val="64748B"/>
                </a:solidFill>
                <a:latin typeface="Arial" panose="020B0604020202020204"/>
              </a:rPr>
              <a:t>Minh họa: Quy trình Các Hoạt động Đánh giá và Phân tích Kiến trúc Phần mềm</a:t>
            </a:r>
            <a:endParaRPr sz="850" i="1">
              <a:solidFill>
                <a:srgbClr val="64748B"/>
              </a:solidFill>
              <a:latin typeface="Arial" panose="020B060402020202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914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1005840"/>
          </a:xfrm>
          <a:prstGeom prst="rect">
            <a:avLst/>
          </a:prstGeom>
          <a:noFill/>
        </p:spPr>
        <p:txBody>
          <a:bodyPr wrap="square" lIns="0" tIns="0" rIns="0" bIns="0">
            <a:spAutoFit/>
          </a:bodyPr>
          <a:lstStyle/>
          <a:p>
            <a:pPr>
              <a:spcAft>
                <a:spcPts val="200"/>
              </a:spcAft>
            </a:pPr>
            <a:r>
              <a:rPr sz="950" b="1">
                <a:solidFill>
                  <a:srgbClr val="D97706"/>
                </a:solidFill>
                <a:latin typeface="Arial" panose="020B0604020202020204"/>
              </a:rPr>
              <a:t>PHẦN 1: ĐÁNH GIÁ CÁC KIẾN TRÚC THAY THẾ (MỤC 3.2.3)</a:t>
            </a:r>
            <a:endParaRPr sz="950" b="1">
              <a:solidFill>
                <a:srgbClr val="D97706"/>
              </a:solidFill>
              <a:latin typeface="Arial" panose="020B0604020202020204"/>
            </a:endParaRPr>
          </a:p>
          <a:p>
            <a:pPr>
              <a:spcAft>
                <a:spcPts val="200"/>
              </a:spcAft>
            </a:pPr>
            <a:r>
              <a:rPr sz="1900" b="1">
                <a:solidFill>
                  <a:srgbClr val="0F2043"/>
                </a:solidFill>
                <a:latin typeface="Arial" panose="020B0604020202020204"/>
              </a:rPr>
              <a:t>1.3. QUY TRÌNH 5 BƯỚC THỰC THI ĐÁNH GIÁ KIẾN TRÚC</a:t>
            </a:r>
            <a:endParaRPr sz="1900" b="1">
              <a:solidFill>
                <a:srgbClr val="0F2043"/>
              </a:solidFill>
              <a:latin typeface="Arial" panose="020B0604020202020204"/>
            </a:endParaRPr>
          </a:p>
          <a:p>
            <a:r>
              <a:rPr sz="1100" i="1">
                <a:solidFill>
                  <a:srgbClr val="64748B"/>
                </a:solidFill>
                <a:latin typeface="Arial" panose="020B0604020202020204"/>
              </a:rPr>
              <a:t>Chu trình khép kín từ trích xuất yêu cầu đến ban hành Hồ sơ Quyết định Kiến trúc (ADR)</a:t>
            </a:r>
            <a:endParaRPr sz="1100" i="1">
              <a:solidFill>
                <a:srgbClr val="64748B"/>
              </a:solidFill>
              <a:latin typeface="Arial" panose="020B0604020202020204"/>
            </a:endParaRPr>
          </a:p>
        </p:txBody>
      </p:sp>
      <p:sp>
        <p:nvSpPr>
          <p:cNvPr id="4" name="TextBox 3"/>
          <p:cNvSpPr txBox="1"/>
          <p:nvPr/>
        </p:nvSpPr>
        <p:spPr>
          <a:xfrm>
            <a:off x="731520" y="6400800"/>
            <a:ext cx="10698480" cy="320040"/>
          </a:xfrm>
          <a:prstGeom prst="rect">
            <a:avLst/>
          </a:prstGeom>
          <a:noFill/>
        </p:spPr>
        <p:txBody>
          <a:bodyPr wrap="none" lIns="0" tIns="0" rIns="0" bIns="0">
            <a:spAutoFit/>
          </a:bodyPr>
          <a:lstStyle/>
          <a:p>
            <a:r>
              <a:rPr sz="850">
                <a:solidFill>
                  <a:srgbClr val="64748B"/>
                </a:solidFill>
                <a:latin typeface="Arial" panose="020B0604020202020204"/>
              </a:rPr>
              <a:t>Học phần: Kiến trúc và Thiết kế Phần mềm — Báo cáo Chương 3: Thiết kế Kiến trúc | Dự án: php-restaurant</a:t>
            </a:r>
            <a:r>
              <a:rPr sz="850" b="1">
                <a:solidFill>
                  <a:srgbClr val="1F4E79"/>
                </a:solidFill>
                <a:latin typeface="Arial" panose="020B0604020202020204"/>
              </a:rPr>
              <a:t>             Slide 05 / 20</a:t>
            </a:r>
            <a:endParaRPr sz="850" b="1">
              <a:solidFill>
                <a:srgbClr val="1F4E79"/>
              </a:solidFill>
              <a:latin typeface="Arial" panose="020B0604020202020204"/>
            </a:endParaRPr>
          </a:p>
        </p:txBody>
      </p:sp>
      <p:sp>
        <p:nvSpPr>
          <p:cNvPr id="5" name="Rounded Rectangle 4"/>
          <p:cNvSpPr/>
          <p:nvPr/>
        </p:nvSpPr>
        <p:spPr>
          <a:xfrm>
            <a:off x="731520" y="1645920"/>
            <a:ext cx="10698480" cy="7772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1755648"/>
            <a:ext cx="1188720" cy="5486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rial" panose="020B0604020202020204"/>
              </a:rPr>
              <a:t>BƯỚC 1</a:t>
            </a:r>
            <a:endParaRPr sz="1100" b="1">
              <a:solidFill>
                <a:srgbClr val="FFFFFF"/>
              </a:solidFill>
              <a:latin typeface="Arial" panose="020B0604020202020204"/>
            </a:endParaRPr>
          </a:p>
        </p:txBody>
      </p:sp>
      <p:sp>
        <p:nvSpPr>
          <p:cNvPr id="7" name="TextBox 6"/>
          <p:cNvSpPr txBox="1"/>
          <p:nvPr/>
        </p:nvSpPr>
        <p:spPr>
          <a:xfrm>
            <a:off x="2148840" y="1719072"/>
            <a:ext cx="9144000" cy="640080"/>
          </a:xfrm>
          <a:prstGeom prst="rect">
            <a:avLst/>
          </a:prstGeom>
          <a:noFill/>
        </p:spPr>
        <p:txBody>
          <a:bodyPr wrap="square">
            <a:spAutoFit/>
          </a:bodyPr>
          <a:lstStyle/>
          <a:p>
            <a:r>
              <a:rPr sz="1150" b="1">
                <a:solidFill>
                  <a:srgbClr val="0F2043"/>
                </a:solidFill>
                <a:latin typeface="Arial" panose="020B0604020202020204"/>
              </a:rPr>
              <a:t>Khai phá Yêu cầu Kiến trúc Trọng yếu (ASRs) — </a:t>
            </a:r>
            <a:r>
              <a:rPr sz="1000">
                <a:solidFill>
                  <a:srgbClr val="1E293B"/>
                </a:solidFill>
                <a:latin typeface="Arial" panose="020B0604020202020204"/>
              </a:rPr>
              <a:t>Lọc ra các yêu cầu phi chức năng chi phối trực tiếp đến khung sườn hệ thống thông qua phỏng vấn Product Owner và các bên liên quan.</a:t>
            </a:r>
            <a:endParaRPr sz="1000">
              <a:solidFill>
                <a:srgbClr val="1E293B"/>
              </a:solidFill>
              <a:latin typeface="Arial" panose="020B0604020202020204"/>
            </a:endParaRPr>
          </a:p>
        </p:txBody>
      </p:sp>
      <p:sp>
        <p:nvSpPr>
          <p:cNvPr id="8" name="Rounded Rectangle 7"/>
          <p:cNvSpPr/>
          <p:nvPr/>
        </p:nvSpPr>
        <p:spPr>
          <a:xfrm>
            <a:off x="731520" y="2532888"/>
            <a:ext cx="10698480" cy="7772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2642616"/>
            <a:ext cx="1188720" cy="5486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rial" panose="020B0604020202020204"/>
              </a:rPr>
              <a:t>BƯỚC 2</a:t>
            </a:r>
            <a:endParaRPr sz="1100" b="1">
              <a:solidFill>
                <a:srgbClr val="FFFFFF"/>
              </a:solidFill>
              <a:latin typeface="Arial" panose="020B0604020202020204"/>
            </a:endParaRPr>
          </a:p>
        </p:txBody>
      </p:sp>
      <p:sp>
        <p:nvSpPr>
          <p:cNvPr id="10" name="TextBox 9"/>
          <p:cNvSpPr txBox="1"/>
          <p:nvPr/>
        </p:nvSpPr>
        <p:spPr>
          <a:xfrm>
            <a:off x="2148840" y="2606040"/>
            <a:ext cx="9144000" cy="640080"/>
          </a:xfrm>
          <a:prstGeom prst="rect">
            <a:avLst/>
          </a:prstGeom>
          <a:noFill/>
        </p:spPr>
        <p:txBody>
          <a:bodyPr wrap="square">
            <a:spAutoFit/>
          </a:bodyPr>
          <a:lstStyle/>
          <a:p>
            <a:r>
              <a:rPr sz="1150" b="1">
                <a:solidFill>
                  <a:srgbClr val="0F2043"/>
                </a:solidFill>
                <a:latin typeface="Arial" panose="020B0604020202020204"/>
              </a:rPr>
              <a:t>Xây dựng Danh mục Kiến trúc Ứng viên (Candidates) — </a:t>
            </a:r>
            <a:r>
              <a:rPr sz="1000">
                <a:solidFill>
                  <a:srgbClr val="1E293B"/>
                </a:solidFill>
                <a:latin typeface="Arial" panose="020B0604020202020204"/>
              </a:rPr>
              <a:t>Đề xuất từ 2 đến 4 giải pháp cấu trúc khả dĩ (Monolith, Microservices, Serverless, Jamstack/SPA) kèm công nghệ tương ứng.</a:t>
            </a:r>
            <a:endParaRPr sz="1000">
              <a:solidFill>
                <a:srgbClr val="1E293B"/>
              </a:solidFill>
              <a:latin typeface="Arial" panose="020B0604020202020204"/>
            </a:endParaRPr>
          </a:p>
        </p:txBody>
      </p:sp>
      <p:sp>
        <p:nvSpPr>
          <p:cNvPr id="11" name="Rounded Rectangle 10"/>
          <p:cNvSpPr/>
          <p:nvPr/>
        </p:nvSpPr>
        <p:spPr>
          <a:xfrm>
            <a:off x="731520" y="3419856"/>
            <a:ext cx="10698480" cy="7772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2960" y="3529584"/>
            <a:ext cx="1188720" cy="5486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rial" panose="020B0604020202020204"/>
              </a:rPr>
              <a:t>BƯỚC 3</a:t>
            </a:r>
            <a:endParaRPr sz="1100" b="1">
              <a:solidFill>
                <a:srgbClr val="FFFFFF"/>
              </a:solidFill>
              <a:latin typeface="Arial" panose="020B0604020202020204"/>
            </a:endParaRPr>
          </a:p>
        </p:txBody>
      </p:sp>
      <p:sp>
        <p:nvSpPr>
          <p:cNvPr id="13" name="TextBox 12"/>
          <p:cNvSpPr txBox="1"/>
          <p:nvPr/>
        </p:nvSpPr>
        <p:spPr>
          <a:xfrm>
            <a:off x="2148840" y="3493008"/>
            <a:ext cx="9144000" cy="640080"/>
          </a:xfrm>
          <a:prstGeom prst="rect">
            <a:avLst/>
          </a:prstGeom>
          <a:noFill/>
        </p:spPr>
        <p:txBody>
          <a:bodyPr wrap="square">
            <a:spAutoFit/>
          </a:bodyPr>
          <a:lstStyle/>
          <a:p>
            <a:r>
              <a:rPr sz="1150" b="1">
                <a:solidFill>
                  <a:srgbClr val="0F2043"/>
                </a:solidFill>
                <a:latin typeface="Arial" panose="020B0604020202020204"/>
              </a:rPr>
              <a:t>Thiết lập Hệ thống Kịch bản Đánh giá (Scenarios) — </a:t>
            </a:r>
            <a:r>
              <a:rPr sz="1000">
                <a:solidFill>
                  <a:srgbClr val="1E293B"/>
                </a:solidFill>
                <a:latin typeface="Arial" panose="020B0604020202020204"/>
              </a:rPr>
              <a:t>Xây dựng kịch bản vận hành bình thường, kịch bản tải đột biến giờ cao điểm, kịch bản lỗi mạng và kịch bản nâng cấp phiên bản.</a:t>
            </a:r>
            <a:endParaRPr sz="1000">
              <a:solidFill>
                <a:srgbClr val="1E293B"/>
              </a:solidFill>
              <a:latin typeface="Arial" panose="020B0604020202020204"/>
            </a:endParaRPr>
          </a:p>
        </p:txBody>
      </p:sp>
      <p:sp>
        <p:nvSpPr>
          <p:cNvPr id="14" name="Rounded Rectangle 13"/>
          <p:cNvSpPr/>
          <p:nvPr/>
        </p:nvSpPr>
        <p:spPr>
          <a:xfrm>
            <a:off x="731520" y="4306824"/>
            <a:ext cx="10698480" cy="7772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 y="4416552"/>
            <a:ext cx="1188720" cy="5486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rial" panose="020B0604020202020204"/>
              </a:rPr>
              <a:t>BƯỚC 4</a:t>
            </a:r>
            <a:endParaRPr sz="1100" b="1">
              <a:solidFill>
                <a:srgbClr val="FFFFFF"/>
              </a:solidFill>
              <a:latin typeface="Arial" panose="020B0604020202020204"/>
            </a:endParaRPr>
          </a:p>
        </p:txBody>
      </p:sp>
      <p:sp>
        <p:nvSpPr>
          <p:cNvPr id="16" name="TextBox 15"/>
          <p:cNvSpPr txBox="1"/>
          <p:nvPr/>
        </p:nvSpPr>
        <p:spPr>
          <a:xfrm>
            <a:off x="2148840" y="4379976"/>
            <a:ext cx="9144000" cy="640080"/>
          </a:xfrm>
          <a:prstGeom prst="rect">
            <a:avLst/>
          </a:prstGeom>
          <a:noFill/>
        </p:spPr>
        <p:txBody>
          <a:bodyPr wrap="square">
            <a:spAutoFit/>
          </a:bodyPr>
          <a:lstStyle/>
          <a:p>
            <a:r>
              <a:rPr sz="1150" b="1">
                <a:solidFill>
                  <a:srgbClr val="0F2043"/>
                </a:solidFill>
                <a:latin typeface="Arial" panose="020B0604020202020204"/>
              </a:rPr>
              <a:t>Chấm điểm, Phân tích Đánh đổi &amp; Nhận diện Điểm mù — </a:t>
            </a:r>
            <a:r>
              <a:rPr sz="1000">
                <a:solidFill>
                  <a:srgbClr val="1E293B"/>
                </a:solidFill>
                <a:latin typeface="Arial" panose="020B0604020202020204"/>
              </a:rPr>
              <a:t>Họp hội đồng kỹ thuật, đối chiếu từng phương án với hệ thống kịch bản, lập ma trận trọng số và phân tích Trade-off points.</a:t>
            </a:r>
            <a:endParaRPr sz="1000">
              <a:solidFill>
                <a:srgbClr val="1E293B"/>
              </a:solidFill>
              <a:latin typeface="Arial" panose="020B0604020202020204"/>
            </a:endParaRPr>
          </a:p>
        </p:txBody>
      </p:sp>
      <p:sp>
        <p:nvSpPr>
          <p:cNvPr id="17" name="Rounded Rectangle 16"/>
          <p:cNvSpPr/>
          <p:nvPr/>
        </p:nvSpPr>
        <p:spPr>
          <a:xfrm>
            <a:off x="731520" y="5193792"/>
            <a:ext cx="10698480" cy="7772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2960" y="5303520"/>
            <a:ext cx="1188720" cy="5486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rial" panose="020B0604020202020204"/>
              </a:rPr>
              <a:t>BƯỚC 5</a:t>
            </a:r>
            <a:endParaRPr sz="1100" b="1">
              <a:solidFill>
                <a:srgbClr val="FFFFFF"/>
              </a:solidFill>
              <a:latin typeface="Arial" panose="020B0604020202020204"/>
            </a:endParaRPr>
          </a:p>
        </p:txBody>
      </p:sp>
      <p:sp>
        <p:nvSpPr>
          <p:cNvPr id="19" name="TextBox 18"/>
          <p:cNvSpPr txBox="1"/>
          <p:nvPr/>
        </p:nvSpPr>
        <p:spPr>
          <a:xfrm>
            <a:off x="2148840" y="5266944"/>
            <a:ext cx="9144000" cy="640080"/>
          </a:xfrm>
          <a:prstGeom prst="rect">
            <a:avLst/>
          </a:prstGeom>
          <a:noFill/>
        </p:spPr>
        <p:txBody>
          <a:bodyPr wrap="square">
            <a:spAutoFit/>
          </a:bodyPr>
          <a:lstStyle/>
          <a:p>
            <a:r>
              <a:rPr sz="1150" b="1">
                <a:solidFill>
                  <a:srgbClr val="0F2043"/>
                </a:solidFill>
                <a:latin typeface="Arial" panose="020B0604020202020204"/>
              </a:rPr>
              <a:t>Ban hành Hồ sơ Quyết định Kiến trúc (ADR Record) — </a:t>
            </a:r>
            <a:r>
              <a:rPr sz="1000">
                <a:solidFill>
                  <a:srgbClr val="1E293B"/>
                </a:solidFill>
                <a:latin typeface="Arial" panose="020B0604020202020204"/>
              </a:rPr>
              <a:t>Đóng băng quyết định thiết kế chính thức, ghi nhận lý do lựa chọn, các rủi ro chấp nhận và lưu trữ làm tài sản kỹ thuật lâu dài.</a:t>
            </a:r>
            <a:endParaRPr sz="1000">
              <a:solidFill>
                <a:srgbClr val="1E293B"/>
              </a:solidFill>
              <a:latin typeface="Arial" panose="020B060402020202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914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1005840"/>
          </a:xfrm>
          <a:prstGeom prst="rect">
            <a:avLst/>
          </a:prstGeom>
          <a:noFill/>
        </p:spPr>
        <p:txBody>
          <a:bodyPr wrap="square" lIns="0" tIns="0" rIns="0" bIns="0">
            <a:spAutoFit/>
          </a:bodyPr>
          <a:lstStyle/>
          <a:p>
            <a:pPr>
              <a:spcAft>
                <a:spcPts val="200"/>
              </a:spcAft>
            </a:pPr>
            <a:r>
              <a:rPr sz="950" b="1">
                <a:solidFill>
                  <a:srgbClr val="D97706"/>
                </a:solidFill>
                <a:latin typeface="Arial" panose="020B0604020202020204"/>
              </a:rPr>
              <a:t>PHẦN 1: ĐÁNH GIÁ CÁC KIẾN TRÚC THAY THẾ (MỤC 3.2.3)</a:t>
            </a:r>
            <a:endParaRPr sz="950" b="1">
              <a:solidFill>
                <a:srgbClr val="D97706"/>
              </a:solidFill>
              <a:latin typeface="Arial" panose="020B0604020202020204"/>
            </a:endParaRPr>
          </a:p>
          <a:p>
            <a:pPr>
              <a:spcAft>
                <a:spcPts val="200"/>
              </a:spcAft>
            </a:pPr>
            <a:r>
              <a:rPr sz="1900" b="1">
                <a:solidFill>
                  <a:srgbClr val="0F2043"/>
                </a:solidFill>
                <a:latin typeface="Arial" panose="020B0604020202020204"/>
              </a:rPr>
              <a:t>1.4. ĐÁNH GIÁ KIẾN TRÚC THỰC TẾ TRONG DỰ ÁN NHÀ HÀNG</a:t>
            </a:r>
            <a:endParaRPr sz="1900" b="1">
              <a:solidFill>
                <a:srgbClr val="0F2043"/>
              </a:solidFill>
              <a:latin typeface="Arial" panose="020B0604020202020204"/>
            </a:endParaRPr>
          </a:p>
          <a:p>
            <a:r>
              <a:rPr sz="1100" i="1">
                <a:solidFill>
                  <a:srgbClr val="64748B"/>
                </a:solidFill>
                <a:latin typeface="Arial" panose="020B0604020202020204"/>
              </a:rPr>
              <a:t>Phân tích bối cảnh nghiệp vụ php-restaurant và đề xuất 4 phương án ứng viên</a:t>
            </a:r>
            <a:endParaRPr sz="1100" i="1">
              <a:solidFill>
                <a:srgbClr val="64748B"/>
              </a:solidFill>
              <a:latin typeface="Arial" panose="020B0604020202020204"/>
            </a:endParaRPr>
          </a:p>
        </p:txBody>
      </p:sp>
      <p:sp>
        <p:nvSpPr>
          <p:cNvPr id="4" name="TextBox 3"/>
          <p:cNvSpPr txBox="1"/>
          <p:nvPr/>
        </p:nvSpPr>
        <p:spPr>
          <a:xfrm>
            <a:off x="731520" y="6400800"/>
            <a:ext cx="10698480" cy="320040"/>
          </a:xfrm>
          <a:prstGeom prst="rect">
            <a:avLst/>
          </a:prstGeom>
          <a:noFill/>
        </p:spPr>
        <p:txBody>
          <a:bodyPr wrap="none" lIns="0" tIns="0" rIns="0" bIns="0">
            <a:spAutoFit/>
          </a:bodyPr>
          <a:lstStyle/>
          <a:p>
            <a:r>
              <a:rPr sz="850">
                <a:solidFill>
                  <a:srgbClr val="64748B"/>
                </a:solidFill>
                <a:latin typeface="Arial" panose="020B0604020202020204"/>
              </a:rPr>
              <a:t>Học phần: Kiến trúc và Thiết kế Phần mềm — Báo cáo Chương 3: Thiết kế Kiến trúc | Dự án: php-restaurant</a:t>
            </a:r>
            <a:r>
              <a:rPr sz="850" b="1">
                <a:solidFill>
                  <a:srgbClr val="1F4E79"/>
                </a:solidFill>
                <a:latin typeface="Arial" panose="020B0604020202020204"/>
              </a:rPr>
              <a:t>             Slide 06 / 20</a:t>
            </a:r>
            <a:endParaRPr sz="850" b="1">
              <a:solidFill>
                <a:srgbClr val="1F4E79"/>
              </a:solidFill>
              <a:latin typeface="Arial" panose="020B0604020202020204"/>
            </a:endParaRPr>
          </a:p>
        </p:txBody>
      </p:sp>
      <p:sp>
        <p:nvSpPr>
          <p:cNvPr id="5" name="Rounded Rectangle 4"/>
          <p:cNvSpPr/>
          <p:nvPr/>
        </p:nvSpPr>
        <p:spPr>
          <a:xfrm>
            <a:off x="731520" y="1645920"/>
            <a:ext cx="6217920" cy="4389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5852160" cy="4114800"/>
          </a:xfrm>
          <a:prstGeom prst="rect">
            <a:avLst/>
          </a:prstGeom>
          <a:noFill/>
        </p:spPr>
        <p:txBody>
          <a:bodyPr wrap="square">
            <a:spAutoFit/>
          </a:bodyPr>
          <a:lstStyle/>
          <a:p>
            <a:pPr>
              <a:lnSpc>
                <a:spcPct val="115000"/>
              </a:lnSpc>
              <a:spcAft>
                <a:spcPts val="600"/>
              </a:spcAft>
            </a:pPr>
            <a:r>
              <a:rPr sz="1150" b="1">
                <a:solidFill>
                  <a:srgbClr val="1F4E79"/>
                </a:solidFill>
                <a:latin typeface="Arial" panose="020B0604020202020204"/>
              </a:rPr>
              <a:t>Bối cảnh nghiệp vụ php-restaurant: </a:t>
            </a:r>
            <a:r>
              <a:rPr sz="1100">
                <a:solidFill>
                  <a:srgbClr val="1E293B"/>
                </a:solidFill>
                <a:latin typeface="Arial" panose="020B0604020202020204"/>
              </a:rPr>
              <a:t>Quản lý chu trình nhà hàng khép kín: Khách quét mã QR tại bàn gọi món; Bếp nhận đơn chế biến; Thu ngân POS chốt bill; Thủ kho nhập nguyên liệu.</a:t>
            </a:r>
            <a:endParaRPr sz="1100">
              <a:solidFill>
                <a:srgbClr val="1E293B"/>
              </a:solidFill>
              <a:latin typeface="Arial" panose="020B0604020202020204"/>
            </a:endParaRPr>
          </a:p>
          <a:p>
            <a:pPr>
              <a:lnSpc>
                <a:spcPct val="115000"/>
              </a:lnSpc>
              <a:spcAft>
                <a:spcPts val="600"/>
              </a:spcAft>
            </a:pPr>
            <a:r>
              <a:rPr sz="1150" b="1">
                <a:solidFill>
                  <a:srgbClr val="1F4E79"/>
                </a:solidFill>
                <a:latin typeface="Arial" panose="020B0604020202020204"/>
              </a:rPr>
              <a:t>Yêu cầu ACID sống còn: </a:t>
            </a:r>
            <a:r>
              <a:rPr sz="1100">
                <a:solidFill>
                  <a:srgbClr val="1E293B"/>
                </a:solidFill>
                <a:latin typeface="Arial" panose="020B0604020202020204"/>
              </a:rPr>
              <a:t>Tạo phiếu nhập kho (InventoryReceipt) gồm hàng chục nguyên liệu bắt buộc phải cập nhật đồng bộ bảng phiếu nhập và bảng tồn kho trong 1 Transaction; lỗi là phải Rollback 100%.</a:t>
            </a:r>
            <a:endParaRPr sz="1100">
              <a:solidFill>
                <a:srgbClr val="1E293B"/>
              </a:solidFill>
              <a:latin typeface="Arial" panose="020B0604020202020204"/>
            </a:endParaRPr>
          </a:p>
          <a:p>
            <a:pPr>
              <a:lnSpc>
                <a:spcPct val="115000"/>
              </a:lnSpc>
              <a:spcAft>
                <a:spcPts val="600"/>
              </a:spcAft>
            </a:pPr>
            <a:r>
              <a:rPr sz="1150" b="1">
                <a:solidFill>
                  <a:srgbClr val="1F4E79"/>
                </a:solidFill>
                <a:latin typeface="Arial" panose="020B0604020202020204"/>
              </a:rPr>
              <a:t>So sánh 4 Phương án Kiến trúc Ứng viên: </a:t>
            </a:r>
            <a:endParaRPr sz="1150" b="1">
              <a:solidFill>
                <a:srgbClr val="1F4E79"/>
              </a:solidFill>
              <a:latin typeface="Arial" panose="020B0604020202020204"/>
            </a:endParaRPr>
          </a:p>
          <a:p>
            <a:pPr lvl="1">
              <a:lnSpc>
                <a:spcPct val="115000"/>
              </a:lnSpc>
              <a:spcAft>
                <a:spcPts val="600"/>
              </a:spcAft>
            </a:pPr>
            <a:r>
              <a:rPr sz="1050" b="1">
                <a:solidFill>
                  <a:srgbClr val="1E293B"/>
                </a:solidFill>
                <a:latin typeface="Arial" panose="020B0604020202020204"/>
              </a:rPr>
              <a:t>• Phương án A (Monolith MVC - PHP): </a:t>
            </a:r>
            <a:r>
              <a:rPr sz="1000">
                <a:solidFill>
                  <a:srgbClr val="1E293B"/>
                </a:solidFill>
                <a:latin typeface="Arial" panose="020B0604020202020204"/>
              </a:rPr>
              <a:t>PHP Native + MySQL PDO + Bootstrap 5. Triển khai mượt mà trên XAMPP nội bộ, chi phí 0đ, ACID an toàn tuyệt đối.</a:t>
            </a:r>
            <a:endParaRPr sz="1000">
              <a:solidFill>
                <a:srgbClr val="1E293B"/>
              </a:solidFill>
              <a:latin typeface="Arial" panose="020B0604020202020204"/>
            </a:endParaRPr>
          </a:p>
          <a:p>
            <a:pPr lvl="1">
              <a:lnSpc>
                <a:spcPct val="115000"/>
              </a:lnSpc>
              <a:spcAft>
                <a:spcPts val="600"/>
              </a:spcAft>
            </a:pPr>
            <a:r>
              <a:rPr sz="1050" b="1">
                <a:solidFill>
                  <a:srgbClr val="1E293B"/>
                </a:solidFill>
                <a:latin typeface="Arial" panose="020B0604020202020204"/>
              </a:rPr>
              <a:t>• Phương án B (Microservices): </a:t>
            </a:r>
            <a:r>
              <a:rPr sz="1000">
                <a:solidFill>
                  <a:srgbClr val="1E293B"/>
                </a:solidFill>
                <a:latin typeface="Arial" panose="020B0604020202020204"/>
              </a:rPr>
              <a:t>Tách 5 dịch vụ (Auth, QR Order, KDS, Inventory, Billing). Scale tốt nhưng chi phí K8s rất đắt đỏ, Saga phức tạp.</a:t>
            </a:r>
            <a:endParaRPr sz="1000">
              <a:solidFill>
                <a:srgbClr val="1E293B"/>
              </a:solidFill>
              <a:latin typeface="Arial" panose="020B0604020202020204"/>
            </a:endParaRPr>
          </a:p>
          <a:p>
            <a:pPr lvl="1">
              <a:lnSpc>
                <a:spcPct val="115000"/>
              </a:lnSpc>
              <a:spcAft>
                <a:spcPts val="600"/>
              </a:spcAft>
            </a:pPr>
            <a:r>
              <a:rPr sz="1050" b="1">
                <a:solidFill>
                  <a:srgbClr val="1E293B"/>
                </a:solidFill>
                <a:latin typeface="Arial" panose="020B0604020202020204"/>
              </a:rPr>
              <a:t>• Phương án C (Serverless FaaS): </a:t>
            </a:r>
            <a:r>
              <a:rPr sz="1000">
                <a:solidFill>
                  <a:srgbClr val="1E293B"/>
                </a:solidFill>
                <a:latin typeface="Arial" panose="020B0604020202020204"/>
              </a:rPr>
              <a:t>AWS Lambda + DynamoDB NoSQL. Co giãn tự động nhưng NoSQL khó bảo đảm ACID nhiều bảng, phụ thuộc vendor.</a:t>
            </a:r>
            <a:endParaRPr sz="1000">
              <a:solidFill>
                <a:srgbClr val="1E293B"/>
              </a:solidFill>
              <a:latin typeface="Arial" panose="020B0604020202020204"/>
            </a:endParaRPr>
          </a:p>
          <a:p>
            <a:pPr lvl="1">
              <a:lnSpc>
                <a:spcPct val="115000"/>
              </a:lnSpc>
              <a:spcAft>
                <a:spcPts val="600"/>
              </a:spcAft>
            </a:pPr>
            <a:r>
              <a:rPr sz="1050" b="1">
                <a:solidFill>
                  <a:srgbClr val="1E293B"/>
                </a:solidFill>
                <a:latin typeface="Arial" panose="020B0604020202020204"/>
              </a:rPr>
              <a:t>• Phương án D (SPA + REST API): </a:t>
            </a:r>
            <a:r>
              <a:rPr sz="1000">
                <a:solidFill>
                  <a:srgbClr val="1E293B"/>
                </a:solidFill>
                <a:latin typeface="Arial" panose="020B0604020202020204"/>
              </a:rPr>
              <a:t>React/Vue + PHP Backend. UI mượt nhưng tốn thời gian xây dựng 2 repository riêng biệt.</a:t>
            </a:r>
            <a:endParaRPr sz="1000">
              <a:solidFill>
                <a:srgbClr val="1E293B"/>
              </a:solidFill>
              <a:latin typeface="Arial" panose="020B0604020202020204"/>
            </a:endParaRPr>
          </a:p>
        </p:txBody>
      </p:sp>
      <p:sp>
        <p:nvSpPr>
          <p:cNvPr id="7" name="Rounded Rectangle 6"/>
          <p:cNvSpPr/>
          <p:nvPr/>
        </p:nvSpPr>
        <p:spPr>
          <a:xfrm>
            <a:off x="7132320" y="1645920"/>
            <a:ext cx="429768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radeoff_cap_theorem.png"/>
          <p:cNvPicPr>
            <a:picLocks noChangeAspect="1"/>
          </p:cNvPicPr>
          <p:nvPr/>
        </p:nvPicPr>
        <p:blipFill>
          <a:blip r:embed="rId1"/>
          <a:stretch>
            <a:fillRect/>
          </a:stretch>
        </p:blipFill>
        <p:spPr>
          <a:xfrm>
            <a:off x="7269480" y="1783080"/>
            <a:ext cx="4023360" cy="2438156"/>
          </a:xfrm>
          <a:prstGeom prst="rect">
            <a:avLst/>
          </a:prstGeom>
        </p:spPr>
      </p:pic>
      <p:sp>
        <p:nvSpPr>
          <p:cNvPr id="9" name="TextBox 8"/>
          <p:cNvSpPr txBox="1"/>
          <p:nvPr/>
        </p:nvSpPr>
        <p:spPr>
          <a:xfrm>
            <a:off x="7223760" y="5623560"/>
            <a:ext cx="4114800" cy="365760"/>
          </a:xfrm>
          <a:prstGeom prst="rect">
            <a:avLst/>
          </a:prstGeom>
          <a:noFill/>
        </p:spPr>
        <p:txBody>
          <a:bodyPr wrap="square">
            <a:spAutoFit/>
          </a:bodyPr>
          <a:lstStyle/>
          <a:p>
            <a:pPr algn="ctr"/>
            <a:r>
              <a:rPr sz="850" i="1">
                <a:solidFill>
                  <a:srgbClr val="64748B"/>
                </a:solidFill>
                <a:latin typeface="Arial" panose="020B0604020202020204"/>
              </a:rPr>
              <a:t>Minh họa: Phân tích Đánh đổi Kiến trúc &amp; Định lý CAP giữa Monolith và Phân tán</a:t>
            </a:r>
            <a:endParaRPr sz="850" i="1">
              <a:solidFill>
                <a:srgbClr val="64748B"/>
              </a:solidFill>
              <a:latin typeface="Arial" panose="020B060402020202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914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1005840"/>
          </a:xfrm>
          <a:prstGeom prst="rect">
            <a:avLst/>
          </a:prstGeom>
          <a:noFill/>
        </p:spPr>
        <p:txBody>
          <a:bodyPr wrap="square" lIns="0" tIns="0" rIns="0" bIns="0">
            <a:spAutoFit/>
          </a:bodyPr>
          <a:lstStyle/>
          <a:p>
            <a:pPr>
              <a:spcAft>
                <a:spcPts val="200"/>
              </a:spcAft>
            </a:pPr>
            <a:r>
              <a:rPr sz="950" b="1">
                <a:solidFill>
                  <a:srgbClr val="D97706"/>
                </a:solidFill>
                <a:latin typeface="Arial" panose="020B0604020202020204"/>
              </a:rPr>
              <a:t>PHẦN 1: ĐÁNH GIÁ CÁC KIẾN TRÚC THAY THẾ (MỤC 3.2.3)</a:t>
            </a:r>
            <a:endParaRPr sz="950" b="1">
              <a:solidFill>
                <a:srgbClr val="D97706"/>
              </a:solidFill>
              <a:latin typeface="Arial" panose="020B0604020202020204"/>
            </a:endParaRPr>
          </a:p>
          <a:p>
            <a:pPr>
              <a:spcAft>
                <a:spcPts val="200"/>
              </a:spcAft>
            </a:pPr>
            <a:r>
              <a:rPr sz="1900" b="1">
                <a:solidFill>
                  <a:srgbClr val="0F2043"/>
                </a:solidFill>
                <a:latin typeface="Arial" panose="020B0604020202020204"/>
              </a:rPr>
              <a:t>1.4. MA TRẬN ĐÁNH ĐỔI &amp; QUYẾT ĐỊNH KIẾN TRÚC (ADR-001)</a:t>
            </a:r>
            <a:endParaRPr sz="1900" b="1">
              <a:solidFill>
                <a:srgbClr val="0F2043"/>
              </a:solidFill>
              <a:latin typeface="Arial" panose="020B0604020202020204"/>
            </a:endParaRPr>
          </a:p>
          <a:p>
            <a:r>
              <a:rPr sz="1100" i="1">
                <a:solidFill>
                  <a:srgbClr val="64748B"/>
                </a:solidFill>
                <a:latin typeface="Arial" panose="020B0604020202020204"/>
              </a:rPr>
              <a:t>Kết quả chấm điểm định lượng 7 thuộc tính chất lượng và Hồ sơ Quyết định phê duyệt</a:t>
            </a:r>
            <a:endParaRPr sz="1100" i="1">
              <a:solidFill>
                <a:srgbClr val="64748B"/>
              </a:solidFill>
              <a:latin typeface="Arial" panose="020B0604020202020204"/>
            </a:endParaRPr>
          </a:p>
        </p:txBody>
      </p:sp>
      <p:sp>
        <p:nvSpPr>
          <p:cNvPr id="4" name="TextBox 3"/>
          <p:cNvSpPr txBox="1"/>
          <p:nvPr/>
        </p:nvSpPr>
        <p:spPr>
          <a:xfrm>
            <a:off x="731520" y="6400800"/>
            <a:ext cx="10698480" cy="320040"/>
          </a:xfrm>
          <a:prstGeom prst="rect">
            <a:avLst/>
          </a:prstGeom>
          <a:noFill/>
        </p:spPr>
        <p:txBody>
          <a:bodyPr wrap="none" lIns="0" tIns="0" rIns="0" bIns="0">
            <a:spAutoFit/>
          </a:bodyPr>
          <a:lstStyle/>
          <a:p>
            <a:r>
              <a:rPr sz="850">
                <a:solidFill>
                  <a:srgbClr val="64748B"/>
                </a:solidFill>
                <a:latin typeface="Arial" panose="020B0604020202020204"/>
              </a:rPr>
              <a:t>Học phần: Kiến trúc và Thiết kế Phần mềm — Báo cáo Chương 3: Thiết kế Kiến trúc | Dự án: php-restaurant</a:t>
            </a:r>
            <a:r>
              <a:rPr sz="850" b="1">
                <a:solidFill>
                  <a:srgbClr val="1F4E79"/>
                </a:solidFill>
                <a:latin typeface="Arial" panose="020B0604020202020204"/>
              </a:rPr>
              <a:t>             Slide 07 / 20</a:t>
            </a:r>
            <a:endParaRPr sz="850" b="1">
              <a:solidFill>
                <a:srgbClr val="1F4E79"/>
              </a:solidFill>
              <a:latin typeface="Arial" panose="020B0604020202020204"/>
            </a:endParaRPr>
          </a:p>
        </p:txBody>
      </p:sp>
      <p:graphicFrame>
        <p:nvGraphicFramePr>
          <p:cNvPr id="5" name="Table 4"/>
          <p:cNvGraphicFramePr>
            <a:graphicFrameLocks noGrp="1"/>
          </p:cNvGraphicFramePr>
          <p:nvPr/>
        </p:nvGraphicFramePr>
        <p:xfrm>
          <a:off x="731520" y="1645920"/>
          <a:ext cx="6583680" cy="4389120"/>
        </p:xfrm>
        <a:graphic>
          <a:graphicData uri="http://schemas.openxmlformats.org/drawingml/2006/table">
            <a:tbl>
              <a:tblPr firstRow="1" bandRow="1">
                <a:tableStyleId>{5C22544A-7EE6-4342-B048-85BDC9FD1C3A}</a:tableStyleId>
              </a:tblPr>
              <a:tblGrid>
                <a:gridCol w="2011680"/>
                <a:gridCol w="640080"/>
                <a:gridCol w="1005840"/>
                <a:gridCol w="1005840"/>
                <a:gridCol w="960120"/>
                <a:gridCol w="960120"/>
              </a:tblGrid>
              <a:tr h="487680">
                <a:tc>
                  <a:txBody>
                    <a:bodyPr/>
                    <a:lstStyle/>
                    <a:p>
                      <a:pPr algn="l"/>
                      <a:r>
                        <a:rPr sz="900" b="1">
                          <a:solidFill>
                            <a:srgbClr val="FFFFFF"/>
                          </a:solidFill>
                          <a:latin typeface="Arial" panose="020B0604020202020204"/>
                        </a:rPr>
                        <a:t>Tiêu chí Đánh giá</a:t>
                      </a:r>
                      <a:endParaRPr sz="900" b="1">
                        <a:solidFill>
                          <a:srgbClr val="FFFFFF"/>
                        </a:solidFill>
                        <a:latin typeface="Arial" panose="020B0604020202020204"/>
                      </a:endParaRPr>
                    </a:p>
                  </a:txBody>
                  <a:tcPr>
                    <a:solidFill>
                      <a:srgbClr val="1F4E79"/>
                    </a:solidFill>
                  </a:tcPr>
                </a:tc>
                <a:tc>
                  <a:txBody>
                    <a:bodyPr/>
                    <a:lstStyle/>
                    <a:p>
                      <a:pPr algn="ctr"/>
                      <a:r>
                        <a:rPr sz="900" b="1">
                          <a:solidFill>
                            <a:srgbClr val="FFFFFF"/>
                          </a:solidFill>
                          <a:latin typeface="Arial" panose="020B0604020202020204"/>
                        </a:rPr>
                        <a:t>Trọng số</a:t>
                      </a:r>
                      <a:endParaRPr sz="900" b="1">
                        <a:solidFill>
                          <a:srgbClr val="FFFFFF"/>
                        </a:solidFill>
                        <a:latin typeface="Arial" panose="020B0604020202020204"/>
                      </a:endParaRPr>
                    </a:p>
                  </a:txBody>
                  <a:tcPr>
                    <a:solidFill>
                      <a:srgbClr val="1F4E79"/>
                    </a:solidFill>
                  </a:tcPr>
                </a:tc>
                <a:tc>
                  <a:txBody>
                    <a:bodyPr/>
                    <a:lstStyle/>
                    <a:p>
                      <a:pPr algn="ctr"/>
                      <a:r>
                        <a:rPr sz="900" b="1">
                          <a:solidFill>
                            <a:srgbClr val="FFFFFF"/>
                          </a:solidFill>
                          <a:latin typeface="Arial" panose="020B0604020202020204"/>
                        </a:rPr>
                        <a:t>Monolith MVC</a:t>
                      </a:r>
                      <a:endParaRPr sz="900" b="1">
                        <a:solidFill>
                          <a:srgbClr val="FFFFFF"/>
                        </a:solidFill>
                        <a:latin typeface="Arial" panose="020B0604020202020204"/>
                      </a:endParaRPr>
                    </a:p>
                  </a:txBody>
                  <a:tcPr>
                    <a:solidFill>
                      <a:srgbClr val="1F4E79"/>
                    </a:solidFill>
                  </a:tcPr>
                </a:tc>
                <a:tc>
                  <a:txBody>
                    <a:bodyPr/>
                    <a:lstStyle/>
                    <a:p>
                      <a:pPr algn="ctr"/>
                      <a:r>
                        <a:rPr sz="900" b="1">
                          <a:solidFill>
                            <a:srgbClr val="FFFFFF"/>
                          </a:solidFill>
                          <a:latin typeface="Arial" panose="020B0604020202020204"/>
                        </a:rPr>
                        <a:t>Microservices</a:t>
                      </a:r>
                      <a:endParaRPr sz="900" b="1">
                        <a:solidFill>
                          <a:srgbClr val="FFFFFF"/>
                        </a:solidFill>
                        <a:latin typeface="Arial" panose="020B0604020202020204"/>
                      </a:endParaRPr>
                    </a:p>
                  </a:txBody>
                  <a:tcPr>
                    <a:solidFill>
                      <a:srgbClr val="1F4E79"/>
                    </a:solidFill>
                  </a:tcPr>
                </a:tc>
                <a:tc>
                  <a:txBody>
                    <a:bodyPr/>
                    <a:lstStyle/>
                    <a:p>
                      <a:pPr algn="ctr"/>
                      <a:r>
                        <a:rPr sz="900" b="1">
                          <a:solidFill>
                            <a:srgbClr val="FFFFFF"/>
                          </a:solidFill>
                          <a:latin typeface="Arial" panose="020B0604020202020204"/>
                        </a:rPr>
                        <a:t>Serverless</a:t>
                      </a:r>
                      <a:endParaRPr sz="900" b="1">
                        <a:solidFill>
                          <a:srgbClr val="FFFFFF"/>
                        </a:solidFill>
                        <a:latin typeface="Arial" panose="020B0604020202020204"/>
                      </a:endParaRPr>
                    </a:p>
                  </a:txBody>
                  <a:tcPr>
                    <a:solidFill>
                      <a:srgbClr val="1F4E79"/>
                    </a:solidFill>
                  </a:tcPr>
                </a:tc>
                <a:tc>
                  <a:txBody>
                    <a:bodyPr/>
                    <a:lstStyle/>
                    <a:p>
                      <a:pPr algn="ctr"/>
                      <a:r>
                        <a:rPr sz="900" b="1">
                          <a:solidFill>
                            <a:srgbClr val="FFFFFF"/>
                          </a:solidFill>
                          <a:latin typeface="Arial" panose="020B0604020202020204"/>
                        </a:rPr>
                        <a:t>SPA + API</a:t>
                      </a:r>
                      <a:endParaRPr sz="900" b="1">
                        <a:solidFill>
                          <a:srgbClr val="FFFFFF"/>
                        </a:solidFill>
                        <a:latin typeface="Arial" panose="020B0604020202020204"/>
                      </a:endParaRPr>
                    </a:p>
                  </a:txBody>
                  <a:tcPr>
                    <a:solidFill>
                      <a:srgbClr val="1F4E79"/>
                    </a:solidFill>
                  </a:tcPr>
                </a:tc>
              </a:tr>
              <a:tr h="487680">
                <a:tc>
                  <a:txBody>
                    <a:bodyPr/>
                    <a:lstStyle/>
                    <a:p>
                      <a:pPr algn="l"/>
                      <a:r>
                        <a:rPr sz="800">
                          <a:solidFill>
                            <a:srgbClr val="1E293B"/>
                          </a:solidFill>
                          <a:latin typeface="Arial" panose="020B0604020202020204"/>
                        </a:rPr>
                        <a:t>1. Chi phí Triển khai / Hạ tầng</a:t>
                      </a:r>
                      <a:endParaRPr sz="800">
                        <a:solidFill>
                          <a:srgbClr val="1E293B"/>
                        </a:solidFill>
                        <a:latin typeface="Arial" panose="020B0604020202020204"/>
                      </a:endParaRPr>
                    </a:p>
                  </a:txBody>
                  <a:tcPr>
                    <a:solidFill>
                      <a:srgbClr val="F8FAFC"/>
                    </a:solidFill>
                  </a:tcPr>
                </a:tc>
                <a:tc>
                  <a:txBody>
                    <a:bodyPr/>
                    <a:lstStyle/>
                    <a:p>
                      <a:pPr algn="ctr"/>
                      <a:r>
                        <a:rPr sz="800">
                          <a:solidFill>
                            <a:srgbClr val="1E293B"/>
                          </a:solidFill>
                          <a:latin typeface="Arial" panose="020B0604020202020204"/>
                        </a:rPr>
                        <a:t>20%</a:t>
                      </a:r>
                      <a:endParaRPr sz="800">
                        <a:solidFill>
                          <a:srgbClr val="1E293B"/>
                        </a:solidFill>
                        <a:latin typeface="Arial" panose="020B0604020202020204"/>
                      </a:endParaRPr>
                    </a:p>
                  </a:txBody>
                  <a:tcPr>
                    <a:solidFill>
                      <a:srgbClr val="F8FAFC"/>
                    </a:solidFill>
                  </a:tcPr>
                </a:tc>
                <a:tc>
                  <a:txBody>
                    <a:bodyPr/>
                    <a:lstStyle/>
                    <a:p>
                      <a:pPr algn="ctr"/>
                      <a:r>
                        <a:rPr sz="800">
                          <a:solidFill>
                            <a:srgbClr val="1E293B"/>
                          </a:solidFill>
                          <a:latin typeface="Arial" panose="020B0604020202020204"/>
                        </a:rPr>
                        <a:t>9.5 (Rất rẻ)</a:t>
                      </a:r>
                      <a:endParaRPr sz="800">
                        <a:solidFill>
                          <a:srgbClr val="1E293B"/>
                        </a:solidFill>
                        <a:latin typeface="Arial" panose="020B0604020202020204"/>
                      </a:endParaRPr>
                    </a:p>
                  </a:txBody>
                  <a:tcPr>
                    <a:solidFill>
                      <a:srgbClr val="F8FAFC"/>
                    </a:solidFill>
                  </a:tcPr>
                </a:tc>
                <a:tc>
                  <a:txBody>
                    <a:bodyPr/>
                    <a:lstStyle/>
                    <a:p>
                      <a:pPr algn="ctr"/>
                      <a:r>
                        <a:rPr sz="800">
                          <a:solidFill>
                            <a:srgbClr val="1E293B"/>
                          </a:solidFill>
                          <a:latin typeface="Arial" panose="020B0604020202020204"/>
                        </a:rPr>
                        <a:t>3.0 (Rất đắt)</a:t>
                      </a:r>
                      <a:endParaRPr sz="800">
                        <a:solidFill>
                          <a:srgbClr val="1E293B"/>
                        </a:solidFill>
                        <a:latin typeface="Arial" panose="020B0604020202020204"/>
                      </a:endParaRPr>
                    </a:p>
                  </a:txBody>
                  <a:tcPr>
                    <a:solidFill>
                      <a:srgbClr val="F8FAFC"/>
                    </a:solidFill>
                  </a:tcPr>
                </a:tc>
                <a:tc>
                  <a:txBody>
                    <a:bodyPr/>
                    <a:lstStyle/>
                    <a:p>
                      <a:pPr algn="ctr"/>
                      <a:r>
                        <a:rPr sz="800">
                          <a:solidFill>
                            <a:srgbClr val="1E293B"/>
                          </a:solidFill>
                          <a:latin typeface="Arial" panose="020B0604020202020204"/>
                        </a:rPr>
                        <a:t>6.0 (Vừa phải)</a:t>
                      </a:r>
                      <a:endParaRPr sz="800">
                        <a:solidFill>
                          <a:srgbClr val="1E293B"/>
                        </a:solidFill>
                        <a:latin typeface="Arial" panose="020B0604020202020204"/>
                      </a:endParaRPr>
                    </a:p>
                  </a:txBody>
                  <a:tcPr>
                    <a:solidFill>
                      <a:srgbClr val="F8FAFC"/>
                    </a:solidFill>
                  </a:tcPr>
                </a:tc>
                <a:tc>
                  <a:txBody>
                    <a:bodyPr/>
                    <a:lstStyle/>
                    <a:p>
                      <a:pPr algn="ctr"/>
                      <a:r>
                        <a:rPr sz="800">
                          <a:solidFill>
                            <a:srgbClr val="1E293B"/>
                          </a:solidFill>
                          <a:latin typeface="Arial" panose="020B0604020202020204"/>
                        </a:rPr>
                        <a:t>7.5 (Tương đối)</a:t>
                      </a:r>
                      <a:endParaRPr sz="800">
                        <a:solidFill>
                          <a:srgbClr val="1E293B"/>
                        </a:solidFill>
                        <a:latin typeface="Arial" panose="020B0604020202020204"/>
                      </a:endParaRPr>
                    </a:p>
                  </a:txBody>
                  <a:tcPr>
                    <a:solidFill>
                      <a:srgbClr val="F8FAFC"/>
                    </a:solidFill>
                  </a:tcPr>
                </a:tc>
              </a:tr>
              <a:tr h="487680">
                <a:tc>
                  <a:txBody>
                    <a:bodyPr/>
                    <a:lstStyle/>
                    <a:p>
                      <a:pPr algn="l"/>
                      <a:r>
                        <a:rPr sz="800">
                          <a:solidFill>
                            <a:srgbClr val="1E293B"/>
                          </a:solidFill>
                          <a:latin typeface="Arial" panose="020B0604020202020204"/>
                        </a:rPr>
                        <a:t>2. Tốc độ Ra mắt (Time-to-market)</a:t>
                      </a:r>
                      <a:endParaRPr sz="800">
                        <a:solidFill>
                          <a:srgbClr val="1E293B"/>
                        </a:solidFill>
                        <a:latin typeface="Arial" panose="020B0604020202020204"/>
                      </a:endParaRPr>
                    </a:p>
                  </a:txBody>
                  <a:tcPr>
                    <a:solidFill>
                      <a:srgbClr val="FFFFFF"/>
                    </a:solidFill>
                  </a:tcPr>
                </a:tc>
                <a:tc>
                  <a:txBody>
                    <a:bodyPr/>
                    <a:lstStyle/>
                    <a:p>
                      <a:pPr algn="ctr"/>
                      <a:r>
                        <a:rPr sz="800">
                          <a:solidFill>
                            <a:srgbClr val="1E293B"/>
                          </a:solidFill>
                          <a:latin typeface="Arial" panose="020B0604020202020204"/>
                        </a:rPr>
                        <a:t>20%</a:t>
                      </a:r>
                      <a:endParaRPr sz="800">
                        <a:solidFill>
                          <a:srgbClr val="1E293B"/>
                        </a:solidFill>
                        <a:latin typeface="Arial" panose="020B0604020202020204"/>
                      </a:endParaRPr>
                    </a:p>
                  </a:txBody>
                  <a:tcPr>
                    <a:solidFill>
                      <a:srgbClr val="FFFFFF"/>
                    </a:solidFill>
                  </a:tcPr>
                </a:tc>
                <a:tc>
                  <a:txBody>
                    <a:bodyPr/>
                    <a:lstStyle/>
                    <a:p>
                      <a:pPr algn="ctr"/>
                      <a:r>
                        <a:rPr sz="800">
                          <a:solidFill>
                            <a:srgbClr val="1E293B"/>
                          </a:solidFill>
                          <a:latin typeface="Arial" panose="020B0604020202020204"/>
                        </a:rPr>
                        <a:t>9.0 (Rất nhanh)</a:t>
                      </a:r>
                      <a:endParaRPr sz="800">
                        <a:solidFill>
                          <a:srgbClr val="1E293B"/>
                        </a:solidFill>
                        <a:latin typeface="Arial" panose="020B0604020202020204"/>
                      </a:endParaRPr>
                    </a:p>
                  </a:txBody>
                  <a:tcPr>
                    <a:solidFill>
                      <a:srgbClr val="FFFFFF"/>
                    </a:solidFill>
                  </a:tcPr>
                </a:tc>
                <a:tc>
                  <a:txBody>
                    <a:bodyPr/>
                    <a:lstStyle/>
                    <a:p>
                      <a:pPr algn="ctr"/>
                      <a:r>
                        <a:rPr sz="800">
                          <a:solidFill>
                            <a:srgbClr val="1E293B"/>
                          </a:solidFill>
                          <a:latin typeface="Arial" panose="020B0604020202020204"/>
                        </a:rPr>
                        <a:t>3.5 (Lâu)</a:t>
                      </a:r>
                      <a:endParaRPr sz="800">
                        <a:solidFill>
                          <a:srgbClr val="1E293B"/>
                        </a:solidFill>
                        <a:latin typeface="Arial" panose="020B0604020202020204"/>
                      </a:endParaRPr>
                    </a:p>
                  </a:txBody>
                  <a:tcPr>
                    <a:solidFill>
                      <a:srgbClr val="FFFFFF"/>
                    </a:solidFill>
                  </a:tcPr>
                </a:tc>
                <a:tc>
                  <a:txBody>
                    <a:bodyPr/>
                    <a:lstStyle/>
                    <a:p>
                      <a:pPr algn="ctr"/>
                      <a:r>
                        <a:rPr sz="800">
                          <a:solidFill>
                            <a:srgbClr val="1E293B"/>
                          </a:solidFill>
                          <a:latin typeface="Arial" panose="020B0604020202020204"/>
                        </a:rPr>
                        <a:t>5.5 (Vừa phải)</a:t>
                      </a:r>
                      <a:endParaRPr sz="800">
                        <a:solidFill>
                          <a:srgbClr val="1E293B"/>
                        </a:solidFill>
                        <a:latin typeface="Arial" panose="020B0604020202020204"/>
                      </a:endParaRPr>
                    </a:p>
                  </a:txBody>
                  <a:tcPr>
                    <a:solidFill>
                      <a:srgbClr val="FFFFFF"/>
                    </a:solidFill>
                  </a:tcPr>
                </a:tc>
                <a:tc>
                  <a:txBody>
                    <a:bodyPr/>
                    <a:lstStyle/>
                    <a:p>
                      <a:pPr algn="ctr"/>
                      <a:r>
                        <a:rPr sz="800">
                          <a:solidFill>
                            <a:srgbClr val="1E293B"/>
                          </a:solidFill>
                          <a:latin typeface="Arial" panose="020B0604020202020204"/>
                        </a:rPr>
                        <a:t>7.0 (Khá)</a:t>
                      </a:r>
                      <a:endParaRPr sz="800">
                        <a:solidFill>
                          <a:srgbClr val="1E293B"/>
                        </a:solidFill>
                        <a:latin typeface="Arial" panose="020B0604020202020204"/>
                      </a:endParaRPr>
                    </a:p>
                  </a:txBody>
                  <a:tcPr>
                    <a:solidFill>
                      <a:srgbClr val="FFFFFF"/>
                    </a:solidFill>
                  </a:tcPr>
                </a:tc>
              </a:tr>
              <a:tr h="487680">
                <a:tc>
                  <a:txBody>
                    <a:bodyPr/>
                    <a:lstStyle/>
                    <a:p>
                      <a:pPr algn="l"/>
                      <a:r>
                        <a:rPr sz="800">
                          <a:solidFill>
                            <a:srgbClr val="1E293B"/>
                          </a:solidFill>
                          <a:latin typeface="Arial" panose="020B0604020202020204"/>
                        </a:rPr>
                        <a:t>3. Toàn vẹn ACID (Phiếu nhập kho)</a:t>
                      </a:r>
                      <a:endParaRPr sz="800">
                        <a:solidFill>
                          <a:srgbClr val="1E293B"/>
                        </a:solidFill>
                        <a:latin typeface="Arial" panose="020B0604020202020204"/>
                      </a:endParaRPr>
                    </a:p>
                  </a:txBody>
                  <a:tcPr>
                    <a:solidFill>
                      <a:srgbClr val="F8FAFC"/>
                    </a:solidFill>
                  </a:tcPr>
                </a:tc>
                <a:tc>
                  <a:txBody>
                    <a:bodyPr/>
                    <a:lstStyle/>
                    <a:p>
                      <a:pPr algn="ctr"/>
                      <a:r>
                        <a:rPr sz="800">
                          <a:solidFill>
                            <a:srgbClr val="1E293B"/>
                          </a:solidFill>
                          <a:latin typeface="Arial" panose="020B0604020202020204"/>
                        </a:rPr>
                        <a:t>20%</a:t>
                      </a:r>
                      <a:endParaRPr sz="800">
                        <a:solidFill>
                          <a:srgbClr val="1E293B"/>
                        </a:solidFill>
                        <a:latin typeface="Arial" panose="020B0604020202020204"/>
                      </a:endParaRPr>
                    </a:p>
                  </a:txBody>
                  <a:tcPr>
                    <a:solidFill>
                      <a:srgbClr val="F8FAFC"/>
                    </a:solidFill>
                  </a:tcPr>
                </a:tc>
                <a:tc>
                  <a:txBody>
                    <a:bodyPr/>
                    <a:lstStyle/>
                    <a:p>
                      <a:pPr algn="ctr"/>
                      <a:r>
                        <a:rPr sz="800">
                          <a:solidFill>
                            <a:srgbClr val="1E293B"/>
                          </a:solidFill>
                          <a:latin typeface="Arial" panose="020B0604020202020204"/>
                        </a:rPr>
                        <a:t>9.5 (Tuyệt đối)</a:t>
                      </a:r>
                      <a:endParaRPr sz="800">
                        <a:solidFill>
                          <a:srgbClr val="1E293B"/>
                        </a:solidFill>
                        <a:latin typeface="Arial" panose="020B0604020202020204"/>
                      </a:endParaRPr>
                    </a:p>
                  </a:txBody>
                  <a:tcPr>
                    <a:solidFill>
                      <a:srgbClr val="F8FAFC"/>
                    </a:solidFill>
                  </a:tcPr>
                </a:tc>
                <a:tc>
                  <a:txBody>
                    <a:bodyPr/>
                    <a:lstStyle/>
                    <a:p>
                      <a:pPr algn="ctr"/>
                      <a:r>
                        <a:rPr sz="800">
                          <a:solidFill>
                            <a:srgbClr val="1E293B"/>
                          </a:solidFill>
                          <a:latin typeface="Arial" panose="020B0604020202020204"/>
                        </a:rPr>
                        <a:t>4.0 (Khó / Saga)</a:t>
                      </a:r>
                      <a:endParaRPr sz="800">
                        <a:solidFill>
                          <a:srgbClr val="1E293B"/>
                        </a:solidFill>
                        <a:latin typeface="Arial" panose="020B0604020202020204"/>
                      </a:endParaRPr>
                    </a:p>
                  </a:txBody>
                  <a:tcPr>
                    <a:solidFill>
                      <a:srgbClr val="F8FAFC"/>
                    </a:solidFill>
                  </a:tcPr>
                </a:tc>
                <a:tc>
                  <a:txBody>
                    <a:bodyPr/>
                    <a:lstStyle/>
                    <a:p>
                      <a:pPr algn="ctr"/>
                      <a:r>
                        <a:rPr sz="800">
                          <a:solidFill>
                            <a:srgbClr val="1E293B"/>
                          </a:solidFill>
                          <a:latin typeface="Arial" panose="020B0604020202020204"/>
                        </a:rPr>
                        <a:t>5.0 (NoSQL hạn chế)</a:t>
                      </a:r>
                      <a:endParaRPr sz="800">
                        <a:solidFill>
                          <a:srgbClr val="1E293B"/>
                        </a:solidFill>
                        <a:latin typeface="Arial" panose="020B0604020202020204"/>
                      </a:endParaRPr>
                    </a:p>
                  </a:txBody>
                  <a:tcPr>
                    <a:solidFill>
                      <a:srgbClr val="F8FAFC"/>
                    </a:solidFill>
                  </a:tcPr>
                </a:tc>
                <a:tc>
                  <a:txBody>
                    <a:bodyPr/>
                    <a:lstStyle/>
                    <a:p>
                      <a:pPr algn="ctr"/>
                      <a:r>
                        <a:rPr sz="800">
                          <a:solidFill>
                            <a:srgbClr val="1E293B"/>
                          </a:solidFill>
                          <a:latin typeface="Arial" panose="020B0604020202020204"/>
                        </a:rPr>
                        <a:t>9.0 (Tốt)</a:t>
                      </a:r>
                      <a:endParaRPr sz="800">
                        <a:solidFill>
                          <a:srgbClr val="1E293B"/>
                        </a:solidFill>
                        <a:latin typeface="Arial" panose="020B0604020202020204"/>
                      </a:endParaRPr>
                    </a:p>
                  </a:txBody>
                  <a:tcPr>
                    <a:solidFill>
                      <a:srgbClr val="F8FAFC"/>
                    </a:solidFill>
                  </a:tcPr>
                </a:tc>
              </a:tr>
              <a:tr h="487680">
                <a:tc>
                  <a:txBody>
                    <a:bodyPr/>
                    <a:lstStyle/>
                    <a:p>
                      <a:pPr algn="l"/>
                      <a:r>
                        <a:rPr sz="800">
                          <a:solidFill>
                            <a:srgbClr val="1E293B"/>
                          </a:solidFill>
                          <a:latin typeface="Arial" panose="020B0604020202020204"/>
                        </a:rPr>
                        <a:t>4. Khả năng Mở rộng (Scale)</a:t>
                      </a:r>
                      <a:endParaRPr sz="800">
                        <a:solidFill>
                          <a:srgbClr val="1E293B"/>
                        </a:solidFill>
                        <a:latin typeface="Arial" panose="020B0604020202020204"/>
                      </a:endParaRPr>
                    </a:p>
                  </a:txBody>
                  <a:tcPr>
                    <a:solidFill>
                      <a:srgbClr val="FFFFFF"/>
                    </a:solidFill>
                  </a:tcPr>
                </a:tc>
                <a:tc>
                  <a:txBody>
                    <a:bodyPr/>
                    <a:lstStyle/>
                    <a:p>
                      <a:pPr algn="ctr"/>
                      <a:r>
                        <a:rPr sz="800">
                          <a:solidFill>
                            <a:srgbClr val="1E293B"/>
                          </a:solidFill>
                          <a:latin typeface="Arial" panose="020B0604020202020204"/>
                        </a:rPr>
                        <a:t>10%</a:t>
                      </a:r>
                      <a:endParaRPr sz="800">
                        <a:solidFill>
                          <a:srgbClr val="1E293B"/>
                        </a:solidFill>
                        <a:latin typeface="Arial" panose="020B0604020202020204"/>
                      </a:endParaRPr>
                    </a:p>
                  </a:txBody>
                  <a:tcPr>
                    <a:solidFill>
                      <a:srgbClr val="FFFFFF"/>
                    </a:solidFill>
                  </a:tcPr>
                </a:tc>
                <a:tc>
                  <a:txBody>
                    <a:bodyPr/>
                    <a:lstStyle/>
                    <a:p>
                      <a:pPr algn="ctr"/>
                      <a:r>
                        <a:rPr sz="800">
                          <a:solidFill>
                            <a:srgbClr val="1E293B"/>
                          </a:solidFill>
                          <a:latin typeface="Arial" panose="020B0604020202020204"/>
                        </a:rPr>
                        <a:t>5.0 (Theo khối)</a:t>
                      </a:r>
                      <a:endParaRPr sz="800">
                        <a:solidFill>
                          <a:srgbClr val="1E293B"/>
                        </a:solidFill>
                        <a:latin typeface="Arial" panose="020B0604020202020204"/>
                      </a:endParaRPr>
                    </a:p>
                  </a:txBody>
                  <a:tcPr>
                    <a:solidFill>
                      <a:srgbClr val="FFFFFF"/>
                    </a:solidFill>
                  </a:tcPr>
                </a:tc>
                <a:tc>
                  <a:txBody>
                    <a:bodyPr/>
                    <a:lstStyle/>
                    <a:p>
                      <a:pPr algn="ctr"/>
                      <a:r>
                        <a:rPr sz="800">
                          <a:solidFill>
                            <a:srgbClr val="1E293B"/>
                          </a:solidFill>
                          <a:latin typeface="Arial" panose="020B0604020202020204"/>
                        </a:rPr>
                        <a:t>9.5 (Độc lập)</a:t>
                      </a:r>
                      <a:endParaRPr sz="800">
                        <a:solidFill>
                          <a:srgbClr val="1E293B"/>
                        </a:solidFill>
                        <a:latin typeface="Arial" panose="020B0604020202020204"/>
                      </a:endParaRPr>
                    </a:p>
                  </a:txBody>
                  <a:tcPr>
                    <a:solidFill>
                      <a:srgbClr val="FFFFFF"/>
                    </a:solidFill>
                  </a:tcPr>
                </a:tc>
                <a:tc>
                  <a:txBody>
                    <a:bodyPr/>
                    <a:lstStyle/>
                    <a:p>
                      <a:pPr algn="ctr"/>
                      <a:r>
                        <a:rPr sz="800">
                          <a:solidFill>
                            <a:srgbClr val="1E293B"/>
                          </a:solidFill>
                          <a:latin typeface="Arial" panose="020B0604020202020204"/>
                        </a:rPr>
                        <a:t>9.5 (Tự động)</a:t>
                      </a:r>
                      <a:endParaRPr sz="800">
                        <a:solidFill>
                          <a:srgbClr val="1E293B"/>
                        </a:solidFill>
                        <a:latin typeface="Arial" panose="020B0604020202020204"/>
                      </a:endParaRPr>
                    </a:p>
                  </a:txBody>
                  <a:tcPr>
                    <a:solidFill>
                      <a:srgbClr val="FFFFFF"/>
                    </a:solidFill>
                  </a:tcPr>
                </a:tc>
                <a:tc>
                  <a:txBody>
                    <a:bodyPr/>
                    <a:lstStyle/>
                    <a:p>
                      <a:pPr algn="ctr"/>
                      <a:r>
                        <a:rPr sz="800">
                          <a:solidFill>
                            <a:srgbClr val="1E293B"/>
                          </a:solidFill>
                          <a:latin typeface="Arial" panose="020B0604020202020204"/>
                        </a:rPr>
                        <a:t>7.0 (Khá)</a:t>
                      </a:r>
                      <a:endParaRPr sz="800">
                        <a:solidFill>
                          <a:srgbClr val="1E293B"/>
                        </a:solidFill>
                        <a:latin typeface="Arial" panose="020B0604020202020204"/>
                      </a:endParaRPr>
                    </a:p>
                  </a:txBody>
                  <a:tcPr>
                    <a:solidFill>
                      <a:srgbClr val="FFFFFF"/>
                    </a:solidFill>
                  </a:tcPr>
                </a:tc>
              </a:tr>
              <a:tr h="487680">
                <a:tc>
                  <a:txBody>
                    <a:bodyPr/>
                    <a:lstStyle/>
                    <a:p>
                      <a:pPr algn="l"/>
                      <a:r>
                        <a:rPr sz="800">
                          <a:solidFill>
                            <a:srgbClr val="1E293B"/>
                          </a:solidFill>
                          <a:latin typeface="Arial" panose="020B0604020202020204"/>
                        </a:rPr>
                        <a:t>5. Độ phức tạp Vận hành DevOps</a:t>
                      </a:r>
                      <a:endParaRPr sz="800">
                        <a:solidFill>
                          <a:srgbClr val="1E293B"/>
                        </a:solidFill>
                        <a:latin typeface="Arial" panose="020B0604020202020204"/>
                      </a:endParaRPr>
                    </a:p>
                  </a:txBody>
                  <a:tcPr>
                    <a:solidFill>
                      <a:srgbClr val="F8FAFC"/>
                    </a:solidFill>
                  </a:tcPr>
                </a:tc>
                <a:tc>
                  <a:txBody>
                    <a:bodyPr/>
                    <a:lstStyle/>
                    <a:p>
                      <a:pPr algn="ctr"/>
                      <a:r>
                        <a:rPr sz="800">
                          <a:solidFill>
                            <a:srgbClr val="1E293B"/>
                          </a:solidFill>
                          <a:latin typeface="Arial" panose="020B0604020202020204"/>
                        </a:rPr>
                        <a:t>10%</a:t>
                      </a:r>
                      <a:endParaRPr sz="800">
                        <a:solidFill>
                          <a:srgbClr val="1E293B"/>
                        </a:solidFill>
                        <a:latin typeface="Arial" panose="020B0604020202020204"/>
                      </a:endParaRPr>
                    </a:p>
                  </a:txBody>
                  <a:tcPr>
                    <a:solidFill>
                      <a:srgbClr val="F8FAFC"/>
                    </a:solidFill>
                  </a:tcPr>
                </a:tc>
                <a:tc>
                  <a:txBody>
                    <a:bodyPr/>
                    <a:lstStyle/>
                    <a:p>
                      <a:pPr algn="ctr"/>
                      <a:r>
                        <a:rPr sz="800">
                          <a:solidFill>
                            <a:srgbClr val="1E293B"/>
                          </a:solidFill>
                          <a:latin typeface="Arial" panose="020B0604020202020204"/>
                        </a:rPr>
                        <a:t>9.0 (Đơn giản)</a:t>
                      </a:r>
                      <a:endParaRPr sz="800">
                        <a:solidFill>
                          <a:srgbClr val="1E293B"/>
                        </a:solidFill>
                        <a:latin typeface="Arial" panose="020B0604020202020204"/>
                      </a:endParaRPr>
                    </a:p>
                  </a:txBody>
                  <a:tcPr>
                    <a:solidFill>
                      <a:srgbClr val="F8FAFC"/>
                    </a:solidFill>
                  </a:tcPr>
                </a:tc>
                <a:tc>
                  <a:txBody>
                    <a:bodyPr/>
                    <a:lstStyle/>
                    <a:p>
                      <a:pPr algn="ctr"/>
                      <a:r>
                        <a:rPr sz="800">
                          <a:solidFill>
                            <a:srgbClr val="1E293B"/>
                          </a:solidFill>
                          <a:latin typeface="Arial" panose="020B0604020202020204"/>
                        </a:rPr>
                        <a:t>2.5 (Rất phức tạp)</a:t>
                      </a:r>
                      <a:endParaRPr sz="800">
                        <a:solidFill>
                          <a:srgbClr val="1E293B"/>
                        </a:solidFill>
                        <a:latin typeface="Arial" panose="020B0604020202020204"/>
                      </a:endParaRPr>
                    </a:p>
                  </a:txBody>
                  <a:tcPr>
                    <a:solidFill>
                      <a:srgbClr val="F8FAFC"/>
                    </a:solidFill>
                  </a:tcPr>
                </a:tc>
                <a:tc>
                  <a:txBody>
                    <a:bodyPr/>
                    <a:lstStyle/>
                    <a:p>
                      <a:pPr algn="ctr"/>
                      <a:r>
                        <a:rPr sz="800">
                          <a:solidFill>
                            <a:srgbClr val="1E293B"/>
                          </a:solidFill>
                          <a:latin typeface="Arial" panose="020B0604020202020204"/>
                        </a:rPr>
                        <a:t>5.0 (Phụ thuộc)</a:t>
                      </a:r>
                      <a:endParaRPr sz="800">
                        <a:solidFill>
                          <a:srgbClr val="1E293B"/>
                        </a:solidFill>
                        <a:latin typeface="Arial" panose="020B0604020202020204"/>
                      </a:endParaRPr>
                    </a:p>
                  </a:txBody>
                  <a:tcPr>
                    <a:solidFill>
                      <a:srgbClr val="F8FAFC"/>
                    </a:solidFill>
                  </a:tcPr>
                </a:tc>
                <a:tc>
                  <a:txBody>
                    <a:bodyPr/>
                    <a:lstStyle/>
                    <a:p>
                      <a:pPr algn="ctr"/>
                      <a:r>
                        <a:rPr sz="800">
                          <a:solidFill>
                            <a:srgbClr val="1E293B"/>
                          </a:solidFill>
                          <a:latin typeface="Arial" panose="020B0604020202020204"/>
                        </a:rPr>
                        <a:t>6.5 (Vừa)</a:t>
                      </a:r>
                      <a:endParaRPr sz="800">
                        <a:solidFill>
                          <a:srgbClr val="1E293B"/>
                        </a:solidFill>
                        <a:latin typeface="Arial" panose="020B0604020202020204"/>
                      </a:endParaRPr>
                    </a:p>
                  </a:txBody>
                  <a:tcPr>
                    <a:solidFill>
                      <a:srgbClr val="F8FAFC"/>
                    </a:solidFill>
                  </a:tcPr>
                </a:tc>
              </a:tr>
              <a:tr h="487680">
                <a:tc>
                  <a:txBody>
                    <a:bodyPr/>
                    <a:lstStyle/>
                    <a:p>
                      <a:pPr algn="l"/>
                      <a:r>
                        <a:rPr sz="800">
                          <a:solidFill>
                            <a:srgbClr val="1E293B"/>
                          </a:solidFill>
                          <a:latin typeface="Arial" panose="020B0604020202020204"/>
                        </a:rPr>
                        <a:t>6. Khả năng Bảo trì Module</a:t>
                      </a:r>
                      <a:endParaRPr sz="800">
                        <a:solidFill>
                          <a:srgbClr val="1E293B"/>
                        </a:solidFill>
                        <a:latin typeface="Arial" panose="020B0604020202020204"/>
                      </a:endParaRPr>
                    </a:p>
                  </a:txBody>
                  <a:tcPr>
                    <a:solidFill>
                      <a:srgbClr val="FFFFFF"/>
                    </a:solidFill>
                  </a:tcPr>
                </a:tc>
                <a:tc>
                  <a:txBody>
                    <a:bodyPr/>
                    <a:lstStyle/>
                    <a:p>
                      <a:pPr algn="ctr"/>
                      <a:r>
                        <a:rPr sz="800">
                          <a:solidFill>
                            <a:srgbClr val="1E293B"/>
                          </a:solidFill>
                          <a:latin typeface="Arial" panose="020B0604020202020204"/>
                        </a:rPr>
                        <a:t>10%</a:t>
                      </a:r>
                      <a:endParaRPr sz="800">
                        <a:solidFill>
                          <a:srgbClr val="1E293B"/>
                        </a:solidFill>
                        <a:latin typeface="Arial" panose="020B0604020202020204"/>
                      </a:endParaRPr>
                    </a:p>
                  </a:txBody>
                  <a:tcPr>
                    <a:solidFill>
                      <a:srgbClr val="FFFFFF"/>
                    </a:solidFill>
                  </a:tcPr>
                </a:tc>
                <a:tc>
                  <a:txBody>
                    <a:bodyPr/>
                    <a:lstStyle/>
                    <a:p>
                      <a:pPr algn="ctr"/>
                      <a:r>
                        <a:rPr sz="800">
                          <a:solidFill>
                            <a:srgbClr val="1E293B"/>
                          </a:solidFill>
                          <a:latin typeface="Arial" panose="020B0604020202020204"/>
                        </a:rPr>
                        <a:t>8.0 (MVC chuẩn)</a:t>
                      </a:r>
                      <a:endParaRPr sz="800">
                        <a:solidFill>
                          <a:srgbClr val="1E293B"/>
                        </a:solidFill>
                        <a:latin typeface="Arial" panose="020B0604020202020204"/>
                      </a:endParaRPr>
                    </a:p>
                  </a:txBody>
                  <a:tcPr>
                    <a:solidFill>
                      <a:srgbClr val="FFFFFF"/>
                    </a:solidFill>
                  </a:tcPr>
                </a:tc>
                <a:tc>
                  <a:txBody>
                    <a:bodyPr/>
                    <a:lstStyle/>
                    <a:p>
                      <a:pPr algn="ctr"/>
                      <a:r>
                        <a:rPr sz="800">
                          <a:solidFill>
                            <a:srgbClr val="1E293B"/>
                          </a:solidFill>
                          <a:latin typeface="Arial" panose="020B0604020202020204"/>
                        </a:rPr>
                        <a:t>9.0 (Cô lập cao)</a:t>
                      </a:r>
                      <a:endParaRPr sz="800">
                        <a:solidFill>
                          <a:srgbClr val="1E293B"/>
                        </a:solidFill>
                        <a:latin typeface="Arial" panose="020B0604020202020204"/>
                      </a:endParaRPr>
                    </a:p>
                  </a:txBody>
                  <a:tcPr>
                    <a:solidFill>
                      <a:srgbClr val="FFFFFF"/>
                    </a:solidFill>
                  </a:tcPr>
                </a:tc>
                <a:tc>
                  <a:txBody>
                    <a:bodyPr/>
                    <a:lstStyle/>
                    <a:p>
                      <a:pPr algn="ctr"/>
                      <a:r>
                        <a:rPr sz="800">
                          <a:solidFill>
                            <a:srgbClr val="1E293B"/>
                          </a:solidFill>
                          <a:latin typeface="Arial" panose="020B0604020202020204"/>
                        </a:rPr>
                        <a:t>6.0 (Phân mảnh)</a:t>
                      </a:r>
                      <a:endParaRPr sz="800">
                        <a:solidFill>
                          <a:srgbClr val="1E293B"/>
                        </a:solidFill>
                        <a:latin typeface="Arial" panose="020B0604020202020204"/>
                      </a:endParaRPr>
                    </a:p>
                  </a:txBody>
                  <a:tcPr>
                    <a:solidFill>
                      <a:srgbClr val="FFFFFF"/>
                    </a:solidFill>
                  </a:tcPr>
                </a:tc>
                <a:tc>
                  <a:txBody>
                    <a:bodyPr/>
                    <a:lstStyle/>
                    <a:p>
                      <a:pPr algn="ctr"/>
                      <a:r>
                        <a:rPr sz="800">
                          <a:solidFill>
                            <a:srgbClr val="1E293B"/>
                          </a:solidFill>
                          <a:latin typeface="Arial" panose="020B0604020202020204"/>
                        </a:rPr>
                        <a:t>8.5 (Tách UI)</a:t>
                      </a:r>
                      <a:endParaRPr sz="800">
                        <a:solidFill>
                          <a:srgbClr val="1E293B"/>
                        </a:solidFill>
                        <a:latin typeface="Arial" panose="020B0604020202020204"/>
                      </a:endParaRPr>
                    </a:p>
                  </a:txBody>
                  <a:tcPr>
                    <a:solidFill>
                      <a:srgbClr val="FFFFFF"/>
                    </a:solidFill>
                  </a:tcPr>
                </a:tc>
              </a:tr>
              <a:tr h="487680">
                <a:tc>
                  <a:txBody>
                    <a:bodyPr/>
                    <a:lstStyle/>
                    <a:p>
                      <a:pPr algn="l"/>
                      <a:r>
                        <a:rPr sz="800">
                          <a:solidFill>
                            <a:srgbClr val="1E293B"/>
                          </a:solidFill>
                          <a:latin typeface="Arial" panose="020B0604020202020204"/>
                        </a:rPr>
                        <a:t>7. Bảo mật &amp; Phân quyền RBAC</a:t>
                      </a:r>
                      <a:endParaRPr sz="800">
                        <a:solidFill>
                          <a:srgbClr val="1E293B"/>
                        </a:solidFill>
                        <a:latin typeface="Arial" panose="020B0604020202020204"/>
                      </a:endParaRPr>
                    </a:p>
                  </a:txBody>
                  <a:tcPr>
                    <a:solidFill>
                      <a:srgbClr val="F8FAFC"/>
                    </a:solidFill>
                  </a:tcPr>
                </a:tc>
                <a:tc>
                  <a:txBody>
                    <a:bodyPr/>
                    <a:lstStyle/>
                    <a:p>
                      <a:pPr algn="ctr"/>
                      <a:r>
                        <a:rPr sz="800">
                          <a:solidFill>
                            <a:srgbClr val="1E293B"/>
                          </a:solidFill>
                          <a:latin typeface="Arial" panose="020B0604020202020204"/>
                        </a:rPr>
                        <a:t>10%</a:t>
                      </a:r>
                      <a:endParaRPr sz="800">
                        <a:solidFill>
                          <a:srgbClr val="1E293B"/>
                        </a:solidFill>
                        <a:latin typeface="Arial" panose="020B0604020202020204"/>
                      </a:endParaRPr>
                    </a:p>
                  </a:txBody>
                  <a:tcPr>
                    <a:solidFill>
                      <a:srgbClr val="F8FAFC"/>
                    </a:solidFill>
                  </a:tcPr>
                </a:tc>
                <a:tc>
                  <a:txBody>
                    <a:bodyPr/>
                    <a:lstStyle/>
                    <a:p>
                      <a:pPr algn="ctr"/>
                      <a:r>
                        <a:rPr sz="800">
                          <a:solidFill>
                            <a:srgbClr val="1E293B"/>
                          </a:solidFill>
                          <a:latin typeface="Arial" panose="020B0604020202020204"/>
                        </a:rPr>
                        <a:t>8.5 (JWT+PDO)</a:t>
                      </a:r>
                      <a:endParaRPr sz="800">
                        <a:solidFill>
                          <a:srgbClr val="1E293B"/>
                        </a:solidFill>
                        <a:latin typeface="Arial" panose="020B0604020202020204"/>
                      </a:endParaRPr>
                    </a:p>
                  </a:txBody>
                  <a:tcPr>
                    <a:solidFill>
                      <a:srgbClr val="F8FAFC"/>
                    </a:solidFill>
                  </a:tcPr>
                </a:tc>
                <a:tc>
                  <a:txBody>
                    <a:bodyPr/>
                    <a:lstStyle/>
                    <a:p>
                      <a:pPr algn="ctr"/>
                      <a:r>
                        <a:rPr sz="800">
                          <a:solidFill>
                            <a:srgbClr val="1E293B"/>
                          </a:solidFill>
                          <a:latin typeface="Arial" panose="020B0604020202020204"/>
                        </a:rPr>
                        <a:t>8.0 (Khá)</a:t>
                      </a:r>
                      <a:endParaRPr sz="800">
                        <a:solidFill>
                          <a:srgbClr val="1E293B"/>
                        </a:solidFill>
                        <a:latin typeface="Arial" panose="020B0604020202020204"/>
                      </a:endParaRPr>
                    </a:p>
                  </a:txBody>
                  <a:tcPr>
                    <a:solidFill>
                      <a:srgbClr val="F8FAFC"/>
                    </a:solidFill>
                  </a:tcPr>
                </a:tc>
                <a:tc>
                  <a:txBody>
                    <a:bodyPr/>
                    <a:lstStyle/>
                    <a:p>
                      <a:pPr algn="ctr"/>
                      <a:r>
                        <a:rPr sz="800">
                          <a:solidFill>
                            <a:srgbClr val="1E293B"/>
                          </a:solidFill>
                          <a:latin typeface="Arial" panose="020B0604020202020204"/>
                        </a:rPr>
                        <a:t>7.5 (Khá)</a:t>
                      </a:r>
                      <a:endParaRPr sz="800">
                        <a:solidFill>
                          <a:srgbClr val="1E293B"/>
                        </a:solidFill>
                        <a:latin typeface="Arial" panose="020B0604020202020204"/>
                      </a:endParaRPr>
                    </a:p>
                  </a:txBody>
                  <a:tcPr>
                    <a:solidFill>
                      <a:srgbClr val="F8FAFC"/>
                    </a:solidFill>
                  </a:tcPr>
                </a:tc>
                <a:tc>
                  <a:txBody>
                    <a:bodyPr/>
                    <a:lstStyle/>
                    <a:p>
                      <a:pPr algn="ctr"/>
                      <a:r>
                        <a:rPr sz="800">
                          <a:solidFill>
                            <a:srgbClr val="1E293B"/>
                          </a:solidFill>
                          <a:latin typeface="Arial" panose="020B0604020202020204"/>
                        </a:rPr>
                        <a:t>8.0 (Tốt)</a:t>
                      </a:r>
                      <a:endParaRPr sz="800">
                        <a:solidFill>
                          <a:srgbClr val="1E293B"/>
                        </a:solidFill>
                        <a:latin typeface="Arial" panose="020B0604020202020204"/>
                      </a:endParaRPr>
                    </a:p>
                  </a:txBody>
                  <a:tcPr>
                    <a:solidFill>
                      <a:srgbClr val="F8FAFC"/>
                    </a:solidFill>
                  </a:tcPr>
                </a:tc>
              </a:tr>
              <a:tr h="487680">
                <a:tc>
                  <a:txBody>
                    <a:bodyPr/>
                    <a:lstStyle/>
                    <a:p>
                      <a:pPr algn="l"/>
                      <a:r>
                        <a:rPr sz="950" b="1">
                          <a:solidFill>
                            <a:srgbClr val="1E293B"/>
                          </a:solidFill>
                          <a:latin typeface="Arial" panose="020B0604020202020204"/>
                        </a:rPr>
                        <a:t>TỔNG </a:t>
                      </a:r>
                      <a:endParaRPr sz="950" b="1">
                        <a:solidFill>
                          <a:srgbClr val="1E293B"/>
                        </a:solidFill>
                        <a:latin typeface="Arial" panose="020B0604020202020204"/>
                      </a:endParaRPr>
                    </a:p>
                  </a:txBody>
                  <a:tcPr>
                    <a:solidFill>
                      <a:srgbClr val="EBF3FA"/>
                    </a:solidFill>
                  </a:tcPr>
                </a:tc>
                <a:tc>
                  <a:txBody>
                    <a:bodyPr/>
                    <a:lstStyle/>
                    <a:p>
                      <a:pPr algn="ctr"/>
                      <a:r>
                        <a:rPr sz="950" b="1">
                          <a:solidFill>
                            <a:srgbClr val="1E293B"/>
                          </a:solidFill>
                          <a:latin typeface="Arial" panose="020B0604020202020204"/>
                        </a:rPr>
                        <a:t>100%</a:t>
                      </a:r>
                      <a:endParaRPr sz="950" b="1">
                        <a:solidFill>
                          <a:srgbClr val="1E293B"/>
                        </a:solidFill>
                        <a:latin typeface="Arial" panose="020B0604020202020204"/>
                      </a:endParaRPr>
                    </a:p>
                  </a:txBody>
                  <a:tcPr>
                    <a:solidFill>
                      <a:srgbClr val="EBF3FA"/>
                    </a:solidFill>
                  </a:tcPr>
                </a:tc>
                <a:tc>
                  <a:txBody>
                    <a:bodyPr/>
                    <a:lstStyle/>
                    <a:p>
                      <a:pPr algn="ctr"/>
                      <a:r>
                        <a:rPr sz="950" b="1">
                          <a:solidFill>
                            <a:srgbClr val="0F2043"/>
                          </a:solidFill>
                          <a:latin typeface="Arial" panose="020B0604020202020204"/>
                        </a:rPr>
                        <a:t>8.60 (TỐI ƯU)</a:t>
                      </a:r>
                      <a:endParaRPr sz="950" b="1">
                        <a:solidFill>
                          <a:srgbClr val="0F2043"/>
                        </a:solidFill>
                        <a:latin typeface="Arial" panose="020B0604020202020204"/>
                      </a:endParaRPr>
                    </a:p>
                  </a:txBody>
                  <a:tcPr>
                    <a:solidFill>
                      <a:srgbClr val="EBF3FA"/>
                    </a:solidFill>
                  </a:tcPr>
                </a:tc>
                <a:tc>
                  <a:txBody>
                    <a:bodyPr/>
                    <a:lstStyle/>
                    <a:p>
                      <a:pPr algn="ctr"/>
                      <a:r>
                        <a:rPr sz="950" b="1">
                          <a:solidFill>
                            <a:srgbClr val="1E293B"/>
                          </a:solidFill>
                          <a:latin typeface="Arial" panose="020B0604020202020204"/>
                        </a:rPr>
                        <a:t>4.90</a:t>
                      </a:r>
                      <a:endParaRPr sz="950" b="1">
                        <a:solidFill>
                          <a:srgbClr val="1E293B"/>
                        </a:solidFill>
                        <a:latin typeface="Arial" panose="020B0604020202020204"/>
                      </a:endParaRPr>
                    </a:p>
                  </a:txBody>
                  <a:tcPr>
                    <a:solidFill>
                      <a:srgbClr val="EBF3FA"/>
                    </a:solidFill>
                  </a:tcPr>
                </a:tc>
                <a:tc>
                  <a:txBody>
                    <a:bodyPr/>
                    <a:lstStyle/>
                    <a:p>
                      <a:pPr algn="ctr"/>
                      <a:r>
                        <a:rPr sz="950" b="1">
                          <a:solidFill>
                            <a:srgbClr val="1E293B"/>
                          </a:solidFill>
                          <a:latin typeface="Arial" panose="020B0604020202020204"/>
                        </a:rPr>
                        <a:t>6.10</a:t>
                      </a:r>
                      <a:endParaRPr sz="950" b="1">
                        <a:solidFill>
                          <a:srgbClr val="1E293B"/>
                        </a:solidFill>
                        <a:latin typeface="Arial" panose="020B0604020202020204"/>
                      </a:endParaRPr>
                    </a:p>
                  </a:txBody>
                  <a:tcPr>
                    <a:solidFill>
                      <a:srgbClr val="EBF3FA"/>
                    </a:solidFill>
                  </a:tcPr>
                </a:tc>
                <a:tc>
                  <a:txBody>
                    <a:bodyPr/>
                    <a:lstStyle/>
                    <a:p>
                      <a:pPr algn="ctr"/>
                      <a:r>
                        <a:rPr sz="950" b="1">
                          <a:solidFill>
                            <a:srgbClr val="1E293B"/>
                          </a:solidFill>
                          <a:latin typeface="Arial" panose="020B0604020202020204"/>
                        </a:rPr>
                        <a:t>7.60</a:t>
                      </a:r>
                      <a:endParaRPr sz="950" b="1">
                        <a:solidFill>
                          <a:srgbClr val="1E293B"/>
                        </a:solidFill>
                        <a:latin typeface="Arial" panose="020B0604020202020204"/>
                      </a:endParaRPr>
                    </a:p>
                  </a:txBody>
                  <a:tcPr>
                    <a:solidFill>
                      <a:srgbClr val="EBF3FA"/>
                    </a:solidFill>
                  </a:tcPr>
                </a:tc>
              </a:tr>
            </a:tbl>
          </a:graphicData>
        </a:graphic>
      </p:graphicFrame>
      <p:sp>
        <p:nvSpPr>
          <p:cNvPr id="6" name="Rounded Rectangle 5"/>
          <p:cNvSpPr/>
          <p:nvPr/>
        </p:nvSpPr>
        <p:spPr>
          <a:xfrm>
            <a:off x="7589520" y="1645920"/>
            <a:ext cx="3840480" cy="4389120"/>
          </a:xfrm>
          <a:prstGeom prst="roundRect">
            <a:avLst/>
          </a:prstGeom>
          <a:solidFill>
            <a:srgbClr val="FFFFFF"/>
          </a:solidFill>
          <a:ln w="1270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0" y="1783080"/>
            <a:ext cx="3474720" cy="4114800"/>
          </a:xfrm>
          <a:prstGeom prst="rect">
            <a:avLst/>
          </a:prstGeom>
          <a:noFill/>
        </p:spPr>
        <p:txBody>
          <a:bodyPr wrap="square">
            <a:spAutoFit/>
          </a:bodyPr>
          <a:lstStyle/>
          <a:p>
            <a:pPr>
              <a:lnSpc>
                <a:spcPct val="115000"/>
              </a:lnSpc>
              <a:spcAft>
                <a:spcPts val="800"/>
              </a:spcAft>
            </a:pPr>
            <a:r>
              <a:rPr sz="1150" b="1">
                <a:solidFill>
                  <a:srgbClr val="1F4E79"/>
                </a:solidFill>
                <a:latin typeface="Arial" panose="020B0604020202020204"/>
              </a:rPr>
              <a:t>HỒ SƠ ADR-001 (ACCEPTED) </a:t>
            </a:r>
            <a:endParaRPr sz="1150" b="1">
              <a:solidFill>
                <a:srgbClr val="1F4E79"/>
              </a:solidFill>
              <a:latin typeface="Arial" panose="020B0604020202020204"/>
            </a:endParaRPr>
          </a:p>
          <a:p>
            <a:pPr lvl="1">
              <a:lnSpc>
                <a:spcPct val="115000"/>
              </a:lnSpc>
              <a:spcAft>
                <a:spcPts val="600"/>
              </a:spcAft>
            </a:pPr>
            <a:r>
              <a:rPr sz="1050" b="1">
                <a:solidFill>
                  <a:srgbClr val="1E293B"/>
                </a:solidFill>
                <a:latin typeface="Arial" panose="020B0604020202020204"/>
              </a:rPr>
              <a:t>• Quyết định kiến trúc: </a:t>
            </a:r>
            <a:r>
              <a:rPr sz="1000">
                <a:solidFill>
                  <a:srgbClr val="1E293B"/>
                </a:solidFill>
                <a:latin typeface="Arial" panose="020B0604020202020204"/>
              </a:rPr>
              <a:t>Phê duyệt Monolithic 3-Tier MVC trên nền tảng PHP Native và MySQL PDO cho hệ thống nhà hàng.</a:t>
            </a:r>
            <a:endParaRPr sz="1000">
              <a:solidFill>
                <a:srgbClr val="1E293B"/>
              </a:solidFill>
              <a:latin typeface="Arial" panose="020B0604020202020204"/>
            </a:endParaRPr>
          </a:p>
          <a:p>
            <a:pPr lvl="1">
              <a:lnSpc>
                <a:spcPct val="115000"/>
              </a:lnSpc>
              <a:spcAft>
                <a:spcPts val="600"/>
              </a:spcAft>
            </a:pPr>
            <a:r>
              <a:rPr sz="1050" b="1">
                <a:solidFill>
                  <a:srgbClr val="1E293B"/>
                </a:solidFill>
                <a:latin typeface="Arial" panose="020B0604020202020204"/>
              </a:rPr>
              <a:t>• Biện minh then chốt: </a:t>
            </a:r>
            <a:r>
              <a:rPr sz="1000">
                <a:solidFill>
                  <a:srgbClr val="1E293B"/>
                </a:solidFill>
                <a:latin typeface="Arial" panose="020B0604020202020204"/>
              </a:rPr>
              <a:t>Bảo đảm toàn vẹn giao dịch ACID tuyệt đối khi tạo phiếu nhập kho; chạy ổn định trên mạng LAN XAMPP ngay cả khi mất cáp quang quốc tế; chi phí hạ tầng 0đ.</a:t>
            </a:r>
            <a:endParaRPr sz="1000">
              <a:solidFill>
                <a:srgbClr val="1E293B"/>
              </a:solidFill>
              <a:latin typeface="Arial" panose="020B0604020202020204"/>
            </a:endParaRPr>
          </a:p>
          <a:p>
            <a:pPr lvl="1">
              <a:lnSpc>
                <a:spcPct val="115000"/>
              </a:lnSpc>
              <a:spcAft>
                <a:spcPts val="600"/>
              </a:spcAft>
            </a:pPr>
            <a:r>
              <a:rPr sz="1050" b="1">
                <a:solidFill>
                  <a:srgbClr val="1E293B"/>
                </a:solidFill>
                <a:latin typeface="Arial" panose="020B0604020202020204"/>
              </a:rPr>
              <a:t>• Ngưỡng chuyển đổi (Trigger Points): </a:t>
            </a:r>
            <a:endParaRPr sz="1050" b="1">
              <a:solidFill>
                <a:srgbClr val="1E293B"/>
              </a:solidFill>
              <a:latin typeface="Arial" panose="020B0604020202020204"/>
            </a:endParaRPr>
          </a:p>
          <a:p>
            <a:pPr lvl="2">
              <a:lnSpc>
                <a:spcPct val="115000"/>
              </a:lnSpc>
              <a:spcAft>
                <a:spcPts val="600"/>
              </a:spcAft>
            </a:pPr>
            <a:r>
              <a:rPr sz="1050" b="1">
                <a:solidFill>
                  <a:srgbClr val="1E293B"/>
                </a:solidFill>
                <a:latin typeface="Arial" panose="020B0604020202020204"/>
              </a:rPr>
              <a:t>- Trigger 1: </a:t>
            </a:r>
            <a:r>
              <a:rPr sz="1000">
                <a:solidFill>
                  <a:srgbClr val="1E293B"/>
                </a:solidFill>
                <a:latin typeface="Arial" panose="020B0604020202020204"/>
              </a:rPr>
              <a:t>Số chi nhánh chuỗi vượt quá 15 nhà hàng.</a:t>
            </a:r>
            <a:endParaRPr sz="1000">
              <a:solidFill>
                <a:srgbClr val="1E293B"/>
              </a:solidFill>
              <a:latin typeface="Arial" panose="020B0604020202020204"/>
            </a:endParaRPr>
          </a:p>
          <a:p>
            <a:pPr lvl="2">
              <a:lnSpc>
                <a:spcPct val="115000"/>
              </a:lnSpc>
              <a:spcAft>
                <a:spcPts val="600"/>
              </a:spcAft>
            </a:pPr>
            <a:r>
              <a:rPr sz="1050" b="1">
                <a:solidFill>
                  <a:srgbClr val="1E293B"/>
                </a:solidFill>
                <a:latin typeface="Arial" panose="020B0604020202020204"/>
              </a:rPr>
              <a:t>- Trigger 2: </a:t>
            </a:r>
            <a:r>
              <a:rPr sz="1000">
                <a:solidFill>
                  <a:srgbClr val="1E293B"/>
                </a:solidFill>
                <a:latin typeface="Arial" panose="020B0604020202020204"/>
              </a:rPr>
              <a:t>Tải đặt món QR giờ cao điểm &gt; 3.000 RPS.</a:t>
            </a:r>
            <a:endParaRPr sz="1000">
              <a:solidFill>
                <a:srgbClr val="1E293B"/>
              </a:solidFill>
              <a:latin typeface="Arial" panose="020B0604020202020204"/>
            </a:endParaRPr>
          </a:p>
          <a:p>
            <a:pPr lvl="2">
              <a:lnSpc>
                <a:spcPct val="115000"/>
              </a:lnSpc>
              <a:spcAft>
                <a:spcPts val="600"/>
              </a:spcAft>
            </a:pPr>
            <a:r>
              <a:rPr sz="1050" b="1">
                <a:solidFill>
                  <a:srgbClr val="1E293B"/>
                </a:solidFill>
                <a:latin typeface="Arial" panose="020B0604020202020204"/>
              </a:rPr>
              <a:t>- Trigger 3: </a:t>
            </a:r>
            <a:r>
              <a:rPr sz="1000">
                <a:solidFill>
                  <a:srgbClr val="1E293B"/>
                </a:solidFill>
                <a:latin typeface="Arial" panose="020B0604020202020204"/>
              </a:rPr>
              <a:t>Quy mô nhóm phát triển vượt quá 15 lập trình viên.</a:t>
            </a:r>
            <a:endParaRPr sz="1000">
              <a:solidFill>
                <a:srgbClr val="1E293B"/>
              </a:solidFill>
              <a:latin typeface="Arial" panose="020B060402020202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914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1005840"/>
          </a:xfrm>
          <a:prstGeom prst="rect">
            <a:avLst/>
          </a:prstGeom>
          <a:noFill/>
        </p:spPr>
        <p:txBody>
          <a:bodyPr wrap="square" lIns="0" tIns="0" rIns="0" bIns="0">
            <a:spAutoFit/>
          </a:bodyPr>
          <a:lstStyle/>
          <a:p>
            <a:pPr>
              <a:spcAft>
                <a:spcPts val="200"/>
              </a:spcAft>
            </a:pPr>
            <a:r>
              <a:rPr sz="950" b="1">
                <a:solidFill>
                  <a:srgbClr val="D97706"/>
                </a:solidFill>
                <a:latin typeface="Arial" panose="020B0604020202020204"/>
              </a:rPr>
              <a:t>PHẦN 2: PHÂN TÍCH PHỔ TRONG THIẾT KẾ KIẾN TRÚC (MỤC 3.3.1)</a:t>
            </a:r>
            <a:endParaRPr sz="950" b="1">
              <a:solidFill>
                <a:srgbClr val="D97706"/>
              </a:solidFill>
              <a:latin typeface="Arial" panose="020B0604020202020204"/>
            </a:endParaRPr>
          </a:p>
          <a:p>
            <a:pPr>
              <a:spcAft>
                <a:spcPts val="200"/>
              </a:spcAft>
            </a:pPr>
            <a:r>
              <a:rPr sz="1900" b="1">
                <a:solidFill>
                  <a:srgbClr val="0F2043"/>
                </a:solidFill>
                <a:latin typeface="Arial" panose="020B0604020202020204"/>
              </a:rPr>
              <a:t>2.1. KHÁI NIỆM &amp; ĐỊNH NGHĨA PHỔ MẪU THIẾT KẾ</a:t>
            </a:r>
            <a:endParaRPr sz="1900" b="1">
              <a:solidFill>
                <a:srgbClr val="0F2043"/>
              </a:solidFill>
              <a:latin typeface="Arial" panose="020B0604020202020204"/>
            </a:endParaRPr>
          </a:p>
          <a:p>
            <a:r>
              <a:rPr sz="1100" i="1">
                <a:solidFill>
                  <a:srgbClr val="64748B"/>
                </a:solidFill>
                <a:latin typeface="Arial" panose="020B0604020202020204"/>
              </a:rPr>
              <a:t>Nguồn gốc học thuật từ bộ sách kinh điển POSA (Frank Buschmann et al.)</a:t>
            </a:r>
            <a:endParaRPr sz="1100" i="1">
              <a:solidFill>
                <a:srgbClr val="64748B"/>
              </a:solidFill>
              <a:latin typeface="Arial" panose="020B0604020202020204"/>
            </a:endParaRPr>
          </a:p>
        </p:txBody>
      </p:sp>
      <p:sp>
        <p:nvSpPr>
          <p:cNvPr id="4" name="TextBox 3"/>
          <p:cNvSpPr txBox="1"/>
          <p:nvPr/>
        </p:nvSpPr>
        <p:spPr>
          <a:xfrm>
            <a:off x="731520" y="6400800"/>
            <a:ext cx="10698480" cy="320040"/>
          </a:xfrm>
          <a:prstGeom prst="rect">
            <a:avLst/>
          </a:prstGeom>
          <a:noFill/>
        </p:spPr>
        <p:txBody>
          <a:bodyPr wrap="none" lIns="0" tIns="0" rIns="0" bIns="0">
            <a:spAutoFit/>
          </a:bodyPr>
          <a:lstStyle/>
          <a:p>
            <a:r>
              <a:rPr sz="850">
                <a:solidFill>
                  <a:srgbClr val="64748B"/>
                </a:solidFill>
                <a:latin typeface="Arial" panose="020B0604020202020204"/>
              </a:rPr>
              <a:t>Học phần: Kiến trúc và Thiết kế Phần mềm — Báo cáo Chương 3: Thiết kế Kiến trúc | Dự án: php-restaurant</a:t>
            </a:r>
            <a:r>
              <a:rPr sz="850" b="1">
                <a:solidFill>
                  <a:srgbClr val="1F4E79"/>
                </a:solidFill>
                <a:latin typeface="Arial" panose="020B0604020202020204"/>
              </a:rPr>
              <a:t>             Slide 08 / 20</a:t>
            </a:r>
            <a:endParaRPr sz="850" b="1">
              <a:solidFill>
                <a:srgbClr val="1F4E79"/>
              </a:solidFill>
              <a:latin typeface="Arial" panose="020B0604020202020204"/>
            </a:endParaRPr>
          </a:p>
        </p:txBody>
      </p:sp>
      <p:sp>
        <p:nvSpPr>
          <p:cNvPr id="5" name="Rounded Rectangle 4"/>
          <p:cNvSpPr/>
          <p:nvPr/>
        </p:nvSpPr>
        <p:spPr>
          <a:xfrm>
            <a:off x="731520" y="1645920"/>
            <a:ext cx="6217920" cy="4389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5852160" cy="4114800"/>
          </a:xfrm>
          <a:prstGeom prst="rect">
            <a:avLst/>
          </a:prstGeom>
          <a:noFill/>
        </p:spPr>
        <p:txBody>
          <a:bodyPr wrap="square">
            <a:spAutoFit/>
          </a:bodyPr>
          <a:lstStyle/>
          <a:p>
            <a:pPr>
              <a:lnSpc>
                <a:spcPct val="115000"/>
              </a:lnSpc>
              <a:spcAft>
                <a:spcPts val="600"/>
              </a:spcAft>
            </a:pPr>
            <a:r>
              <a:rPr sz="1150" b="1">
                <a:solidFill>
                  <a:srgbClr val="1F4E79"/>
                </a:solidFill>
                <a:latin typeface="Arial" panose="020B0604020202020204"/>
              </a:rPr>
              <a:t>Nguồn gốc học thuật: </a:t>
            </a:r>
            <a:r>
              <a:rPr sz="1100">
                <a:solidFill>
                  <a:srgbClr val="1E293B"/>
                </a:solidFill>
                <a:latin typeface="Arial" panose="020B0604020202020204"/>
              </a:rPr>
              <a:t>Khởi xướng trong công trình nổi tiếng thế giới 'Pattern-Oriented Software Architecture (POSA)' của Buschmann, Meunier, Rohnert, Sommerlad, Stal.</a:t>
            </a:r>
            <a:endParaRPr sz="1100">
              <a:solidFill>
                <a:srgbClr val="1E293B"/>
              </a:solidFill>
              <a:latin typeface="Arial" panose="020B0604020202020204"/>
            </a:endParaRPr>
          </a:p>
          <a:p>
            <a:pPr>
              <a:lnSpc>
                <a:spcPct val="115000"/>
              </a:lnSpc>
              <a:spcAft>
                <a:spcPts val="600"/>
              </a:spcAft>
            </a:pPr>
            <a:r>
              <a:rPr sz="1150" b="1">
                <a:solidFill>
                  <a:srgbClr val="1F4E79"/>
                </a:solidFill>
                <a:latin typeface="Arial" panose="020B0604020202020204"/>
              </a:rPr>
              <a:t>Bản chất sai lầm phổ biến: </a:t>
            </a:r>
            <a:r>
              <a:rPr sz="1100">
                <a:solidFill>
                  <a:srgbClr val="1E293B"/>
                </a:solidFill>
                <a:latin typeface="Arial" panose="020B0604020202020204"/>
              </a:rPr>
              <a:t>Lập trình viên thường đánh đồng tất cả các giải pháp vào một khái niệm 'Pattern' chung chung, không phân biệt được đâu là quyết định cấu trúc vĩ mô và đâu là mẹo cú pháp vi mô.</a:t>
            </a:r>
            <a:endParaRPr sz="1100">
              <a:solidFill>
                <a:srgbClr val="1E293B"/>
              </a:solidFill>
              <a:latin typeface="Arial" panose="020B0604020202020204"/>
            </a:endParaRPr>
          </a:p>
          <a:p>
            <a:pPr>
              <a:lnSpc>
                <a:spcPct val="115000"/>
              </a:lnSpc>
              <a:spcAft>
                <a:spcPts val="600"/>
              </a:spcAft>
            </a:pPr>
            <a:r>
              <a:rPr sz="1150" b="1">
                <a:solidFill>
                  <a:srgbClr val="1F4E79"/>
                </a:solidFill>
                <a:latin typeface="Arial" panose="020B0604020202020204"/>
              </a:rPr>
              <a:t>Định nghĩa 'Phổ Mẫu' (Pattern Spectrum): </a:t>
            </a:r>
            <a:r>
              <a:rPr sz="1100">
                <a:solidFill>
                  <a:srgbClr val="1E293B"/>
                </a:solidFill>
                <a:latin typeface="Arial" panose="020B0604020202020204"/>
              </a:rPr>
              <a:t>Dải phân loại liên tục các giải pháp thiết kế dựa trên hai trục tọa độ cốt lõi:</a:t>
            </a:r>
            <a:endParaRPr sz="1100">
              <a:solidFill>
                <a:srgbClr val="1E293B"/>
              </a:solidFill>
              <a:latin typeface="Arial" panose="020B0604020202020204"/>
            </a:endParaRPr>
          </a:p>
          <a:p>
            <a:pPr lvl="1">
              <a:lnSpc>
                <a:spcPct val="115000"/>
              </a:lnSpc>
              <a:spcAft>
                <a:spcPts val="600"/>
              </a:spcAft>
            </a:pPr>
            <a:r>
              <a:rPr sz="1050" b="1">
                <a:solidFill>
                  <a:srgbClr val="1E293B"/>
                </a:solidFill>
                <a:latin typeface="Arial" panose="020B0604020202020204"/>
              </a:rPr>
              <a:t>• Trục hoành (Level of Abstraction): </a:t>
            </a:r>
            <a:r>
              <a:rPr sz="1000">
                <a:solidFill>
                  <a:srgbClr val="1E293B"/>
                </a:solidFill>
                <a:latin typeface="Arial" panose="020B0604020202020204"/>
              </a:rPr>
              <a:t>Từ mức trừu tượng hóa chiến lược (độc lập ngôn ngữ) đến mức hiện thực hóa cụ thể (gắn với cú pháp).</a:t>
            </a:r>
            <a:endParaRPr sz="1000">
              <a:solidFill>
                <a:srgbClr val="1E293B"/>
              </a:solidFill>
              <a:latin typeface="Arial" panose="020B0604020202020204"/>
            </a:endParaRPr>
          </a:p>
          <a:p>
            <a:pPr lvl="1">
              <a:lnSpc>
                <a:spcPct val="115000"/>
              </a:lnSpc>
              <a:spcAft>
                <a:spcPts val="600"/>
              </a:spcAft>
            </a:pPr>
            <a:r>
              <a:rPr sz="1050" b="1">
                <a:solidFill>
                  <a:srgbClr val="1E293B"/>
                </a:solidFill>
                <a:latin typeface="Arial" panose="020B0604020202020204"/>
              </a:rPr>
              <a:t>• Trục tung (Scale and Scope): </a:t>
            </a:r>
            <a:r>
              <a:rPr sz="1000">
                <a:solidFill>
                  <a:srgbClr val="1E293B"/>
                </a:solidFill>
                <a:latin typeface="Arial" panose="020B0604020202020204"/>
              </a:rPr>
              <a:t>Từ quy mô toàn hệ thống (System-wide) đến cấp độ module, lớp/đối tượng, và từng dòng lệnh.</a:t>
            </a:r>
            <a:endParaRPr sz="1000">
              <a:solidFill>
                <a:srgbClr val="1E293B"/>
              </a:solidFill>
              <a:latin typeface="Arial" panose="020B0604020202020204"/>
            </a:endParaRPr>
          </a:p>
          <a:p>
            <a:pPr>
              <a:lnSpc>
                <a:spcPct val="115000"/>
              </a:lnSpc>
              <a:spcAft>
                <a:spcPts val="600"/>
              </a:spcAft>
            </a:pPr>
            <a:r>
              <a:rPr sz="1150" b="1">
                <a:solidFill>
                  <a:srgbClr val="1F4E79"/>
                </a:solidFill>
                <a:latin typeface="Arial" panose="020B0604020202020204"/>
              </a:rPr>
              <a:t>Ý nghĩa thực tiễn: </a:t>
            </a:r>
            <a:r>
              <a:rPr sz="1100">
                <a:solidFill>
                  <a:srgbClr val="1E293B"/>
                </a:solidFill>
                <a:latin typeface="Arial" panose="020B0604020202020204"/>
              </a:rPr>
              <a:t>Định vị chính xác vai trò của từng giải pháp; bảo đảm tính nhất quán từ bản vẽ kiến trúc đến từng dòng code triển khai.</a:t>
            </a:r>
            <a:endParaRPr sz="1100">
              <a:solidFill>
                <a:srgbClr val="1E293B"/>
              </a:solidFill>
              <a:latin typeface="Arial" panose="020B0604020202020204"/>
            </a:endParaRPr>
          </a:p>
        </p:txBody>
      </p:sp>
      <p:sp>
        <p:nvSpPr>
          <p:cNvPr id="7" name="Rounded Rectangle 6"/>
          <p:cNvSpPr/>
          <p:nvPr/>
        </p:nvSpPr>
        <p:spPr>
          <a:xfrm>
            <a:off x="7132320" y="1645920"/>
            <a:ext cx="429768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0" y="1828800"/>
            <a:ext cx="3931920" cy="4023360"/>
          </a:xfrm>
          <a:prstGeom prst="rect">
            <a:avLst/>
          </a:prstGeom>
          <a:noFill/>
        </p:spPr>
        <p:txBody>
          <a:bodyPr wrap="square">
            <a:spAutoFit/>
          </a:bodyPr>
          <a:lstStyle/>
          <a:p>
            <a:pPr algn="ctr"/>
            <a:r>
              <a:rPr sz="1150" b="1">
                <a:solidFill>
                  <a:srgbClr val="1F4E79"/>
                </a:solidFill>
                <a:latin typeface="Arial" panose="020B0604020202020204"/>
              </a:rPr>
              <a:t>SƠ ĐỒ PHỔ MẪU (THE PATTERN SPECTRUM)
</a:t>
            </a:r>
            <a:endParaRPr sz="1150" b="1">
              <a:solidFill>
                <a:srgbClr val="1F4E79"/>
              </a:solidFill>
              <a:latin typeface="Arial" panose="020B0604020202020204"/>
            </a:endParaRPr>
          </a:p>
        </p:txBody>
      </p:sp>
      <p:sp>
        <p:nvSpPr>
          <p:cNvPr id="9" name="Rounded Rectangle 8"/>
          <p:cNvSpPr/>
          <p:nvPr/>
        </p:nvSpPr>
        <p:spPr>
          <a:xfrm>
            <a:off x="7406640" y="2286000"/>
            <a:ext cx="3749039" cy="914400"/>
          </a:xfrm>
          <a:prstGeom prst="roundRect">
            <a:avLst/>
          </a:prstGeom>
          <a:solidFill>
            <a:srgbClr val="0F2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a:solidFill>
                  <a:srgbClr val="FFFFFF"/>
                </a:solidFill>
              </a:defRPr>
            </a:pPr>
            <a:r>
              <a:t>TẦNG 1: MẪU KIẾN TRÚC (MACRO)</a:t>
            </a:r>
            <a:br/>
            <a:r>
              <a:t>Quy mô: Toàn hệ thống | Độc lập công nghệ</a:t>
            </a:r>
            <a:br/>
            <a:r>
              <a:t>Ví dụ: MVC, Layered, Microservices, Broker</a:t>
            </a:r>
          </a:p>
        </p:txBody>
      </p:sp>
      <p:sp>
        <p:nvSpPr>
          <p:cNvPr id="10" name="Rounded Rectangle 9"/>
          <p:cNvSpPr/>
          <p:nvPr/>
        </p:nvSpPr>
        <p:spPr>
          <a:xfrm>
            <a:off x="7406640" y="3383280"/>
            <a:ext cx="3749039" cy="914400"/>
          </a:xfrm>
          <a:prstGeom prst="round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a:solidFill>
                  <a:srgbClr val="FFFFFF"/>
                </a:solidFill>
              </a:defRPr>
            </a:pPr>
            <a:r>
              <a:t>TẦNG 2: MẪU THIẾT KẾ (MESO - GoF)</a:t>
            </a:r>
            <a:br/>
            <a:r>
              <a:t>Quy mô: Cấu trúc lớp &amp; module con | Hướng đối tượng</a:t>
            </a:r>
            <a:br/>
            <a:r>
              <a:t>Ví dụ: Factory, Strategy, Observer, Template Method</a:t>
            </a:r>
          </a:p>
        </p:txBody>
      </p:sp>
      <p:sp>
        <p:nvSpPr>
          <p:cNvPr id="11" name="Rounded Rectangle 10"/>
          <p:cNvSpPr/>
          <p:nvPr/>
        </p:nvSpPr>
        <p:spPr>
          <a:xfrm>
            <a:off x="7406640" y="4480560"/>
            <a:ext cx="3749039" cy="914400"/>
          </a:xfrm>
          <a:prstGeom prst="round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a:solidFill>
                  <a:srgbClr val="FFFFFF"/>
                </a:solidFill>
              </a:defRPr>
            </a:pPr>
            <a:r>
              <a:t>TẦNG 3: THÀNH NGỮ NGÔN NGỮ (MICRO - IDIOMS)</a:t>
            </a:r>
            <a:br/>
            <a:r>
              <a:t>Quy mô: Dòng lệnh | Gắn liền cú pháp ngôn ngữ</a:t>
            </a:r>
            <a:br/>
            <a:r>
              <a:t>Ví dụ: PDO Prepared Statements, Session Flash, RAII</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914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1005840"/>
          </a:xfrm>
          <a:prstGeom prst="rect">
            <a:avLst/>
          </a:prstGeom>
          <a:noFill/>
        </p:spPr>
        <p:txBody>
          <a:bodyPr wrap="square" lIns="0" tIns="0" rIns="0" bIns="0">
            <a:spAutoFit/>
          </a:bodyPr>
          <a:lstStyle/>
          <a:p>
            <a:pPr>
              <a:spcAft>
                <a:spcPts val="200"/>
              </a:spcAft>
            </a:pPr>
            <a:r>
              <a:rPr sz="950" b="1">
                <a:solidFill>
                  <a:srgbClr val="D97706"/>
                </a:solidFill>
                <a:latin typeface="Arial" panose="020B0604020202020204"/>
              </a:rPr>
              <a:t>PHẦN 2: PHÂN TÍCH PHỔ TRONG THIẾT KẾ KIẾN TRÚC (MỤC 3.3.1)</a:t>
            </a:r>
            <a:endParaRPr sz="950" b="1">
              <a:solidFill>
                <a:srgbClr val="D97706"/>
              </a:solidFill>
              <a:latin typeface="Arial" panose="020B0604020202020204"/>
            </a:endParaRPr>
          </a:p>
          <a:p>
            <a:pPr>
              <a:spcAft>
                <a:spcPts val="200"/>
              </a:spcAft>
            </a:pPr>
            <a:r>
              <a:rPr sz="1900" b="1">
                <a:solidFill>
                  <a:srgbClr val="0F2043"/>
                </a:solidFill>
                <a:latin typeface="Arial" panose="020B0604020202020204"/>
              </a:rPr>
              <a:t>2.2. TẦNG VĨ MÔ TRÊN DẢI PHỔ: MẪU KIẾN TRÚC (MACRO)</a:t>
            </a:r>
            <a:endParaRPr sz="1900" b="1">
              <a:solidFill>
                <a:srgbClr val="0F2043"/>
              </a:solidFill>
              <a:latin typeface="Arial" panose="020B0604020202020204"/>
            </a:endParaRPr>
          </a:p>
          <a:p>
            <a:r>
              <a:rPr sz="1100" i="1">
                <a:solidFill>
                  <a:srgbClr val="64748B"/>
                </a:solidFill>
                <a:latin typeface="Arial" panose="020B0604020202020204"/>
              </a:rPr>
              <a:t>Định hình khung xương và cơ chế tương tác cơ bản của toàn bộ hệ thống</a:t>
            </a:r>
            <a:endParaRPr sz="1100" i="1">
              <a:solidFill>
                <a:srgbClr val="64748B"/>
              </a:solidFill>
              <a:latin typeface="Arial" panose="020B0604020202020204"/>
            </a:endParaRPr>
          </a:p>
        </p:txBody>
      </p:sp>
      <p:sp>
        <p:nvSpPr>
          <p:cNvPr id="4" name="TextBox 3"/>
          <p:cNvSpPr txBox="1"/>
          <p:nvPr/>
        </p:nvSpPr>
        <p:spPr>
          <a:xfrm>
            <a:off x="731520" y="6400800"/>
            <a:ext cx="10698480" cy="320040"/>
          </a:xfrm>
          <a:prstGeom prst="rect">
            <a:avLst/>
          </a:prstGeom>
          <a:noFill/>
        </p:spPr>
        <p:txBody>
          <a:bodyPr wrap="none" lIns="0" tIns="0" rIns="0" bIns="0">
            <a:spAutoFit/>
          </a:bodyPr>
          <a:lstStyle/>
          <a:p>
            <a:r>
              <a:rPr sz="850">
                <a:solidFill>
                  <a:srgbClr val="64748B"/>
                </a:solidFill>
                <a:latin typeface="Arial" panose="020B0604020202020204"/>
              </a:rPr>
              <a:t>Học phần: Kiến trúc và Thiết kế Phần mềm — Báo cáo Chương 3: Thiết kế Kiến trúc | Dự án: php-restaurant</a:t>
            </a:r>
            <a:r>
              <a:rPr sz="850" b="1">
                <a:solidFill>
                  <a:srgbClr val="1F4E79"/>
                </a:solidFill>
                <a:latin typeface="Arial" panose="020B0604020202020204"/>
              </a:rPr>
              <a:t>             Slide 09 / 20</a:t>
            </a:r>
            <a:endParaRPr sz="850" b="1">
              <a:solidFill>
                <a:srgbClr val="1F4E79"/>
              </a:solidFill>
              <a:latin typeface="Arial" panose="020B0604020202020204"/>
            </a:endParaRPr>
          </a:p>
        </p:txBody>
      </p:sp>
      <p:sp>
        <p:nvSpPr>
          <p:cNvPr id="5" name="Rounded Rectangle 4"/>
          <p:cNvSpPr/>
          <p:nvPr/>
        </p:nvSpPr>
        <p:spPr>
          <a:xfrm>
            <a:off x="731520" y="1645920"/>
            <a:ext cx="6217920" cy="4389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5852160" cy="4114800"/>
          </a:xfrm>
          <a:prstGeom prst="rect">
            <a:avLst/>
          </a:prstGeom>
          <a:noFill/>
        </p:spPr>
        <p:txBody>
          <a:bodyPr wrap="square">
            <a:spAutoFit/>
          </a:bodyPr>
          <a:lstStyle/>
          <a:p>
            <a:pPr>
              <a:lnSpc>
                <a:spcPct val="115000"/>
              </a:lnSpc>
              <a:spcAft>
                <a:spcPts val="600"/>
              </a:spcAft>
            </a:pPr>
            <a:r>
              <a:rPr sz="1150" b="1">
                <a:solidFill>
                  <a:srgbClr val="1F4E79"/>
                </a:solidFill>
                <a:latin typeface="Arial" panose="020B0604020202020204"/>
              </a:rPr>
              <a:t>Vị trí trên phổ: </a:t>
            </a:r>
            <a:r>
              <a:rPr sz="1100">
                <a:solidFill>
                  <a:srgbClr val="1E293B"/>
                </a:solidFill>
                <a:latin typeface="Arial" panose="020B0604020202020204"/>
              </a:rPr>
              <a:t>Cấp độ cao nhất (Macro-level) – Mức độ trừu tượng cao nhất và phạm vi tác động bao trùm toàn bộ hệ thống.</a:t>
            </a:r>
            <a:endParaRPr sz="1100">
              <a:solidFill>
                <a:srgbClr val="1E293B"/>
              </a:solidFill>
              <a:latin typeface="Arial" panose="020B0604020202020204"/>
            </a:endParaRPr>
          </a:p>
          <a:p>
            <a:pPr>
              <a:lnSpc>
                <a:spcPct val="115000"/>
              </a:lnSpc>
              <a:spcAft>
                <a:spcPts val="600"/>
              </a:spcAft>
            </a:pPr>
            <a:r>
              <a:rPr sz="1150" b="1">
                <a:solidFill>
                  <a:srgbClr val="1F4E79"/>
                </a:solidFill>
                <a:latin typeface="Arial" panose="020B0604020202020204"/>
              </a:rPr>
              <a:t>Trách nhiệm định hình: </a:t>
            </a:r>
            <a:r>
              <a:rPr sz="1100">
                <a:solidFill>
                  <a:srgbClr val="1E293B"/>
                </a:solidFill>
                <a:latin typeface="Arial" panose="020B0604020202020204"/>
              </a:rPr>
              <a:t>Xác định khung cấu trúc cơ bản (Skeleton); phân định các hệ thống con (Subsystems); đặt ra các cơ chế kết nối (Connectors) và các ràng buộc bắt buộc (Constraints).</a:t>
            </a:r>
            <a:endParaRPr sz="1100">
              <a:solidFill>
                <a:srgbClr val="1E293B"/>
              </a:solidFill>
              <a:latin typeface="Arial" panose="020B0604020202020204"/>
            </a:endParaRPr>
          </a:p>
          <a:p>
            <a:pPr>
              <a:lnSpc>
                <a:spcPct val="115000"/>
              </a:lnSpc>
              <a:spcAft>
                <a:spcPts val="600"/>
              </a:spcAft>
            </a:pPr>
            <a:r>
              <a:rPr sz="1150" b="1">
                <a:solidFill>
                  <a:srgbClr val="1F4E79"/>
                </a:solidFill>
                <a:latin typeface="Arial" panose="020B0604020202020204"/>
              </a:rPr>
              <a:t>Tính độc lập công nghệ: </a:t>
            </a:r>
            <a:r>
              <a:rPr sz="1100">
                <a:solidFill>
                  <a:srgbClr val="1E293B"/>
                </a:solidFill>
                <a:latin typeface="Arial" panose="020B0604020202020204"/>
              </a:rPr>
              <a:t>Mẫu kiến trúc không bị trói buộc bởi ngôn ngữ lập trình cụ thể (Dù viết bằng PHP, Java Spring, C# hay Go thì bản chất cấu trúc phân tầng vẫn giữ nguyên).</a:t>
            </a:r>
            <a:endParaRPr sz="1100">
              <a:solidFill>
                <a:srgbClr val="1E293B"/>
              </a:solidFill>
              <a:latin typeface="Arial" panose="020B0604020202020204"/>
            </a:endParaRPr>
          </a:p>
          <a:p>
            <a:pPr>
              <a:lnSpc>
                <a:spcPct val="115000"/>
              </a:lnSpc>
              <a:spcAft>
                <a:spcPts val="600"/>
              </a:spcAft>
            </a:pPr>
            <a:r>
              <a:rPr sz="1150" b="1">
                <a:solidFill>
                  <a:srgbClr val="1F4E79"/>
                </a:solidFill>
                <a:latin typeface="Arial" panose="020B0604020202020204"/>
              </a:rPr>
              <a:t>Các đại diện kinh điển: </a:t>
            </a:r>
            <a:endParaRPr sz="1150" b="1">
              <a:solidFill>
                <a:srgbClr val="1F4E79"/>
              </a:solidFill>
              <a:latin typeface="Arial" panose="020B0604020202020204"/>
            </a:endParaRPr>
          </a:p>
          <a:p>
            <a:pPr lvl="1">
              <a:lnSpc>
                <a:spcPct val="115000"/>
              </a:lnSpc>
              <a:spcAft>
                <a:spcPts val="600"/>
              </a:spcAft>
            </a:pPr>
            <a:r>
              <a:rPr sz="1050" b="1">
                <a:solidFill>
                  <a:srgbClr val="1E293B"/>
                </a:solidFill>
                <a:latin typeface="Arial" panose="020B0604020202020204"/>
              </a:rPr>
              <a:t>• Model-View-Controller (MVC): </a:t>
            </a:r>
            <a:r>
              <a:rPr sz="1000">
                <a:solidFill>
                  <a:srgbClr val="1E293B"/>
                </a:solidFill>
                <a:latin typeface="Arial" panose="020B0604020202020204"/>
              </a:rPr>
              <a:t>Phân định rành mạch giữa Giao diện (View) - Điều phối (Controller) - Dữ liệu (Model).</a:t>
            </a:r>
            <a:endParaRPr sz="1000">
              <a:solidFill>
                <a:srgbClr val="1E293B"/>
              </a:solidFill>
              <a:latin typeface="Arial" panose="020B0604020202020204"/>
            </a:endParaRPr>
          </a:p>
          <a:p>
            <a:pPr lvl="1">
              <a:lnSpc>
                <a:spcPct val="115000"/>
              </a:lnSpc>
              <a:spcAft>
                <a:spcPts val="600"/>
              </a:spcAft>
            </a:pPr>
            <a:r>
              <a:rPr sz="1050" b="1">
                <a:solidFill>
                  <a:srgbClr val="1E293B"/>
                </a:solidFill>
                <a:latin typeface="Arial" panose="020B0604020202020204"/>
              </a:rPr>
              <a:t>• Layered Architecture: </a:t>
            </a:r>
            <a:r>
              <a:rPr sz="1000">
                <a:solidFill>
                  <a:srgbClr val="1E293B"/>
                </a:solidFill>
                <a:latin typeface="Arial" panose="020B0604020202020204"/>
              </a:rPr>
              <a:t>Phân tầng logic nghiêm ngặt từ Presentation -&gt; Application -&gt; Domain -&gt; Data.</a:t>
            </a:r>
            <a:endParaRPr sz="1000">
              <a:solidFill>
                <a:srgbClr val="1E293B"/>
              </a:solidFill>
              <a:latin typeface="Arial" panose="020B0604020202020204"/>
            </a:endParaRPr>
          </a:p>
          <a:p>
            <a:pPr lvl="1">
              <a:lnSpc>
                <a:spcPct val="115000"/>
              </a:lnSpc>
              <a:spcAft>
                <a:spcPts val="600"/>
              </a:spcAft>
            </a:pPr>
            <a:r>
              <a:rPr sz="1050" b="1">
                <a:solidFill>
                  <a:srgbClr val="1E293B"/>
                </a:solidFill>
                <a:latin typeface="Arial" panose="020B0604020202020204"/>
              </a:rPr>
              <a:t>• Pipes &amp; Filters, Broker, Microservices, Event-Driven. </a:t>
            </a:r>
            <a:endParaRPr sz="1000">
              <a:solidFill>
                <a:srgbClr val="1E293B"/>
              </a:solidFill>
              <a:latin typeface="Arial" panose="020B0604020202020204"/>
            </a:endParaRPr>
          </a:p>
        </p:txBody>
      </p:sp>
      <p:sp>
        <p:nvSpPr>
          <p:cNvPr id="7" name="Rounded Rectangle 6"/>
          <p:cNvSpPr/>
          <p:nvPr/>
        </p:nvSpPr>
        <p:spPr>
          <a:xfrm>
            <a:off x="7132320" y="1645920"/>
            <a:ext cx="429768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vc_process.png"/>
          <p:cNvPicPr>
            <a:picLocks noChangeAspect="1"/>
          </p:cNvPicPr>
          <p:nvPr/>
        </p:nvPicPr>
        <p:blipFill>
          <a:blip r:embed="rId1"/>
          <a:stretch>
            <a:fillRect/>
          </a:stretch>
        </p:blipFill>
        <p:spPr>
          <a:xfrm>
            <a:off x="7269480" y="1783080"/>
            <a:ext cx="4023360" cy="3749040"/>
          </a:xfrm>
          <a:prstGeom prst="rect">
            <a:avLst/>
          </a:prstGeom>
        </p:spPr>
      </p:pic>
      <p:sp>
        <p:nvSpPr>
          <p:cNvPr id="9" name="TextBox 8"/>
          <p:cNvSpPr txBox="1"/>
          <p:nvPr/>
        </p:nvSpPr>
        <p:spPr>
          <a:xfrm>
            <a:off x="7223760" y="5623560"/>
            <a:ext cx="4114800" cy="365760"/>
          </a:xfrm>
          <a:prstGeom prst="rect">
            <a:avLst/>
          </a:prstGeom>
          <a:noFill/>
        </p:spPr>
        <p:txBody>
          <a:bodyPr wrap="square">
            <a:spAutoFit/>
          </a:bodyPr>
          <a:lstStyle/>
          <a:p>
            <a:pPr algn="ctr"/>
            <a:r>
              <a:rPr sz="850" i="1">
                <a:solidFill>
                  <a:srgbClr val="64748B"/>
                </a:solidFill>
                <a:latin typeface="Arial" panose="020B0604020202020204"/>
              </a:rPr>
              <a:t>Minh họa: Mô hình Dòng chảy Mẫu Kiến trúc Vĩ mô Model-View-Controller</a:t>
            </a:r>
            <a:endParaRPr sz="850" i="1">
              <a:solidFill>
                <a:srgbClr val="64748B"/>
              </a:solidFill>
              <a:latin typeface="Arial" panose="020B060402020202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914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1005840"/>
          </a:xfrm>
          <a:prstGeom prst="rect">
            <a:avLst/>
          </a:prstGeom>
          <a:noFill/>
        </p:spPr>
        <p:txBody>
          <a:bodyPr wrap="square" lIns="0" tIns="0" rIns="0" bIns="0">
            <a:spAutoFit/>
          </a:bodyPr>
          <a:lstStyle/>
          <a:p>
            <a:pPr>
              <a:spcAft>
                <a:spcPts val="200"/>
              </a:spcAft>
            </a:pPr>
            <a:r>
              <a:rPr sz="950" b="1">
                <a:solidFill>
                  <a:srgbClr val="D97706"/>
                </a:solidFill>
                <a:latin typeface="Arial" panose="020B0604020202020204"/>
              </a:rPr>
              <a:t>PHẦN 2: PHÂN TÍCH PHỔ TRONG THIẾT KẾ KIẾN TRÚC (MỤC 3.3.1)</a:t>
            </a:r>
            <a:endParaRPr sz="950" b="1">
              <a:solidFill>
                <a:srgbClr val="D97706"/>
              </a:solidFill>
              <a:latin typeface="Arial" panose="020B0604020202020204"/>
            </a:endParaRPr>
          </a:p>
          <a:p>
            <a:pPr>
              <a:spcAft>
                <a:spcPts val="200"/>
              </a:spcAft>
            </a:pPr>
            <a:r>
              <a:rPr sz="1900" b="1">
                <a:solidFill>
                  <a:srgbClr val="0F2043"/>
                </a:solidFill>
                <a:latin typeface="Arial" panose="020B0604020202020204"/>
              </a:rPr>
              <a:t>2.2. TẦNG TRUNG MÔ &amp; VI MÔ TRÊN DẢI PHỔ: DESIGN PATTERNS &amp; IDIOMS</a:t>
            </a:r>
            <a:endParaRPr sz="1900" b="1">
              <a:solidFill>
                <a:srgbClr val="0F2043"/>
              </a:solidFill>
              <a:latin typeface="Arial" panose="020B0604020202020204"/>
            </a:endParaRPr>
          </a:p>
          <a:p>
            <a:r>
              <a:rPr sz="1100" i="1">
                <a:solidFill>
                  <a:srgbClr val="64748B"/>
                </a:solidFill>
                <a:latin typeface="Arial" panose="020B0604020202020204"/>
              </a:rPr>
              <a:t>Tinh chỉnh cấu trúc lớp hướng đối tượng và hiện thực hóa bằng cú pháp ngôn ngữ</a:t>
            </a:r>
            <a:endParaRPr sz="1100" i="1">
              <a:solidFill>
                <a:srgbClr val="64748B"/>
              </a:solidFill>
              <a:latin typeface="Arial" panose="020B0604020202020204"/>
            </a:endParaRPr>
          </a:p>
        </p:txBody>
      </p:sp>
      <p:sp>
        <p:nvSpPr>
          <p:cNvPr id="4" name="TextBox 3"/>
          <p:cNvSpPr txBox="1"/>
          <p:nvPr/>
        </p:nvSpPr>
        <p:spPr>
          <a:xfrm>
            <a:off x="731520" y="6400800"/>
            <a:ext cx="10698480" cy="320040"/>
          </a:xfrm>
          <a:prstGeom prst="rect">
            <a:avLst/>
          </a:prstGeom>
          <a:noFill/>
        </p:spPr>
        <p:txBody>
          <a:bodyPr wrap="none" lIns="0" tIns="0" rIns="0" bIns="0">
            <a:spAutoFit/>
          </a:bodyPr>
          <a:lstStyle/>
          <a:p>
            <a:r>
              <a:rPr sz="850">
                <a:solidFill>
                  <a:srgbClr val="64748B"/>
                </a:solidFill>
                <a:latin typeface="Arial" panose="020B0604020202020204"/>
              </a:rPr>
              <a:t>Học phần: Kiến trúc và Thiết kế Phần mềm — Báo cáo Chương 3: Thiết kế Kiến trúc | Dự án: php-restaurant</a:t>
            </a:r>
            <a:r>
              <a:rPr sz="850" b="1">
                <a:solidFill>
                  <a:srgbClr val="1F4E79"/>
                </a:solidFill>
                <a:latin typeface="Arial" panose="020B0604020202020204"/>
              </a:rPr>
              <a:t>             Slide 10 / 20</a:t>
            </a:r>
            <a:endParaRPr sz="850" b="1">
              <a:solidFill>
                <a:srgbClr val="1F4E79"/>
              </a:solidFill>
              <a:latin typeface="Arial" panose="020B0604020202020204"/>
            </a:endParaRPr>
          </a:p>
        </p:txBody>
      </p:sp>
      <p:sp>
        <p:nvSpPr>
          <p:cNvPr id="5" name="Rounded Rectangle 4"/>
          <p:cNvSpPr/>
          <p:nvPr/>
        </p:nvSpPr>
        <p:spPr>
          <a:xfrm>
            <a:off x="731520" y="1645920"/>
            <a:ext cx="5166360" cy="4389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4800600" cy="4114800"/>
          </a:xfrm>
          <a:prstGeom prst="rect">
            <a:avLst/>
          </a:prstGeom>
          <a:noFill/>
        </p:spPr>
        <p:txBody>
          <a:bodyPr wrap="square">
            <a:spAutoFit/>
          </a:bodyPr>
          <a:lstStyle/>
          <a:p>
            <a:pPr>
              <a:lnSpc>
                <a:spcPct val="115000"/>
              </a:lnSpc>
              <a:spcAft>
                <a:spcPts val="800"/>
              </a:spcAft>
            </a:pPr>
            <a:r>
              <a:rPr sz="1150" b="1">
                <a:solidFill>
                  <a:srgbClr val="1F4E79"/>
                </a:solidFill>
                <a:latin typeface="Arial" panose="020B0604020202020204"/>
              </a:rPr>
              <a:t>TẦNG TRUNG MÔ: MẪU THIẾT KẾ (MESO) </a:t>
            </a:r>
            <a:r>
              <a:rPr sz="1100">
                <a:solidFill>
                  <a:srgbClr val="1E293B"/>
                </a:solidFill>
                <a:latin typeface="Arial" panose="020B0604020202020204"/>
              </a:rPr>
              <a:t>Phạm vi: Cấu trúc lớp và quan hệ đối tượng trong một module cụ thể.</a:t>
            </a:r>
            <a:endParaRPr sz="1100">
              <a:solidFill>
                <a:srgbClr val="1E293B"/>
              </a:solidFill>
              <a:latin typeface="Arial" panose="020B0604020202020204"/>
            </a:endParaRPr>
          </a:p>
          <a:p>
            <a:pPr lvl="1">
              <a:lnSpc>
                <a:spcPct val="115000"/>
              </a:lnSpc>
              <a:spcAft>
                <a:spcPts val="600"/>
              </a:spcAft>
            </a:pPr>
            <a:r>
              <a:rPr sz="1050" b="1">
                <a:solidFill>
                  <a:srgbClr val="1E293B"/>
                </a:solidFill>
                <a:latin typeface="Arial" panose="020B0604020202020204"/>
              </a:rPr>
              <a:t>Đặc trưng: </a:t>
            </a:r>
            <a:r>
              <a:rPr sz="1000">
                <a:solidFill>
                  <a:srgbClr val="1E293B"/>
                </a:solidFill>
                <a:latin typeface="Arial" panose="020B0604020202020204"/>
              </a:rPr>
              <a:t>Giải quyết các bài toán tái sử dụng mã nguồn và khớp nối mềm dẻo giữa các đối tượng; độc lập ngôn ngữ nhưng gắn với OOP.</a:t>
            </a:r>
            <a:endParaRPr sz="1000">
              <a:solidFill>
                <a:srgbClr val="1E293B"/>
              </a:solidFill>
              <a:latin typeface="Arial" panose="020B0604020202020204"/>
            </a:endParaRPr>
          </a:p>
          <a:p>
            <a:pPr lvl="1">
              <a:lnSpc>
                <a:spcPct val="115000"/>
              </a:lnSpc>
              <a:spcAft>
                <a:spcPts val="600"/>
              </a:spcAft>
            </a:pPr>
            <a:r>
              <a:rPr sz="1050" b="1">
                <a:solidFill>
                  <a:srgbClr val="1E293B"/>
                </a:solidFill>
                <a:latin typeface="Arial" panose="020B0604020202020204"/>
              </a:rPr>
              <a:t>23 Mẫu kinh điển Gang of Four (GoF): </a:t>
            </a:r>
            <a:endParaRPr sz="1050" b="1">
              <a:solidFill>
                <a:srgbClr val="1E293B"/>
              </a:solidFill>
              <a:latin typeface="Arial" panose="020B0604020202020204"/>
            </a:endParaRPr>
          </a:p>
          <a:p>
            <a:pPr lvl="2">
              <a:lnSpc>
                <a:spcPct val="115000"/>
              </a:lnSpc>
              <a:spcAft>
                <a:spcPts val="600"/>
              </a:spcAft>
            </a:pPr>
            <a:r>
              <a:rPr sz="1050" b="1">
                <a:solidFill>
                  <a:srgbClr val="1E293B"/>
                </a:solidFill>
                <a:latin typeface="Arial" panose="020B0604020202020204"/>
              </a:rPr>
              <a:t>• Creational (Khởi tạo): </a:t>
            </a:r>
            <a:r>
              <a:rPr sz="1000">
                <a:solidFill>
                  <a:srgbClr val="1E293B"/>
                </a:solidFill>
                <a:latin typeface="Arial" panose="020B0604020202020204"/>
              </a:rPr>
              <a:t>Factory Method, Singleton, Builder, Prototype.</a:t>
            </a:r>
            <a:endParaRPr sz="1000">
              <a:solidFill>
                <a:srgbClr val="1E293B"/>
              </a:solidFill>
              <a:latin typeface="Arial" panose="020B0604020202020204"/>
            </a:endParaRPr>
          </a:p>
          <a:p>
            <a:pPr lvl="2">
              <a:lnSpc>
                <a:spcPct val="115000"/>
              </a:lnSpc>
              <a:spcAft>
                <a:spcPts val="600"/>
              </a:spcAft>
            </a:pPr>
            <a:r>
              <a:rPr sz="1050" b="1">
                <a:solidFill>
                  <a:srgbClr val="1E293B"/>
                </a:solidFill>
                <a:latin typeface="Arial" panose="020B0604020202020204"/>
              </a:rPr>
              <a:t>• Structural (Cấu trúc): </a:t>
            </a:r>
            <a:r>
              <a:rPr sz="1000">
                <a:solidFill>
                  <a:srgbClr val="1E293B"/>
                </a:solidFill>
                <a:latin typeface="Arial" panose="020B0604020202020204"/>
              </a:rPr>
              <a:t>Adapter, Facade, Composite, Proxy, Decorator.</a:t>
            </a:r>
            <a:endParaRPr sz="1000">
              <a:solidFill>
                <a:srgbClr val="1E293B"/>
              </a:solidFill>
              <a:latin typeface="Arial" panose="020B0604020202020204"/>
            </a:endParaRPr>
          </a:p>
          <a:p>
            <a:pPr lvl="2">
              <a:lnSpc>
                <a:spcPct val="115000"/>
              </a:lnSpc>
              <a:spcAft>
                <a:spcPts val="600"/>
              </a:spcAft>
            </a:pPr>
            <a:r>
              <a:rPr sz="1050" b="1">
                <a:solidFill>
                  <a:srgbClr val="1E293B"/>
                </a:solidFill>
                <a:latin typeface="Arial" panose="020B0604020202020204"/>
              </a:rPr>
              <a:t>• Behavioral (Hành vi): </a:t>
            </a:r>
            <a:r>
              <a:rPr sz="1000">
                <a:solidFill>
                  <a:srgbClr val="1E293B"/>
                </a:solidFill>
                <a:latin typeface="Arial" panose="020B0604020202020204"/>
              </a:rPr>
              <a:t>Strategy, Observer, Template Method, State.</a:t>
            </a:r>
            <a:endParaRPr sz="1000">
              <a:solidFill>
                <a:srgbClr val="1E293B"/>
              </a:solidFill>
              <a:latin typeface="Arial" panose="020B0604020202020204"/>
            </a:endParaRPr>
          </a:p>
          <a:p>
            <a:pPr lvl="1">
              <a:lnSpc>
                <a:spcPct val="115000"/>
              </a:lnSpc>
              <a:spcAft>
                <a:spcPts val="600"/>
              </a:spcAft>
            </a:pPr>
            <a:r>
              <a:rPr sz="1050" b="1">
                <a:solidFill>
                  <a:srgbClr val="1E293B"/>
                </a:solidFill>
                <a:latin typeface="Arial" panose="020B0604020202020204"/>
              </a:rPr>
              <a:t>Ứng dụng nhà hàng: </a:t>
            </a:r>
            <a:r>
              <a:rPr sz="1000">
                <a:solidFill>
                  <a:srgbClr val="1E293B"/>
                </a:solidFill>
                <a:latin typeface="Arial" panose="020B0604020202020204"/>
              </a:rPr>
              <a:t>Template Method (Controller base), Strategy (Thanh toán), Table Data Gateway (Model base).</a:t>
            </a:r>
            <a:endParaRPr sz="1000">
              <a:solidFill>
                <a:srgbClr val="1E293B"/>
              </a:solidFill>
              <a:latin typeface="Arial" panose="020B0604020202020204"/>
            </a:endParaRPr>
          </a:p>
        </p:txBody>
      </p:sp>
      <p:sp>
        <p:nvSpPr>
          <p:cNvPr id="7" name="Rounded Rectangle 6"/>
          <p:cNvSpPr/>
          <p:nvPr/>
        </p:nvSpPr>
        <p:spPr>
          <a:xfrm>
            <a:off x="6263640" y="1645920"/>
            <a:ext cx="5166360" cy="4389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783080"/>
            <a:ext cx="4800600" cy="4114800"/>
          </a:xfrm>
          <a:prstGeom prst="rect">
            <a:avLst/>
          </a:prstGeom>
          <a:noFill/>
        </p:spPr>
        <p:txBody>
          <a:bodyPr wrap="square">
            <a:spAutoFit/>
          </a:bodyPr>
          <a:lstStyle/>
          <a:p>
            <a:pPr>
              <a:lnSpc>
                <a:spcPct val="115000"/>
              </a:lnSpc>
              <a:spcAft>
                <a:spcPts val="800"/>
              </a:spcAft>
            </a:pPr>
            <a:r>
              <a:rPr sz="1150" b="1">
                <a:solidFill>
                  <a:srgbClr val="1F4E79"/>
                </a:solidFill>
                <a:latin typeface="Arial" panose="020B0604020202020204"/>
              </a:rPr>
              <a:t>TẦNG VI MÔ: THÀNH NGỮ NGÔN NGỮ (MICRO) </a:t>
            </a:r>
            <a:r>
              <a:rPr sz="1100">
                <a:solidFill>
                  <a:srgbClr val="1E293B"/>
                </a:solidFill>
                <a:latin typeface="Arial" panose="020B0604020202020204"/>
              </a:rPr>
              <a:t>Phạm vi: Dòng lệnh, biểu thức cú pháp cụ thể của ngôn ngữ.</a:t>
            </a:r>
            <a:endParaRPr sz="1100">
              <a:solidFill>
                <a:srgbClr val="1E293B"/>
              </a:solidFill>
              <a:latin typeface="Arial" panose="020B0604020202020204"/>
            </a:endParaRPr>
          </a:p>
          <a:p>
            <a:pPr lvl="1">
              <a:lnSpc>
                <a:spcPct val="115000"/>
              </a:lnSpc>
              <a:spcAft>
                <a:spcPts val="600"/>
              </a:spcAft>
            </a:pPr>
            <a:r>
              <a:rPr sz="1050" b="1">
                <a:solidFill>
                  <a:srgbClr val="1E293B"/>
                </a:solidFill>
                <a:latin typeface="Arial" panose="020B0604020202020204"/>
              </a:rPr>
              <a:t>Đặc trưng: </a:t>
            </a:r>
            <a:r>
              <a:rPr sz="1000">
                <a:solidFill>
                  <a:srgbClr val="1E293B"/>
                </a:solidFill>
                <a:latin typeface="Arial" panose="020B0604020202020204"/>
              </a:rPr>
              <a:t>Gắn chặt với cú pháp đặc thù; hướng dẫn viết mã an toàn bộ nhớ, tối ưu hiệu năng và trong sáng ngữ nghĩa.</a:t>
            </a:r>
            <a:endParaRPr sz="1000">
              <a:solidFill>
                <a:srgbClr val="1E293B"/>
              </a:solidFill>
              <a:latin typeface="Arial" panose="020B0604020202020204"/>
            </a:endParaRPr>
          </a:p>
          <a:p>
            <a:pPr lvl="1">
              <a:lnSpc>
                <a:spcPct val="115000"/>
              </a:lnSpc>
              <a:spcAft>
                <a:spcPts val="600"/>
              </a:spcAft>
            </a:pPr>
            <a:r>
              <a:rPr sz="1050" b="1">
                <a:solidFill>
                  <a:srgbClr val="1E293B"/>
                </a:solidFill>
                <a:latin typeface="Arial" panose="020B0604020202020204"/>
              </a:rPr>
              <a:t>Ví dụ đa ngôn ngữ: </a:t>
            </a:r>
            <a:endParaRPr sz="1050" b="1">
              <a:solidFill>
                <a:srgbClr val="1E293B"/>
              </a:solidFill>
              <a:latin typeface="Arial" panose="020B0604020202020204"/>
            </a:endParaRPr>
          </a:p>
          <a:p>
            <a:pPr lvl="2">
              <a:lnSpc>
                <a:spcPct val="115000"/>
              </a:lnSpc>
              <a:spcAft>
                <a:spcPts val="600"/>
              </a:spcAft>
            </a:pPr>
            <a:r>
              <a:rPr sz="1050" b="1">
                <a:solidFill>
                  <a:srgbClr val="1E293B"/>
                </a:solidFill>
                <a:latin typeface="Arial" panose="020B0604020202020204"/>
              </a:rPr>
              <a:t>• C++: </a:t>
            </a:r>
            <a:r>
              <a:rPr sz="1000">
                <a:solidFill>
                  <a:srgbClr val="1E293B"/>
                </a:solidFill>
                <a:latin typeface="Arial" panose="020B0604020202020204"/>
              </a:rPr>
              <a:t>Cú pháp RAII tự động giải phóng bộ nhớ khi con trỏ ra khỏi scope.</a:t>
            </a:r>
            <a:endParaRPr sz="1000">
              <a:solidFill>
                <a:srgbClr val="1E293B"/>
              </a:solidFill>
              <a:latin typeface="Arial" panose="020B0604020202020204"/>
            </a:endParaRPr>
          </a:p>
          <a:p>
            <a:pPr lvl="2">
              <a:lnSpc>
                <a:spcPct val="115000"/>
              </a:lnSpc>
              <a:spcAft>
                <a:spcPts val="600"/>
              </a:spcAft>
            </a:pPr>
            <a:r>
              <a:rPr sz="1050" b="1">
                <a:solidFill>
                  <a:srgbClr val="1E293B"/>
                </a:solidFill>
                <a:latin typeface="Arial" panose="020B0604020202020204"/>
              </a:rPr>
              <a:t>• Python: </a:t>
            </a:r>
            <a:r>
              <a:rPr sz="1000">
                <a:solidFill>
                  <a:srgbClr val="1E293B"/>
                </a:solidFill>
                <a:latin typeface="Arial" panose="020B0604020202020204"/>
              </a:rPr>
              <a:t>List Comprehension, Context Manager (with), Decorator (@).</a:t>
            </a:r>
            <a:endParaRPr sz="1000">
              <a:solidFill>
                <a:srgbClr val="1E293B"/>
              </a:solidFill>
              <a:latin typeface="Arial" panose="020B0604020202020204"/>
            </a:endParaRPr>
          </a:p>
          <a:p>
            <a:pPr lvl="2">
              <a:lnSpc>
                <a:spcPct val="115000"/>
              </a:lnSpc>
              <a:spcAft>
                <a:spcPts val="600"/>
              </a:spcAft>
            </a:pPr>
            <a:r>
              <a:rPr sz="1050" b="1">
                <a:solidFill>
                  <a:srgbClr val="1E293B"/>
                </a:solidFill>
                <a:latin typeface="Arial" panose="020B0604020202020204"/>
              </a:rPr>
              <a:t>• PHP: </a:t>
            </a:r>
            <a:r>
              <a:rPr sz="1000">
                <a:solidFill>
                  <a:srgbClr val="1E293B"/>
                </a:solidFill>
                <a:latin typeface="Arial" panose="020B0604020202020204"/>
              </a:rPr>
              <a:t>PDO Prepared Statements ($stmt-&gt;execute([:val])), Magic Methods, Flash Session PRG.</a:t>
            </a:r>
            <a:endParaRPr sz="1000">
              <a:solidFill>
                <a:srgbClr val="1E293B"/>
              </a:solidFill>
              <a:latin typeface="Arial" panose="020B0604020202020204"/>
            </a:endParaRPr>
          </a:p>
          <a:p>
            <a:pPr lvl="1">
              <a:lnSpc>
                <a:spcPct val="115000"/>
              </a:lnSpc>
              <a:spcAft>
                <a:spcPts val="600"/>
              </a:spcAft>
            </a:pPr>
            <a:r>
              <a:rPr sz="1050" b="1">
                <a:solidFill>
                  <a:srgbClr val="1E293B"/>
                </a:solidFill>
                <a:latin typeface="Arial" panose="020B0604020202020204"/>
              </a:rPr>
              <a:t>Ý nghĩa an ninh: </a:t>
            </a:r>
            <a:r>
              <a:rPr sz="1000">
                <a:solidFill>
                  <a:srgbClr val="1E293B"/>
                </a:solidFill>
                <a:latin typeface="Arial" panose="020B0604020202020204"/>
              </a:rPr>
              <a:t>Sử dụng đúng Idiom giúp triệt tiêu 100% lỗ hổng bảo mật cấp thấp như SQL Injection, XSS.</a:t>
            </a:r>
            <a:endParaRPr sz="1000">
              <a:solidFill>
                <a:srgbClr val="1E293B"/>
              </a:solidFill>
              <a:latin typeface="Arial" panose="020B060402020202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914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1005840"/>
          </a:xfrm>
          <a:prstGeom prst="rect">
            <a:avLst/>
          </a:prstGeom>
          <a:noFill/>
        </p:spPr>
        <p:txBody>
          <a:bodyPr wrap="square" lIns="0" tIns="0" rIns="0" bIns="0">
            <a:spAutoFit/>
          </a:bodyPr>
          <a:lstStyle/>
          <a:p>
            <a:pPr>
              <a:spcAft>
                <a:spcPts val="200"/>
              </a:spcAft>
            </a:pPr>
            <a:r>
              <a:rPr sz="950" b="1">
                <a:solidFill>
                  <a:srgbClr val="D97706"/>
                </a:solidFill>
                <a:latin typeface="Arial" panose="020B0604020202020204"/>
              </a:rPr>
              <a:t>PHẦN 2: PHÂN TÍCH PHỔ TRONG THIẾT KẾ KIẾN TRÚC (MỤC 3.3.1)</a:t>
            </a:r>
            <a:endParaRPr sz="950" b="1">
              <a:solidFill>
                <a:srgbClr val="D97706"/>
              </a:solidFill>
              <a:latin typeface="Arial" panose="020B0604020202020204"/>
            </a:endParaRPr>
          </a:p>
          <a:p>
            <a:pPr>
              <a:spcAft>
                <a:spcPts val="200"/>
              </a:spcAft>
            </a:pPr>
            <a:r>
              <a:rPr sz="1900" b="1">
                <a:solidFill>
                  <a:srgbClr val="0F2043"/>
                </a:solidFill>
                <a:latin typeface="Arial" panose="020B0604020202020204"/>
              </a:rPr>
              <a:t>2.3. MỐI QUAN HỆ TƯƠNG HỖ &amp; CƠ CHẾ ÁNH XẠ TOP-DOWN</a:t>
            </a:r>
            <a:endParaRPr sz="1900" b="1">
              <a:solidFill>
                <a:srgbClr val="0F2043"/>
              </a:solidFill>
              <a:latin typeface="Arial" panose="020B0604020202020204"/>
            </a:endParaRPr>
          </a:p>
          <a:p>
            <a:r>
              <a:rPr sz="1100" i="1">
                <a:solidFill>
                  <a:srgbClr val="64748B"/>
                </a:solidFill>
                <a:latin typeface="Arial" panose="020B0604020202020204"/>
              </a:rPr>
              <a:t>Dòng chảy từ chiến lược vĩ mô đến dòng lệnh và phòng chống xói mòn kiến trúc</a:t>
            </a:r>
            <a:endParaRPr sz="1100" i="1">
              <a:solidFill>
                <a:srgbClr val="64748B"/>
              </a:solidFill>
              <a:latin typeface="Arial" panose="020B0604020202020204"/>
            </a:endParaRPr>
          </a:p>
        </p:txBody>
      </p:sp>
      <p:sp>
        <p:nvSpPr>
          <p:cNvPr id="4" name="TextBox 3"/>
          <p:cNvSpPr txBox="1"/>
          <p:nvPr/>
        </p:nvSpPr>
        <p:spPr>
          <a:xfrm>
            <a:off x="731520" y="6400800"/>
            <a:ext cx="10698480" cy="320040"/>
          </a:xfrm>
          <a:prstGeom prst="rect">
            <a:avLst/>
          </a:prstGeom>
          <a:noFill/>
        </p:spPr>
        <p:txBody>
          <a:bodyPr wrap="none" lIns="0" tIns="0" rIns="0" bIns="0">
            <a:spAutoFit/>
          </a:bodyPr>
          <a:lstStyle/>
          <a:p>
            <a:r>
              <a:rPr sz="850">
                <a:solidFill>
                  <a:srgbClr val="64748B"/>
                </a:solidFill>
                <a:latin typeface="Arial" panose="020B0604020202020204"/>
              </a:rPr>
              <a:t>Học phần: Kiến trúc và Thiết kế Phần mềm — Báo cáo Chương 3: Thiết kế Kiến trúc | Dự án: php-restaurant</a:t>
            </a:r>
            <a:r>
              <a:rPr sz="850" b="1">
                <a:solidFill>
                  <a:srgbClr val="1F4E79"/>
                </a:solidFill>
                <a:latin typeface="Arial" panose="020B0604020202020204"/>
              </a:rPr>
              <a:t>             Slide 11 / 20</a:t>
            </a:r>
            <a:endParaRPr sz="850" b="1">
              <a:solidFill>
                <a:srgbClr val="1F4E79"/>
              </a:solidFill>
              <a:latin typeface="Arial" panose="020B0604020202020204"/>
            </a:endParaRPr>
          </a:p>
        </p:txBody>
      </p:sp>
      <p:sp>
        <p:nvSpPr>
          <p:cNvPr id="5" name="Rounded Rectangle 4"/>
          <p:cNvSpPr/>
          <p:nvPr/>
        </p:nvSpPr>
        <p:spPr>
          <a:xfrm>
            <a:off x="731520" y="1645920"/>
            <a:ext cx="10698480" cy="4389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28800"/>
            <a:ext cx="10149840" cy="4023360"/>
          </a:xfrm>
          <a:prstGeom prst="rect">
            <a:avLst/>
          </a:prstGeom>
          <a:noFill/>
        </p:spPr>
        <p:txBody>
          <a:bodyPr wrap="square">
            <a:spAutoFit/>
          </a:bodyPr>
          <a:lstStyle/>
          <a:p>
            <a:pPr>
              <a:lnSpc>
                <a:spcPct val="115000"/>
              </a:lnSpc>
              <a:spcAft>
                <a:spcPts val="600"/>
              </a:spcAft>
            </a:pPr>
            <a:r>
              <a:rPr sz="1150" b="1">
                <a:solidFill>
                  <a:srgbClr val="1F4E79"/>
                </a:solidFill>
                <a:latin typeface="Arial" panose="020B0604020202020204"/>
              </a:rPr>
              <a:t>Cơ chế Ánh xạ Top-Down (Từ Chiến lược đến Hiện thực): </a:t>
            </a:r>
            <a:r>
              <a:rPr sz="1100">
                <a:solidFill>
                  <a:srgbClr val="1E293B"/>
                </a:solidFill>
                <a:latin typeface="Arial" panose="020B0604020202020204"/>
              </a:rPr>
              <a:t>Các tầng trên phổ không tồn tại độc lập mà tương hỗ chặt chẽ:</a:t>
            </a:r>
            <a:endParaRPr sz="1100">
              <a:solidFill>
                <a:srgbClr val="1E293B"/>
              </a:solidFill>
              <a:latin typeface="Arial" panose="020B0604020202020204"/>
            </a:endParaRPr>
          </a:p>
          <a:p>
            <a:pPr lvl="1">
              <a:lnSpc>
                <a:spcPct val="115000"/>
              </a:lnSpc>
              <a:spcAft>
                <a:spcPts val="600"/>
              </a:spcAft>
            </a:pPr>
            <a:r>
              <a:rPr sz="1050" b="1">
                <a:solidFill>
                  <a:srgbClr val="1E293B"/>
                </a:solidFill>
                <a:latin typeface="Arial" panose="020B0604020202020204"/>
              </a:rPr>
              <a:t>1. Architectural Pattern (Chiến lược): </a:t>
            </a:r>
            <a:r>
              <a:rPr sz="1000">
                <a:solidFill>
                  <a:srgbClr val="1E293B"/>
                </a:solidFill>
                <a:latin typeface="Arial" panose="020B0604020202020204"/>
              </a:rPr>
              <a:t>Lựa chọn MVC định hình khung sườn phân tách Giao diện, Điều khiển và Dữ liệu.</a:t>
            </a:r>
            <a:endParaRPr sz="1000">
              <a:solidFill>
                <a:srgbClr val="1E293B"/>
              </a:solidFill>
              <a:latin typeface="Arial" panose="020B0604020202020204"/>
            </a:endParaRPr>
          </a:p>
          <a:p>
            <a:pPr lvl="1">
              <a:lnSpc>
                <a:spcPct val="115000"/>
              </a:lnSpc>
              <a:spcAft>
                <a:spcPts val="600"/>
              </a:spcAft>
            </a:pPr>
            <a:r>
              <a:rPr sz="1050" b="1">
                <a:solidFill>
                  <a:srgbClr val="1E293B"/>
                </a:solidFill>
                <a:latin typeface="Arial" panose="020B0604020202020204"/>
              </a:rPr>
              <a:t>2. Design Patterns (Chiến thuật): </a:t>
            </a:r>
            <a:r>
              <a:rPr sz="1000">
                <a:solidFill>
                  <a:srgbClr val="1E293B"/>
                </a:solidFill>
                <a:latin typeface="Arial" panose="020B0604020202020204"/>
              </a:rPr>
              <a:t>Controller dùng Front Controller + Template Method; Model dùng Table Data Gateway; Auth dùng RBAC.</a:t>
            </a:r>
            <a:endParaRPr sz="1000">
              <a:solidFill>
                <a:srgbClr val="1E293B"/>
              </a:solidFill>
              <a:latin typeface="Arial" panose="020B0604020202020204"/>
            </a:endParaRPr>
          </a:p>
          <a:p>
            <a:pPr lvl="1">
              <a:lnSpc>
                <a:spcPct val="115000"/>
              </a:lnSpc>
              <a:spcAft>
                <a:spcPts val="600"/>
              </a:spcAft>
            </a:pPr>
            <a:r>
              <a:rPr sz="1050" b="1">
                <a:solidFill>
                  <a:srgbClr val="1E293B"/>
                </a:solidFill>
                <a:latin typeface="Arial" panose="020B0604020202020204"/>
              </a:rPr>
              <a:t>3. Language Idioms (Thực thi): </a:t>
            </a:r>
            <a:r>
              <a:rPr sz="1000">
                <a:solidFill>
                  <a:srgbClr val="1E293B"/>
                </a:solidFill>
                <a:latin typeface="Arial" panose="020B0604020202020204"/>
              </a:rPr>
              <a:t>Hiện thực hóa bằng PDO Prepared Statements an toàn, Session Flash và JWT Bearer Token.</a:t>
            </a:r>
            <a:endParaRPr sz="1000">
              <a:solidFill>
                <a:srgbClr val="1E293B"/>
              </a:solidFill>
              <a:latin typeface="Arial" panose="020B0604020202020204"/>
            </a:endParaRPr>
          </a:p>
          <a:p>
            <a:pPr>
              <a:lnSpc>
                <a:spcPct val="115000"/>
              </a:lnSpc>
              <a:spcAft>
                <a:spcPts val="800"/>
              </a:spcAft>
            </a:pPr>
            <a:r>
              <a:rPr sz="1150" b="1">
                <a:solidFill>
                  <a:srgbClr val="1F4E79"/>
                </a:solidFill>
                <a:latin typeface="Arial" panose="020B0604020202020204"/>
              </a:rPr>
              <a:t>Phòng chống Xói mòn Kiến trúc (Architectural Decay / Erosion): </a:t>
            </a:r>
            <a:r>
              <a:rPr sz="1100">
                <a:solidFill>
                  <a:srgbClr val="1E293B"/>
                </a:solidFill>
                <a:latin typeface="Arial" panose="020B0604020202020204"/>
              </a:rPr>
              <a:t>Hiện tượng lập trình viên vi phạm quy tắc tầng bậc trên phổ, tùy tiện dùng idiom cấp thấp phá vỡ ràng buộc cấp cao (Ví dụ: viết code truy vấn SQL trực tiếp trong file View giao diện). Hành vi này biến hệ thống thành khối mã nguồn 'mì ăn liền' không thể kiểm thử.</a:t>
            </a:r>
            <a:endParaRPr sz="1100">
              <a:solidFill>
                <a:srgbClr val="1E293B"/>
              </a:solidFill>
              <a:latin typeface="Arial" panose="020B0604020202020204"/>
            </a:endParaRPr>
          </a:p>
          <a:p>
            <a:pPr>
              <a:lnSpc>
                <a:spcPct val="115000"/>
              </a:lnSpc>
              <a:spcAft>
                <a:spcPts val="800"/>
              </a:spcAft>
            </a:pPr>
            <a:r>
              <a:rPr sz="1150" b="1">
                <a:solidFill>
                  <a:srgbClr val="1F4E79"/>
                </a:solidFill>
                <a:latin typeface="Arial" panose="020B0604020202020204"/>
              </a:rPr>
              <a:t>Phòng chống Lạm dụng Mẫu (Over-Engineering / Pattern Mania): </a:t>
            </a:r>
            <a:r>
              <a:rPr sz="1100">
                <a:solidFill>
                  <a:srgbClr val="1E293B"/>
                </a:solidFill>
                <a:latin typeface="Arial" panose="020B0604020202020204"/>
              </a:rPr>
              <a:t>Áp dụng các mẫu GoF quá phức tạp (Abstract Factory, Visitor) cho các tác vụ CRUD đơn giản gây cồng kềnh bộ mã nguồn và lãng phí tài nguyên CPU.</a:t>
            </a:r>
            <a:endParaRPr sz="1100">
              <a:solidFill>
                <a:srgbClr val="1E293B"/>
              </a:solidFill>
              <a:latin typeface="Arial" panose="020B060402020202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914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1005840"/>
          </a:xfrm>
          <a:prstGeom prst="rect">
            <a:avLst/>
          </a:prstGeom>
          <a:noFill/>
        </p:spPr>
        <p:txBody>
          <a:bodyPr wrap="square" lIns="0" tIns="0" rIns="0" bIns="0">
            <a:spAutoFit/>
          </a:bodyPr>
          <a:lstStyle/>
          <a:p>
            <a:pPr>
              <a:spcAft>
                <a:spcPts val="200"/>
              </a:spcAft>
            </a:pPr>
            <a:r>
              <a:rPr sz="950" b="1">
                <a:solidFill>
                  <a:srgbClr val="D97706"/>
                </a:solidFill>
                <a:latin typeface="Arial" panose="020B0604020202020204"/>
              </a:rPr>
              <a:t>PHẦN 2: PHÂN TÍCH PHỔ TRONG THIẾT KẾ KIẾN TRÚC (MỤC 3.3.1)</a:t>
            </a:r>
            <a:endParaRPr sz="950" b="1">
              <a:solidFill>
                <a:srgbClr val="D97706"/>
              </a:solidFill>
              <a:latin typeface="Arial" panose="020B0604020202020204"/>
            </a:endParaRPr>
          </a:p>
          <a:p>
            <a:pPr>
              <a:spcAft>
                <a:spcPts val="200"/>
              </a:spcAft>
            </a:pPr>
            <a:r>
              <a:rPr sz="1900" b="1">
                <a:solidFill>
                  <a:srgbClr val="0F2043"/>
                </a:solidFill>
                <a:latin typeface="Arial" panose="020B0604020202020204"/>
              </a:rPr>
              <a:t>2.4. BẢN ĐỒ PHỔ MẪU CHIẾU VÀO SOURCE CODE PHP-RESTAURANT</a:t>
            </a:r>
            <a:endParaRPr sz="1900" b="1">
              <a:solidFill>
                <a:srgbClr val="0F2043"/>
              </a:solidFill>
              <a:latin typeface="Arial" panose="020B0604020202020204"/>
            </a:endParaRPr>
          </a:p>
          <a:p>
            <a:r>
              <a:rPr sz="1100" i="1">
                <a:solidFill>
                  <a:srgbClr val="64748B"/>
                </a:solidFill>
                <a:latin typeface="Arial" panose="020B0604020202020204"/>
              </a:rPr>
              <a:t>Minh chứng thực nghiệm 3 tầng phổ tương ứng với từng file mã nguồn trong dự án</a:t>
            </a:r>
            <a:endParaRPr sz="1100" i="1">
              <a:solidFill>
                <a:srgbClr val="64748B"/>
              </a:solidFill>
              <a:latin typeface="Arial" panose="020B0604020202020204"/>
            </a:endParaRPr>
          </a:p>
        </p:txBody>
      </p:sp>
      <p:sp>
        <p:nvSpPr>
          <p:cNvPr id="4" name="TextBox 3"/>
          <p:cNvSpPr txBox="1"/>
          <p:nvPr/>
        </p:nvSpPr>
        <p:spPr>
          <a:xfrm>
            <a:off x="731520" y="6400800"/>
            <a:ext cx="10698480" cy="320040"/>
          </a:xfrm>
          <a:prstGeom prst="rect">
            <a:avLst/>
          </a:prstGeom>
          <a:noFill/>
        </p:spPr>
        <p:txBody>
          <a:bodyPr wrap="none" lIns="0" tIns="0" rIns="0" bIns="0">
            <a:spAutoFit/>
          </a:bodyPr>
          <a:lstStyle/>
          <a:p>
            <a:r>
              <a:rPr sz="850">
                <a:solidFill>
                  <a:srgbClr val="64748B"/>
                </a:solidFill>
                <a:latin typeface="Arial" panose="020B0604020202020204"/>
              </a:rPr>
              <a:t>Học phần: Kiến trúc và Thiết kế Phần mềm — Báo cáo Chương 3: Thiết kế Kiến trúc | Dự án: php-restaurant</a:t>
            </a:r>
            <a:r>
              <a:rPr sz="850" b="1">
                <a:solidFill>
                  <a:srgbClr val="1F4E79"/>
                </a:solidFill>
                <a:latin typeface="Arial" panose="020B0604020202020204"/>
              </a:rPr>
              <a:t>             Slide 12 / 20</a:t>
            </a:r>
            <a:endParaRPr sz="850" b="1">
              <a:solidFill>
                <a:srgbClr val="1F4E79"/>
              </a:solidFill>
              <a:latin typeface="Arial" panose="020B0604020202020204"/>
            </a:endParaRPr>
          </a:p>
        </p:txBody>
      </p:sp>
      <p:graphicFrame>
        <p:nvGraphicFramePr>
          <p:cNvPr id="5" name="Table 4"/>
          <p:cNvGraphicFramePr>
            <a:graphicFrameLocks noGrp="1"/>
          </p:cNvGraphicFramePr>
          <p:nvPr/>
        </p:nvGraphicFramePr>
        <p:xfrm>
          <a:off x="731520" y="1645920"/>
          <a:ext cx="10698480" cy="4389120"/>
        </p:xfrm>
        <a:graphic>
          <a:graphicData uri="http://schemas.openxmlformats.org/drawingml/2006/table">
            <a:tbl>
              <a:tblPr firstRow="1" bandRow="1">
                <a:tableStyleId>{5C22544A-7EE6-4342-B048-85BDC9FD1C3A}</a:tableStyleId>
              </a:tblPr>
              <a:tblGrid>
                <a:gridCol w="2011680"/>
                <a:gridCol w="2103120"/>
                <a:gridCol w="2926080"/>
                <a:gridCol w="3657600"/>
              </a:tblGrid>
              <a:tr h="438912">
                <a:tc>
                  <a:txBody>
                    <a:bodyPr/>
                    <a:lstStyle/>
                    <a:p>
                      <a:pPr algn="l"/>
                      <a:r>
                        <a:rPr sz="950" b="1">
                          <a:solidFill>
                            <a:srgbClr val="FFFFFF"/>
                          </a:solidFill>
                          <a:latin typeface="Arial" panose="020B0604020202020204"/>
                        </a:rPr>
                        <a:t>Tầng Phổ Mẫu</a:t>
                      </a:r>
                      <a:endParaRPr sz="950" b="1">
                        <a:solidFill>
                          <a:srgbClr val="FFFFFF"/>
                        </a:solidFill>
                        <a:latin typeface="Arial" panose="020B0604020202020204"/>
                      </a:endParaRPr>
                    </a:p>
                  </a:txBody>
                  <a:tcPr>
                    <a:solidFill>
                      <a:srgbClr val="1F4E79"/>
                    </a:solidFill>
                  </a:tcPr>
                </a:tc>
                <a:tc>
                  <a:txBody>
                    <a:bodyPr/>
                    <a:lstStyle/>
                    <a:p>
                      <a:pPr algn="l"/>
                      <a:r>
                        <a:rPr sz="950" b="1">
                          <a:solidFill>
                            <a:srgbClr val="FFFFFF"/>
                          </a:solidFill>
                          <a:latin typeface="Arial" panose="020B0604020202020204"/>
                        </a:rPr>
                        <a:t>Tên Mẫu Áp Dụng</a:t>
                      </a:r>
                      <a:endParaRPr sz="950" b="1">
                        <a:solidFill>
                          <a:srgbClr val="FFFFFF"/>
                        </a:solidFill>
                        <a:latin typeface="Arial" panose="020B0604020202020204"/>
                      </a:endParaRPr>
                    </a:p>
                  </a:txBody>
                  <a:tcPr>
                    <a:solidFill>
                      <a:srgbClr val="1F4E79"/>
                    </a:solidFill>
                  </a:tcPr>
                </a:tc>
                <a:tc>
                  <a:txBody>
                    <a:bodyPr/>
                    <a:lstStyle/>
                    <a:p>
                      <a:pPr algn="l"/>
                      <a:r>
                        <a:rPr sz="950" b="1">
                          <a:solidFill>
                            <a:srgbClr val="FFFFFF"/>
                          </a:solidFill>
                          <a:latin typeface="Arial" panose="020B0604020202020204"/>
                        </a:rPr>
                        <a:t>Tệp Mã Nguồn Minh Chứng</a:t>
                      </a:r>
                      <a:endParaRPr sz="950" b="1">
                        <a:solidFill>
                          <a:srgbClr val="FFFFFF"/>
                        </a:solidFill>
                        <a:latin typeface="Arial" panose="020B0604020202020204"/>
                      </a:endParaRPr>
                    </a:p>
                  </a:txBody>
                  <a:tcPr>
                    <a:solidFill>
                      <a:srgbClr val="1F4E79"/>
                    </a:solidFill>
                  </a:tcPr>
                </a:tc>
                <a:tc>
                  <a:txBody>
                    <a:bodyPr/>
                    <a:lstStyle/>
                    <a:p>
                      <a:pPr algn="l"/>
                      <a:r>
                        <a:rPr sz="950" b="1">
                          <a:solidFill>
                            <a:srgbClr val="FFFFFF"/>
                          </a:solidFill>
                          <a:latin typeface="Arial" panose="020B0604020202020204"/>
                        </a:rPr>
                        <a:t>Trách Nhiệm Kỹ Thuật Trong Dự Án</a:t>
                      </a:r>
                      <a:endParaRPr sz="950" b="1">
                        <a:solidFill>
                          <a:srgbClr val="FFFFFF"/>
                        </a:solidFill>
                        <a:latin typeface="Arial" panose="020B0604020202020204"/>
                      </a:endParaRPr>
                    </a:p>
                  </a:txBody>
                  <a:tcPr>
                    <a:solidFill>
                      <a:srgbClr val="1F4E79"/>
                    </a:solidFill>
                  </a:tcPr>
                </a:tc>
              </a:tr>
              <a:tr h="438912">
                <a:tc>
                  <a:txBody>
                    <a:bodyPr/>
                    <a:lstStyle/>
                    <a:p>
                      <a:pPr algn="l"/>
                      <a:r>
                        <a:rPr sz="850" b="1">
                          <a:solidFill>
                            <a:srgbClr val="1E293B"/>
                          </a:solidFill>
                          <a:latin typeface="Arial" panose="020B0604020202020204"/>
                        </a:rPr>
                        <a:t>Tầng Kiến trúc (Macro)</a:t>
                      </a:r>
                      <a:endParaRPr sz="850" b="1">
                        <a:solidFill>
                          <a:srgbClr val="1E293B"/>
                        </a:solidFill>
                        <a:latin typeface="Arial" panose="020B0604020202020204"/>
                      </a:endParaRPr>
                    </a:p>
                  </a:txBody>
                  <a:tcPr>
                    <a:solidFill>
                      <a:srgbClr val="F8FAFC"/>
                    </a:solidFill>
                  </a:tcPr>
                </a:tc>
                <a:tc>
                  <a:txBody>
                    <a:bodyPr/>
                    <a:lstStyle/>
                    <a:p>
                      <a:pPr algn="l"/>
                      <a:r>
                        <a:rPr sz="850">
                          <a:solidFill>
                            <a:srgbClr val="0F2043"/>
                          </a:solidFill>
                          <a:latin typeface="Arial" panose="020B0604020202020204"/>
                        </a:rPr>
                        <a:t>Monolithic 3-Tier MVC</a:t>
                      </a:r>
                      <a:endParaRPr sz="850">
                        <a:solidFill>
                          <a:srgbClr val="0F2043"/>
                        </a:solidFill>
                        <a:latin typeface="Arial" panose="020B0604020202020204"/>
                      </a:endParaRPr>
                    </a:p>
                  </a:txBody>
                  <a:tcPr>
                    <a:solidFill>
                      <a:srgbClr val="F8FAFC"/>
                    </a:solidFill>
                  </a:tcPr>
                </a:tc>
                <a:tc>
                  <a:txBody>
                    <a:bodyPr/>
                    <a:lstStyle/>
                    <a:p>
                      <a:pPr algn="l"/>
                      <a:r>
                        <a:rPr sz="850">
                          <a:solidFill>
                            <a:srgbClr val="1E293B"/>
                          </a:solidFill>
                          <a:latin typeface="Arial" panose="020B0604020202020204"/>
                        </a:rPr>
                        <a:t>core/App.php, core/Controller.php, core/Model.php</a:t>
                      </a:r>
                      <a:endParaRPr sz="850">
                        <a:solidFill>
                          <a:srgbClr val="1E293B"/>
                        </a:solidFill>
                        <a:latin typeface="Arial" panose="020B0604020202020204"/>
                      </a:endParaRPr>
                    </a:p>
                  </a:txBody>
                  <a:tcPr>
                    <a:solidFill>
                      <a:srgbClr val="F8FAFC"/>
                    </a:solidFill>
                  </a:tcPr>
                </a:tc>
                <a:tc>
                  <a:txBody>
                    <a:bodyPr/>
                    <a:lstStyle/>
                    <a:p>
                      <a:pPr algn="l"/>
                      <a:r>
                        <a:rPr sz="850">
                          <a:solidFill>
                            <a:srgbClr val="1E293B"/>
                          </a:solidFill>
                          <a:latin typeface="Arial" panose="020B0604020202020204"/>
                        </a:rPr>
                        <a:t>Định hình khung xương hệ thống, phân ranh giới View, Controller và Model.</a:t>
                      </a:r>
                      <a:endParaRPr sz="850">
                        <a:solidFill>
                          <a:srgbClr val="1E293B"/>
                        </a:solidFill>
                        <a:latin typeface="Arial" panose="020B0604020202020204"/>
                      </a:endParaRPr>
                    </a:p>
                  </a:txBody>
                  <a:tcPr>
                    <a:solidFill>
                      <a:srgbClr val="F8FAFC"/>
                    </a:solidFill>
                  </a:tcPr>
                </a:tc>
              </a:tr>
              <a:tr h="438912">
                <a:tc>
                  <a:txBody>
                    <a:bodyPr/>
                    <a:lstStyle/>
                    <a:p>
                      <a:pPr algn="l"/>
                      <a:r>
                        <a:rPr sz="850" b="1">
                          <a:solidFill>
                            <a:srgbClr val="1E293B"/>
                          </a:solidFill>
                          <a:latin typeface="Arial" panose="020B0604020202020204"/>
                        </a:rPr>
                        <a:t>Tầng Thiết kế (Meso)</a:t>
                      </a:r>
                      <a:endParaRPr sz="850" b="1">
                        <a:solidFill>
                          <a:srgbClr val="1E293B"/>
                        </a:solidFill>
                        <a:latin typeface="Arial" panose="020B0604020202020204"/>
                      </a:endParaRPr>
                    </a:p>
                  </a:txBody>
                  <a:tcPr>
                    <a:solidFill>
                      <a:srgbClr val="FFFFFF"/>
                    </a:solidFill>
                  </a:tcPr>
                </a:tc>
                <a:tc>
                  <a:txBody>
                    <a:bodyPr/>
                    <a:lstStyle/>
                    <a:p>
                      <a:pPr algn="l"/>
                      <a:r>
                        <a:rPr sz="850">
                          <a:solidFill>
                            <a:srgbClr val="0F2043"/>
                          </a:solidFill>
                          <a:latin typeface="Arial" panose="020B0604020202020204"/>
                        </a:rPr>
                        <a:t>Front Controller Pattern</a:t>
                      </a:r>
                      <a:endParaRPr sz="850">
                        <a:solidFill>
                          <a:srgbClr val="0F2043"/>
                        </a:solidFill>
                        <a:latin typeface="Arial" panose="020B0604020202020204"/>
                      </a:endParaRPr>
                    </a:p>
                  </a:txBody>
                  <a:tcPr>
                    <a:solidFill>
                      <a:srgbClr val="FFFFFF"/>
                    </a:solidFill>
                  </a:tcPr>
                </a:tc>
                <a:tc>
                  <a:txBody>
                    <a:bodyPr/>
                    <a:lstStyle/>
                    <a:p>
                      <a:pPr algn="l"/>
                      <a:r>
                        <a:rPr sz="850">
                          <a:solidFill>
                            <a:srgbClr val="1E293B"/>
                          </a:solidFill>
                          <a:latin typeface="Arial" panose="020B0604020202020204"/>
                        </a:rPr>
                        <a:t>index.php, .htaccess, core/App.php</a:t>
                      </a:r>
                      <a:endParaRPr sz="850">
                        <a:solidFill>
                          <a:srgbClr val="1E293B"/>
                        </a:solidFill>
                        <a:latin typeface="Arial" panose="020B0604020202020204"/>
                      </a:endParaRPr>
                    </a:p>
                  </a:txBody>
                  <a:tcPr>
                    <a:solidFill>
                      <a:srgbClr val="FFFFFF"/>
                    </a:solidFill>
                  </a:tcPr>
                </a:tc>
                <a:tc>
                  <a:txBody>
                    <a:bodyPr/>
                    <a:lstStyle/>
                    <a:p>
                      <a:pPr algn="l"/>
                      <a:r>
                        <a:rPr sz="850">
                          <a:solidFill>
                            <a:srgbClr val="1E293B"/>
                          </a:solidFill>
                          <a:latin typeface="Arial" panose="020B0604020202020204"/>
                        </a:rPr>
                        <a:t>Điểm tiếp nhận tập trung, điều hướng URL /{controller}/{method}/{params}.</a:t>
                      </a:r>
                      <a:endParaRPr sz="850">
                        <a:solidFill>
                          <a:srgbClr val="1E293B"/>
                        </a:solidFill>
                        <a:latin typeface="Arial" panose="020B0604020202020204"/>
                      </a:endParaRPr>
                    </a:p>
                  </a:txBody>
                  <a:tcPr>
                    <a:solidFill>
                      <a:srgbClr val="FFFFFF"/>
                    </a:solidFill>
                  </a:tcPr>
                </a:tc>
              </a:tr>
              <a:tr h="438912">
                <a:tc>
                  <a:txBody>
                    <a:bodyPr/>
                    <a:lstStyle/>
                    <a:p>
                      <a:pPr algn="l"/>
                      <a:r>
                        <a:rPr sz="850" b="1">
                          <a:solidFill>
                            <a:srgbClr val="1E293B"/>
                          </a:solidFill>
                          <a:latin typeface="Arial" panose="020B0604020202020204"/>
                        </a:rPr>
                        <a:t>Tầng Thiết kế (Meso)</a:t>
                      </a:r>
                      <a:endParaRPr sz="850" b="1">
                        <a:solidFill>
                          <a:srgbClr val="1E293B"/>
                        </a:solidFill>
                        <a:latin typeface="Arial" panose="020B0604020202020204"/>
                      </a:endParaRPr>
                    </a:p>
                  </a:txBody>
                  <a:tcPr>
                    <a:solidFill>
                      <a:srgbClr val="F8FAFC"/>
                    </a:solidFill>
                  </a:tcPr>
                </a:tc>
                <a:tc>
                  <a:txBody>
                    <a:bodyPr/>
                    <a:lstStyle/>
                    <a:p>
                      <a:pPr algn="l"/>
                      <a:r>
                        <a:rPr sz="850">
                          <a:solidFill>
                            <a:srgbClr val="0F2043"/>
                          </a:solidFill>
                          <a:latin typeface="Arial" panose="020B0604020202020204"/>
                        </a:rPr>
                        <a:t>Template Method Pattern</a:t>
                      </a:r>
                      <a:endParaRPr sz="850">
                        <a:solidFill>
                          <a:srgbClr val="0F2043"/>
                        </a:solidFill>
                        <a:latin typeface="Arial" panose="020B0604020202020204"/>
                      </a:endParaRPr>
                    </a:p>
                  </a:txBody>
                  <a:tcPr>
                    <a:solidFill>
                      <a:srgbClr val="F8FAFC"/>
                    </a:solidFill>
                  </a:tcPr>
                </a:tc>
                <a:tc>
                  <a:txBody>
                    <a:bodyPr/>
                    <a:lstStyle/>
                    <a:p>
                      <a:pPr algn="l"/>
                      <a:r>
                        <a:rPr sz="850">
                          <a:solidFill>
                            <a:srgbClr val="1E293B"/>
                          </a:solidFill>
                          <a:latin typeface="Arial" panose="020B0604020202020204"/>
                        </a:rPr>
                        <a:t>core/Controller.php</a:t>
                      </a:r>
                      <a:endParaRPr sz="850">
                        <a:solidFill>
                          <a:srgbClr val="1E293B"/>
                        </a:solidFill>
                        <a:latin typeface="Arial" panose="020B0604020202020204"/>
                      </a:endParaRPr>
                    </a:p>
                  </a:txBody>
                  <a:tcPr>
                    <a:solidFill>
                      <a:srgbClr val="F8FAFC"/>
                    </a:solidFill>
                  </a:tcPr>
                </a:tc>
                <a:tc>
                  <a:txBody>
                    <a:bodyPr/>
                    <a:lstStyle/>
                    <a:p>
                      <a:pPr algn="l"/>
                      <a:r>
                        <a:rPr sz="850">
                          <a:solidFill>
                            <a:srgbClr val="1E293B"/>
                          </a:solidFill>
                          <a:latin typeface="Arial" panose="020B0604020202020204"/>
                        </a:rPr>
                        <a:t>Cung cấp khung xương tái sử dụng: view(), model(), jsonResponse(), requireRoles().</a:t>
                      </a:r>
                      <a:endParaRPr sz="850">
                        <a:solidFill>
                          <a:srgbClr val="1E293B"/>
                        </a:solidFill>
                        <a:latin typeface="Arial" panose="020B0604020202020204"/>
                      </a:endParaRPr>
                    </a:p>
                  </a:txBody>
                  <a:tcPr>
                    <a:solidFill>
                      <a:srgbClr val="F8FAFC"/>
                    </a:solidFill>
                  </a:tcPr>
                </a:tc>
              </a:tr>
              <a:tr h="438912">
                <a:tc>
                  <a:txBody>
                    <a:bodyPr/>
                    <a:lstStyle/>
                    <a:p>
                      <a:pPr algn="l"/>
                      <a:r>
                        <a:rPr sz="850" b="1">
                          <a:solidFill>
                            <a:srgbClr val="1E293B"/>
                          </a:solidFill>
                          <a:latin typeface="Arial" panose="020B0604020202020204"/>
                        </a:rPr>
                        <a:t>Tầng Thiết kế (Meso)</a:t>
                      </a:r>
                      <a:endParaRPr sz="850" b="1">
                        <a:solidFill>
                          <a:srgbClr val="1E293B"/>
                        </a:solidFill>
                        <a:latin typeface="Arial" panose="020B0604020202020204"/>
                      </a:endParaRPr>
                    </a:p>
                  </a:txBody>
                  <a:tcPr>
                    <a:solidFill>
                      <a:srgbClr val="FFFFFF"/>
                    </a:solidFill>
                  </a:tcPr>
                </a:tc>
                <a:tc>
                  <a:txBody>
                    <a:bodyPr/>
                    <a:lstStyle/>
                    <a:p>
                      <a:pPr algn="l"/>
                      <a:r>
                        <a:rPr sz="850">
                          <a:solidFill>
                            <a:srgbClr val="0F2043"/>
                          </a:solidFill>
                          <a:latin typeface="Arial" panose="020B0604020202020204"/>
                        </a:rPr>
                        <a:t>Table Data Gateway Pattern</a:t>
                      </a:r>
                      <a:endParaRPr sz="850">
                        <a:solidFill>
                          <a:srgbClr val="0F2043"/>
                        </a:solidFill>
                        <a:latin typeface="Arial" panose="020B0604020202020204"/>
                      </a:endParaRPr>
                    </a:p>
                  </a:txBody>
                  <a:tcPr>
                    <a:solidFill>
                      <a:srgbClr val="FFFFFF"/>
                    </a:solidFill>
                  </a:tcPr>
                </a:tc>
                <a:tc>
                  <a:txBody>
                    <a:bodyPr/>
                    <a:lstStyle/>
                    <a:p>
                      <a:pPr algn="l"/>
                      <a:r>
                        <a:rPr sz="850">
                          <a:solidFill>
                            <a:srgbClr val="1E293B"/>
                          </a:solidFill>
                          <a:latin typeface="Arial" panose="020B0604020202020204"/>
                        </a:rPr>
                        <a:t>core/Model.php, app/models/InventoryReceipt.php</a:t>
                      </a:r>
                      <a:endParaRPr sz="850">
                        <a:solidFill>
                          <a:srgbClr val="1E293B"/>
                        </a:solidFill>
                        <a:latin typeface="Arial" panose="020B0604020202020204"/>
                      </a:endParaRPr>
                    </a:p>
                  </a:txBody>
                  <a:tcPr>
                    <a:solidFill>
                      <a:srgbClr val="FFFFFF"/>
                    </a:solidFill>
                  </a:tcPr>
                </a:tc>
                <a:tc>
                  <a:txBody>
                    <a:bodyPr/>
                    <a:lstStyle/>
                    <a:p>
                      <a:pPr algn="l"/>
                      <a:r>
                        <a:rPr sz="850">
                          <a:solidFill>
                            <a:srgbClr val="1E293B"/>
                          </a:solidFill>
                          <a:latin typeface="Arial" panose="020B0604020202020204"/>
                        </a:rPr>
                        <a:t>Đóng gói các thao tác CRUD CSDL (find, where, insert, update), cách ly SQL.</a:t>
                      </a:r>
                      <a:endParaRPr sz="850">
                        <a:solidFill>
                          <a:srgbClr val="1E293B"/>
                        </a:solidFill>
                        <a:latin typeface="Arial" panose="020B0604020202020204"/>
                      </a:endParaRPr>
                    </a:p>
                  </a:txBody>
                  <a:tcPr>
                    <a:solidFill>
                      <a:srgbClr val="FFFFFF"/>
                    </a:solidFill>
                  </a:tcPr>
                </a:tc>
              </a:tr>
              <a:tr h="438912">
                <a:tc>
                  <a:txBody>
                    <a:bodyPr/>
                    <a:lstStyle/>
                    <a:p>
                      <a:pPr algn="l"/>
                      <a:r>
                        <a:rPr sz="850" b="1">
                          <a:solidFill>
                            <a:srgbClr val="1E293B"/>
                          </a:solidFill>
                          <a:latin typeface="Arial" panose="020B0604020202020204"/>
                        </a:rPr>
                        <a:t>Tầng Thiết kế (Meso)</a:t>
                      </a:r>
                      <a:endParaRPr sz="850" b="1">
                        <a:solidFill>
                          <a:srgbClr val="1E293B"/>
                        </a:solidFill>
                        <a:latin typeface="Arial" panose="020B0604020202020204"/>
                      </a:endParaRPr>
                    </a:p>
                  </a:txBody>
                  <a:tcPr>
                    <a:solidFill>
                      <a:srgbClr val="F8FAFC"/>
                    </a:solidFill>
                  </a:tcPr>
                </a:tc>
                <a:tc>
                  <a:txBody>
                    <a:bodyPr/>
                    <a:lstStyle/>
                    <a:p>
                      <a:pPr algn="l"/>
                      <a:r>
                        <a:rPr sz="850">
                          <a:solidFill>
                            <a:srgbClr val="0F2043"/>
                          </a:solidFill>
                          <a:latin typeface="Arial" panose="020B0604020202020204"/>
                        </a:rPr>
                        <a:t>RBAC (Phân quyền 6 vai trò)</a:t>
                      </a:r>
                      <a:endParaRPr sz="850">
                        <a:solidFill>
                          <a:srgbClr val="0F2043"/>
                        </a:solidFill>
                        <a:latin typeface="Arial" panose="020B0604020202020204"/>
                      </a:endParaRPr>
                    </a:p>
                  </a:txBody>
                  <a:tcPr>
                    <a:solidFill>
                      <a:srgbClr val="F8FAFC"/>
                    </a:solidFill>
                  </a:tcPr>
                </a:tc>
                <a:tc>
                  <a:txBody>
                    <a:bodyPr/>
                    <a:lstStyle/>
                    <a:p>
                      <a:pPr algn="l"/>
                      <a:r>
                        <a:rPr sz="850">
                          <a:solidFill>
                            <a:srgbClr val="1E293B"/>
                          </a:solidFill>
                          <a:latin typeface="Arial" panose="020B0604020202020204"/>
                        </a:rPr>
                        <a:t>core/Controller.php, helpers/JWT.php</a:t>
                      </a:r>
                      <a:endParaRPr sz="850">
                        <a:solidFill>
                          <a:srgbClr val="1E293B"/>
                        </a:solidFill>
                        <a:latin typeface="Arial" panose="020B0604020202020204"/>
                      </a:endParaRPr>
                    </a:p>
                  </a:txBody>
                  <a:tcPr>
                    <a:solidFill>
                      <a:srgbClr val="F8FAFC"/>
                    </a:solidFill>
                  </a:tcPr>
                </a:tc>
                <a:tc>
                  <a:txBody>
                    <a:bodyPr/>
                    <a:lstStyle/>
                    <a:p>
                      <a:pPr algn="l"/>
                      <a:r>
                        <a:rPr sz="850">
                          <a:solidFill>
                            <a:srgbClr val="1E293B"/>
                          </a:solidFill>
                          <a:latin typeface="Arial" panose="020B0604020202020204"/>
                        </a:rPr>
                        <a:t>Kiểm soát quyền truy cập chặt chẽ cho Admin, Manager, Staff, Cashier, Chef, Waiter.</a:t>
                      </a:r>
                      <a:endParaRPr sz="850">
                        <a:solidFill>
                          <a:srgbClr val="1E293B"/>
                        </a:solidFill>
                        <a:latin typeface="Arial" panose="020B0604020202020204"/>
                      </a:endParaRPr>
                    </a:p>
                  </a:txBody>
                  <a:tcPr>
                    <a:solidFill>
                      <a:srgbClr val="F8FAFC"/>
                    </a:solidFill>
                  </a:tcPr>
                </a:tc>
              </a:tr>
              <a:tr h="438912">
                <a:tc>
                  <a:txBody>
                    <a:bodyPr/>
                    <a:lstStyle/>
                    <a:p>
                      <a:pPr algn="l"/>
                      <a:r>
                        <a:rPr sz="850" b="1">
                          <a:solidFill>
                            <a:srgbClr val="1E293B"/>
                          </a:solidFill>
                          <a:latin typeface="Arial" panose="020B0604020202020204"/>
                        </a:rPr>
                        <a:t>Tầng Thiết kế (Meso)</a:t>
                      </a:r>
                      <a:endParaRPr sz="850" b="1">
                        <a:solidFill>
                          <a:srgbClr val="1E293B"/>
                        </a:solidFill>
                        <a:latin typeface="Arial" panose="020B0604020202020204"/>
                      </a:endParaRPr>
                    </a:p>
                  </a:txBody>
                  <a:tcPr>
                    <a:solidFill>
                      <a:srgbClr val="FFFFFF"/>
                    </a:solidFill>
                  </a:tcPr>
                </a:tc>
                <a:tc>
                  <a:txBody>
                    <a:bodyPr/>
                    <a:lstStyle/>
                    <a:p>
                      <a:pPr algn="l"/>
                      <a:r>
                        <a:rPr sz="850">
                          <a:solidFill>
                            <a:srgbClr val="0F2043"/>
                          </a:solidFill>
                          <a:latin typeface="Arial" panose="020B0604020202020204"/>
                        </a:rPr>
                        <a:t>Strategy Pattern (Thanh toán)</a:t>
                      </a:r>
                      <a:endParaRPr sz="850">
                        <a:solidFill>
                          <a:srgbClr val="0F2043"/>
                        </a:solidFill>
                        <a:latin typeface="Arial" panose="020B0604020202020204"/>
                      </a:endParaRPr>
                    </a:p>
                  </a:txBody>
                  <a:tcPr>
                    <a:solidFill>
                      <a:srgbClr val="FFFFFF"/>
                    </a:solidFill>
                  </a:tcPr>
                </a:tc>
                <a:tc>
                  <a:txBody>
                    <a:bodyPr/>
                    <a:lstStyle/>
                    <a:p>
                      <a:pPr algn="l"/>
                      <a:r>
                        <a:rPr sz="850">
                          <a:solidFill>
                            <a:srgbClr val="1E293B"/>
                          </a:solidFill>
                          <a:latin typeface="Arial" panose="020B0604020202020204"/>
                        </a:rPr>
                        <a:t>app/controllers/SaleOrderController.php</a:t>
                      </a:r>
                      <a:endParaRPr sz="850">
                        <a:solidFill>
                          <a:srgbClr val="1E293B"/>
                        </a:solidFill>
                        <a:latin typeface="Arial" panose="020B0604020202020204"/>
                      </a:endParaRPr>
                    </a:p>
                  </a:txBody>
                  <a:tcPr>
                    <a:solidFill>
                      <a:srgbClr val="FFFFFF"/>
                    </a:solidFill>
                  </a:tcPr>
                </a:tc>
                <a:tc>
                  <a:txBody>
                    <a:bodyPr/>
                    <a:lstStyle/>
                    <a:p>
                      <a:pPr algn="l"/>
                      <a:r>
                        <a:rPr sz="850">
                          <a:solidFill>
                            <a:srgbClr val="1E293B"/>
                          </a:solidFill>
                          <a:latin typeface="Arial" panose="020B0604020202020204"/>
                        </a:rPr>
                        <a:t>Hoán đổi linh hoạt phương thức thanh toán: Tiền mặt, Chuyển khoản QR, Quẹt thẻ POS.</a:t>
                      </a:r>
                      <a:endParaRPr sz="850">
                        <a:solidFill>
                          <a:srgbClr val="1E293B"/>
                        </a:solidFill>
                        <a:latin typeface="Arial" panose="020B0604020202020204"/>
                      </a:endParaRPr>
                    </a:p>
                  </a:txBody>
                  <a:tcPr>
                    <a:solidFill>
                      <a:srgbClr val="FFFFFF"/>
                    </a:solidFill>
                  </a:tcPr>
                </a:tc>
              </a:tr>
              <a:tr h="438912">
                <a:tc>
                  <a:txBody>
                    <a:bodyPr/>
                    <a:lstStyle/>
                    <a:p>
                      <a:pPr algn="l"/>
                      <a:r>
                        <a:rPr sz="850" b="1">
                          <a:solidFill>
                            <a:srgbClr val="1E293B"/>
                          </a:solidFill>
                          <a:latin typeface="Arial" panose="020B0604020202020204"/>
                        </a:rPr>
                        <a:t>Thành ngữ (Micro)</a:t>
                      </a:r>
                      <a:endParaRPr sz="850" b="1">
                        <a:solidFill>
                          <a:srgbClr val="1E293B"/>
                        </a:solidFill>
                        <a:latin typeface="Arial" panose="020B0604020202020204"/>
                      </a:endParaRPr>
                    </a:p>
                  </a:txBody>
                  <a:tcPr>
                    <a:solidFill>
                      <a:srgbClr val="F8FAFC"/>
                    </a:solidFill>
                  </a:tcPr>
                </a:tc>
                <a:tc>
                  <a:txBody>
                    <a:bodyPr/>
                    <a:lstStyle/>
                    <a:p>
                      <a:pPr algn="l"/>
                      <a:r>
                        <a:rPr sz="850">
                          <a:solidFill>
                            <a:srgbClr val="0F2043"/>
                          </a:solidFill>
                          <a:latin typeface="Arial" panose="020B0604020202020204"/>
                        </a:rPr>
                        <a:t>PDO Prepared Statements</a:t>
                      </a:r>
                      <a:endParaRPr sz="850">
                        <a:solidFill>
                          <a:srgbClr val="0F2043"/>
                        </a:solidFill>
                        <a:latin typeface="Arial" panose="020B0604020202020204"/>
                      </a:endParaRPr>
                    </a:p>
                  </a:txBody>
                  <a:tcPr>
                    <a:solidFill>
                      <a:srgbClr val="F8FAFC"/>
                    </a:solidFill>
                  </a:tcPr>
                </a:tc>
                <a:tc>
                  <a:txBody>
                    <a:bodyPr/>
                    <a:lstStyle/>
                    <a:p>
                      <a:pPr algn="l"/>
                      <a:r>
                        <a:rPr sz="850">
                          <a:solidFill>
                            <a:srgbClr val="1E293B"/>
                          </a:solidFill>
                          <a:latin typeface="Arial" panose="020B0604020202020204"/>
                        </a:rPr>
                        <a:t>core/Model.php, config/database.php</a:t>
                      </a:r>
                      <a:endParaRPr sz="850">
                        <a:solidFill>
                          <a:srgbClr val="1E293B"/>
                        </a:solidFill>
                        <a:latin typeface="Arial" panose="020B0604020202020204"/>
                      </a:endParaRPr>
                    </a:p>
                  </a:txBody>
                  <a:tcPr>
                    <a:solidFill>
                      <a:srgbClr val="F8FAFC"/>
                    </a:solidFill>
                  </a:tcPr>
                </a:tc>
                <a:tc>
                  <a:txBody>
                    <a:bodyPr/>
                    <a:lstStyle/>
                    <a:p>
                      <a:pPr algn="l"/>
                      <a:r>
                        <a:rPr sz="850">
                          <a:solidFill>
                            <a:srgbClr val="1E293B"/>
                          </a:solidFill>
                          <a:latin typeface="Arial" panose="020B0604020202020204"/>
                        </a:rPr>
                        <a:t>Tách rời câu lệnh SQL và tham số dữ liệu (:val), chống triệt để SQL Injection.</a:t>
                      </a:r>
                      <a:endParaRPr sz="850">
                        <a:solidFill>
                          <a:srgbClr val="1E293B"/>
                        </a:solidFill>
                        <a:latin typeface="Arial" panose="020B0604020202020204"/>
                      </a:endParaRPr>
                    </a:p>
                  </a:txBody>
                  <a:tcPr>
                    <a:solidFill>
                      <a:srgbClr val="F8FAFC"/>
                    </a:solidFill>
                  </a:tcPr>
                </a:tc>
              </a:tr>
              <a:tr h="438912">
                <a:tc>
                  <a:txBody>
                    <a:bodyPr/>
                    <a:lstStyle/>
                    <a:p>
                      <a:pPr algn="l"/>
                      <a:r>
                        <a:rPr sz="850" b="1">
                          <a:solidFill>
                            <a:srgbClr val="1E293B"/>
                          </a:solidFill>
                          <a:latin typeface="Arial" panose="020B0604020202020204"/>
                        </a:rPr>
                        <a:t>Thành ngữ (Micro)</a:t>
                      </a:r>
                      <a:endParaRPr sz="850" b="1">
                        <a:solidFill>
                          <a:srgbClr val="1E293B"/>
                        </a:solidFill>
                        <a:latin typeface="Arial" panose="020B0604020202020204"/>
                      </a:endParaRPr>
                    </a:p>
                  </a:txBody>
                  <a:tcPr>
                    <a:solidFill>
                      <a:srgbClr val="FFFFFF"/>
                    </a:solidFill>
                  </a:tcPr>
                </a:tc>
                <a:tc>
                  <a:txBody>
                    <a:bodyPr/>
                    <a:lstStyle/>
                    <a:p>
                      <a:pPr algn="l"/>
                      <a:r>
                        <a:rPr sz="850">
                          <a:solidFill>
                            <a:srgbClr val="0F2043"/>
                          </a:solidFill>
                          <a:latin typeface="Arial" panose="020B0604020202020204"/>
                        </a:rPr>
                        <a:t>Flash Session PRG</a:t>
                      </a:r>
                      <a:endParaRPr sz="850">
                        <a:solidFill>
                          <a:srgbClr val="0F2043"/>
                        </a:solidFill>
                        <a:latin typeface="Arial" panose="020B0604020202020204"/>
                      </a:endParaRPr>
                    </a:p>
                  </a:txBody>
                  <a:tcPr>
                    <a:solidFill>
                      <a:srgbClr val="FFFFFF"/>
                    </a:solidFill>
                  </a:tcPr>
                </a:tc>
                <a:tc>
                  <a:txBody>
                    <a:bodyPr/>
                    <a:lstStyle/>
                    <a:p>
                      <a:pPr algn="l"/>
                      <a:r>
                        <a:rPr sz="850">
                          <a:solidFill>
                            <a:srgbClr val="1E293B"/>
                          </a:solidFill>
                          <a:latin typeface="Arial" panose="020B0604020202020204"/>
                        </a:rPr>
                        <a:t>app/controllers/InventoryReceiptController.php</a:t>
                      </a:r>
                      <a:endParaRPr sz="850">
                        <a:solidFill>
                          <a:srgbClr val="1E293B"/>
                        </a:solidFill>
                        <a:latin typeface="Arial" panose="020B0604020202020204"/>
                      </a:endParaRPr>
                    </a:p>
                  </a:txBody>
                  <a:tcPr>
                    <a:solidFill>
                      <a:srgbClr val="FFFFFF"/>
                    </a:solidFill>
                  </a:tcPr>
                </a:tc>
                <a:tc>
                  <a:txBody>
                    <a:bodyPr/>
                    <a:lstStyle/>
                    <a:p>
                      <a:pPr algn="l"/>
                      <a:r>
                        <a:rPr sz="850">
                          <a:solidFill>
                            <a:srgbClr val="1E293B"/>
                          </a:solidFill>
                          <a:latin typeface="Arial" panose="020B0604020202020204"/>
                        </a:rPr>
                        <a:t>Lưu thông báo trạng thái qua Session và redirect (Post/Redirect/Get) an toàn.</a:t>
                      </a:r>
                      <a:endParaRPr sz="850">
                        <a:solidFill>
                          <a:srgbClr val="1E293B"/>
                        </a:solidFill>
                        <a:latin typeface="Arial" panose="020B0604020202020204"/>
                      </a:endParaRPr>
                    </a:p>
                  </a:txBody>
                  <a:tcPr>
                    <a:solidFill>
                      <a:srgbClr val="FFFFFF"/>
                    </a:solidFill>
                  </a:tcPr>
                </a:tc>
              </a:tr>
              <a:tr h="438912">
                <a:tc>
                  <a:txBody>
                    <a:bodyPr/>
                    <a:lstStyle/>
                    <a:p>
                      <a:pPr algn="l"/>
                      <a:r>
                        <a:rPr sz="850" b="1">
                          <a:solidFill>
                            <a:srgbClr val="1E293B"/>
                          </a:solidFill>
                          <a:latin typeface="Arial" panose="020B0604020202020204"/>
                        </a:rPr>
                        <a:t>Thành ngữ (Micro)</a:t>
                      </a:r>
                      <a:endParaRPr sz="850" b="1">
                        <a:solidFill>
                          <a:srgbClr val="1E293B"/>
                        </a:solidFill>
                        <a:latin typeface="Arial" panose="020B0604020202020204"/>
                      </a:endParaRPr>
                    </a:p>
                  </a:txBody>
                  <a:tcPr>
                    <a:solidFill>
                      <a:srgbClr val="F8FAFC"/>
                    </a:solidFill>
                  </a:tcPr>
                </a:tc>
                <a:tc>
                  <a:txBody>
                    <a:bodyPr/>
                    <a:lstStyle/>
                    <a:p>
                      <a:pPr algn="l"/>
                      <a:r>
                        <a:rPr sz="850">
                          <a:solidFill>
                            <a:srgbClr val="0F2043"/>
                          </a:solidFill>
                          <a:latin typeface="Arial" panose="020B0604020202020204"/>
                        </a:rPr>
                        <a:t>Stateless Bearer JWT</a:t>
                      </a:r>
                      <a:endParaRPr sz="850">
                        <a:solidFill>
                          <a:srgbClr val="0F2043"/>
                        </a:solidFill>
                        <a:latin typeface="Arial" panose="020B0604020202020204"/>
                      </a:endParaRPr>
                    </a:p>
                  </a:txBody>
                  <a:tcPr>
                    <a:solidFill>
                      <a:srgbClr val="F8FAFC"/>
                    </a:solidFill>
                  </a:tcPr>
                </a:tc>
                <a:tc>
                  <a:txBody>
                    <a:bodyPr/>
                    <a:lstStyle/>
                    <a:p>
                      <a:pPr algn="l"/>
                      <a:r>
                        <a:rPr sz="850">
                          <a:solidFill>
                            <a:srgbClr val="1E293B"/>
                          </a:solidFill>
                          <a:latin typeface="Arial" panose="020B0604020202020204"/>
                        </a:rPr>
                        <a:t>helpers/JWT.php, config/jwt.php</a:t>
                      </a:r>
                      <a:endParaRPr sz="850">
                        <a:solidFill>
                          <a:srgbClr val="1E293B"/>
                        </a:solidFill>
                        <a:latin typeface="Arial" panose="020B0604020202020204"/>
                      </a:endParaRPr>
                    </a:p>
                  </a:txBody>
                  <a:tcPr>
                    <a:solidFill>
                      <a:srgbClr val="F8FAFC"/>
                    </a:solidFill>
                  </a:tcPr>
                </a:tc>
                <a:tc>
                  <a:txBody>
                    <a:bodyPr/>
                    <a:lstStyle/>
                    <a:p>
                      <a:pPr algn="l"/>
                      <a:r>
                        <a:rPr sz="850">
                          <a:solidFill>
                            <a:srgbClr val="1E293B"/>
                          </a:solidFill>
                          <a:latin typeface="Arial" panose="020B0604020202020204"/>
                        </a:rPr>
                        <a:t>Giải mã chữ ký điện tử HMAC-SHA256 trên HTTP Header để xác thực không tốn RAM.</a:t>
                      </a:r>
                      <a:endParaRPr sz="850">
                        <a:solidFill>
                          <a:srgbClr val="1E293B"/>
                        </a:solidFill>
                        <a:latin typeface="Arial" panose="020B0604020202020204"/>
                      </a:endParaRPr>
                    </a:p>
                  </a:txBody>
                  <a:tcPr>
                    <a:solidFill>
                      <a:srgbClr val="F8FAFC"/>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914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1005840"/>
          </a:xfrm>
          <a:prstGeom prst="rect">
            <a:avLst/>
          </a:prstGeom>
          <a:noFill/>
        </p:spPr>
        <p:txBody>
          <a:bodyPr wrap="square" lIns="0" tIns="0" rIns="0" bIns="0">
            <a:spAutoFit/>
          </a:bodyPr>
          <a:lstStyle/>
          <a:p>
            <a:pPr>
              <a:spcAft>
                <a:spcPts val="200"/>
              </a:spcAft>
            </a:pPr>
            <a:r>
              <a:rPr sz="950" b="1">
                <a:solidFill>
                  <a:srgbClr val="D97706"/>
                </a:solidFill>
                <a:latin typeface="Arial" panose="020B0604020202020204"/>
              </a:rPr>
              <a:t>PHẦN 3: MỘT SỐ MẪU THIẾT KẾ KIẾN TRÚC PHỔ BIẾN (MỤC 3.3.2)</a:t>
            </a:r>
            <a:endParaRPr sz="950" b="1">
              <a:solidFill>
                <a:srgbClr val="D97706"/>
              </a:solidFill>
              <a:latin typeface="Arial" panose="020B0604020202020204"/>
            </a:endParaRPr>
          </a:p>
          <a:p>
            <a:pPr>
              <a:spcAft>
                <a:spcPts val="200"/>
              </a:spcAft>
            </a:pPr>
            <a:r>
              <a:rPr sz="1900" b="1">
                <a:solidFill>
                  <a:srgbClr val="0F2043"/>
                </a:solidFill>
                <a:latin typeface="Arial" panose="020B0604020202020204"/>
              </a:rPr>
              <a:t>3.1. BỐI CẢNH &amp; ĐỘNG LỰC TIẾN HÓA CỦA KIẾN TRÚC HIỆN ĐẠI</a:t>
            </a:r>
            <a:endParaRPr sz="1900" b="1">
              <a:solidFill>
                <a:srgbClr val="0F2043"/>
              </a:solidFill>
              <a:latin typeface="Arial" panose="020B0604020202020204"/>
            </a:endParaRPr>
          </a:p>
          <a:p>
            <a:r>
              <a:rPr sz="1100" i="1">
                <a:solidFill>
                  <a:srgbClr val="64748B"/>
                </a:solidFill>
                <a:latin typeface="Arial" panose="020B0604020202020204"/>
              </a:rPr>
              <a:t>Sự chuyển dịch lịch sử từ Monolith truyền thống sang Cloud-Native phân tán</a:t>
            </a:r>
            <a:endParaRPr sz="1100" i="1">
              <a:solidFill>
                <a:srgbClr val="64748B"/>
              </a:solidFill>
              <a:latin typeface="Arial" panose="020B0604020202020204"/>
            </a:endParaRPr>
          </a:p>
        </p:txBody>
      </p:sp>
      <p:sp>
        <p:nvSpPr>
          <p:cNvPr id="4" name="TextBox 3"/>
          <p:cNvSpPr txBox="1"/>
          <p:nvPr/>
        </p:nvSpPr>
        <p:spPr>
          <a:xfrm>
            <a:off x="731520" y="6400800"/>
            <a:ext cx="10698480" cy="320040"/>
          </a:xfrm>
          <a:prstGeom prst="rect">
            <a:avLst/>
          </a:prstGeom>
          <a:noFill/>
        </p:spPr>
        <p:txBody>
          <a:bodyPr wrap="none" lIns="0" tIns="0" rIns="0" bIns="0">
            <a:spAutoFit/>
          </a:bodyPr>
          <a:lstStyle/>
          <a:p>
            <a:r>
              <a:rPr sz="850">
                <a:solidFill>
                  <a:srgbClr val="64748B"/>
                </a:solidFill>
                <a:latin typeface="Arial" panose="020B0604020202020204"/>
              </a:rPr>
              <a:t>Học phần: Kiến trúc và Thiết kế Phần mềm — Báo cáo Chương 3: Thiết kế Kiến trúc | Dự án: php-restaurant</a:t>
            </a:r>
            <a:r>
              <a:rPr sz="850" b="1">
                <a:solidFill>
                  <a:srgbClr val="1F4E79"/>
                </a:solidFill>
                <a:latin typeface="Arial" panose="020B0604020202020204"/>
              </a:rPr>
              <a:t>             Slide 13 / 20</a:t>
            </a:r>
            <a:endParaRPr sz="850" b="1">
              <a:solidFill>
                <a:srgbClr val="1F4E79"/>
              </a:solidFill>
              <a:latin typeface="Arial" panose="020B0604020202020204"/>
            </a:endParaRPr>
          </a:p>
        </p:txBody>
      </p:sp>
      <p:sp>
        <p:nvSpPr>
          <p:cNvPr id="5" name="Rounded Rectangle 4"/>
          <p:cNvSpPr/>
          <p:nvPr/>
        </p:nvSpPr>
        <p:spPr>
          <a:xfrm>
            <a:off x="731520" y="1645920"/>
            <a:ext cx="10698480" cy="4389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28800"/>
            <a:ext cx="10149840" cy="4023360"/>
          </a:xfrm>
          <a:prstGeom prst="rect">
            <a:avLst/>
          </a:prstGeom>
          <a:noFill/>
        </p:spPr>
        <p:txBody>
          <a:bodyPr wrap="square">
            <a:spAutoFit/>
          </a:bodyPr>
          <a:lstStyle/>
          <a:p>
            <a:pPr>
              <a:lnSpc>
                <a:spcPct val="115000"/>
              </a:lnSpc>
              <a:spcAft>
                <a:spcPts val="600"/>
              </a:spcAft>
            </a:pPr>
            <a:r>
              <a:rPr sz="1150" b="1">
                <a:solidFill>
                  <a:srgbClr val="1F4E79"/>
                </a:solidFill>
                <a:latin typeface="Arial" panose="020B0604020202020204"/>
              </a:rPr>
              <a:t>Hành trình tiến hóa 3 giai đoạn của Kiến trúc Phần mềm: </a:t>
            </a:r>
            <a:r>
              <a:rPr sz="1100">
                <a:solidFill>
                  <a:srgbClr val="1E293B"/>
                </a:solidFill>
                <a:latin typeface="Arial" panose="020B0604020202020204"/>
              </a:rPr>
              <a:t>Sự chuyển dịch diễn ra mạnh mẽ trong 15 năm qua:</a:t>
            </a:r>
            <a:endParaRPr sz="1100">
              <a:solidFill>
                <a:srgbClr val="1E293B"/>
              </a:solidFill>
              <a:latin typeface="Arial" panose="020B0604020202020204"/>
            </a:endParaRPr>
          </a:p>
          <a:p>
            <a:pPr lvl="1">
              <a:lnSpc>
                <a:spcPct val="115000"/>
              </a:lnSpc>
              <a:spcAft>
                <a:spcPts val="600"/>
              </a:spcAft>
            </a:pPr>
            <a:r>
              <a:rPr sz="1050" b="1">
                <a:solidFill>
                  <a:srgbClr val="1E293B"/>
                </a:solidFill>
                <a:latin typeface="Arial" panose="020B0604020202020204"/>
              </a:rPr>
              <a:t>• Giai đoạn 1 (Truyền thống - Monolith): </a:t>
            </a:r>
            <a:r>
              <a:rPr sz="1000">
                <a:solidFill>
                  <a:srgbClr val="1E293B"/>
                </a:solidFill>
                <a:latin typeface="Arial" panose="020B0604020202020204"/>
              </a:rPr>
              <a:t>Toàn bộ ứng dụng chạy chung một tiến trình duy nhất trên một máy chủ vật lý.</a:t>
            </a:r>
            <a:endParaRPr sz="1000">
              <a:solidFill>
                <a:srgbClr val="1E293B"/>
              </a:solidFill>
              <a:latin typeface="Arial" panose="020B0604020202020204"/>
            </a:endParaRPr>
          </a:p>
          <a:p>
            <a:pPr lvl="1">
              <a:lnSpc>
                <a:spcPct val="115000"/>
              </a:lnSpc>
              <a:spcAft>
                <a:spcPts val="600"/>
              </a:spcAft>
            </a:pPr>
            <a:r>
              <a:rPr sz="1050" b="1">
                <a:solidFill>
                  <a:srgbClr val="1E293B"/>
                </a:solidFill>
                <a:latin typeface="Arial" panose="020B0604020202020204"/>
              </a:rPr>
              <a:t>• Giai đoạn 2 (Dịch vụ phân tán - SOA / Microservices): </a:t>
            </a:r>
            <a:r>
              <a:rPr sz="1000">
                <a:solidFill>
                  <a:srgbClr val="1E293B"/>
                </a:solidFill>
                <a:latin typeface="Arial" panose="020B0604020202020204"/>
              </a:rPr>
              <a:t>Phân chia dịch vụ độc lập, đóng gói Container (Docker, Kubernetes).</a:t>
            </a:r>
            <a:endParaRPr sz="1000">
              <a:solidFill>
                <a:srgbClr val="1E293B"/>
              </a:solidFill>
              <a:latin typeface="Arial" panose="020B0604020202020204"/>
            </a:endParaRPr>
          </a:p>
          <a:p>
            <a:pPr lvl="1">
              <a:lnSpc>
                <a:spcPct val="115000"/>
              </a:lnSpc>
              <a:spcAft>
                <a:spcPts val="600"/>
              </a:spcAft>
            </a:pPr>
            <a:r>
              <a:rPr sz="1050" b="1">
                <a:solidFill>
                  <a:srgbClr val="1E293B"/>
                </a:solidFill>
                <a:latin typeface="Arial" panose="020B0604020202020204"/>
              </a:rPr>
              <a:t>• Giai đoạn 3 (Cloud-Native &amp; Hướng sự kiện): </a:t>
            </a:r>
            <a:r>
              <a:rPr sz="1000">
                <a:solidFill>
                  <a:srgbClr val="1E293B"/>
                </a:solidFill>
                <a:latin typeface="Arial" panose="020B0604020202020204"/>
              </a:rPr>
              <a:t>Ứng dụng tận dụng tối đa Cloud (AWS, GCP), Serverless FaaS, Kafka Event Streaming.</a:t>
            </a:r>
            <a:endParaRPr sz="1000">
              <a:solidFill>
                <a:srgbClr val="1E293B"/>
              </a:solidFill>
              <a:latin typeface="Arial" panose="020B0604020202020204"/>
            </a:endParaRPr>
          </a:p>
          <a:p>
            <a:pPr>
              <a:lnSpc>
                <a:spcPct val="115000"/>
              </a:lnSpc>
              <a:spcAft>
                <a:spcPts val="400"/>
              </a:spcAft>
            </a:pPr>
            <a:r>
              <a:rPr sz="1150" b="1">
                <a:solidFill>
                  <a:srgbClr val="1F4E79"/>
                </a:solidFill>
                <a:latin typeface="Arial" panose="020B0604020202020204"/>
              </a:rPr>
              <a:t>3 Động lực công nghệ sống còn thúc đẩy tiến hóa: </a:t>
            </a:r>
            <a:endParaRPr sz="1150" b="1">
              <a:solidFill>
                <a:srgbClr val="1F4E79"/>
              </a:solidFill>
              <a:latin typeface="Arial" panose="020B0604020202020204"/>
            </a:endParaRPr>
          </a:p>
          <a:p>
            <a:pPr lvl="1">
              <a:lnSpc>
                <a:spcPct val="115000"/>
              </a:lnSpc>
              <a:spcAft>
                <a:spcPts val="600"/>
              </a:spcAft>
            </a:pPr>
            <a:r>
              <a:rPr sz="1050" b="1">
                <a:solidFill>
                  <a:srgbClr val="1E293B"/>
                </a:solidFill>
                <a:latin typeface="Arial" panose="020B0604020202020204"/>
              </a:rPr>
              <a:t>1. Nhu cầu Co giãn Đàn hồi (Elastic Scalability): </a:t>
            </a:r>
            <a:r>
              <a:rPr sz="1000">
                <a:solidFill>
                  <a:srgbClr val="1E293B"/>
                </a:solidFill>
                <a:latin typeface="Arial" panose="020B0604020202020204"/>
              </a:rPr>
              <a:t>Phục vụ hàng trăm ngàn người dùng đồng thời, tự động mở rộng và thu hẹp tài nguyên theo lưu lượng thực tế.</a:t>
            </a:r>
            <a:endParaRPr sz="1000">
              <a:solidFill>
                <a:srgbClr val="1E293B"/>
              </a:solidFill>
              <a:latin typeface="Arial" panose="020B0604020202020204"/>
            </a:endParaRPr>
          </a:p>
          <a:p>
            <a:pPr lvl="1">
              <a:lnSpc>
                <a:spcPct val="115000"/>
              </a:lnSpc>
              <a:spcAft>
                <a:spcPts val="600"/>
              </a:spcAft>
            </a:pPr>
            <a:r>
              <a:rPr sz="1050" b="1">
                <a:solidFill>
                  <a:srgbClr val="1E293B"/>
                </a:solidFill>
                <a:latin typeface="Arial" panose="020B0604020202020204"/>
              </a:rPr>
              <a:t>2. Tính Sẵn sàng Cao (High Availability 99.99%): </a:t>
            </a:r>
            <a:r>
              <a:rPr sz="1000">
                <a:solidFill>
                  <a:srgbClr val="1E293B"/>
                </a:solidFill>
                <a:latin typeface="Arial" panose="020B0604020202020204"/>
              </a:rPr>
              <a:t>Cô lập vùng lỗi (Fault Isolation); sự cố ở một dịch vụ con không làm tê liệt toàn bộ hệ thống doanh nghiệp.</a:t>
            </a:r>
            <a:endParaRPr sz="1000">
              <a:solidFill>
                <a:srgbClr val="1E293B"/>
              </a:solidFill>
              <a:latin typeface="Arial" panose="020B0604020202020204"/>
            </a:endParaRPr>
          </a:p>
          <a:p>
            <a:pPr lvl="1">
              <a:lnSpc>
                <a:spcPct val="115000"/>
              </a:lnSpc>
              <a:spcAft>
                <a:spcPts val="600"/>
              </a:spcAft>
            </a:pPr>
            <a:r>
              <a:rPr sz="1050" b="1">
                <a:solidFill>
                  <a:srgbClr val="1E293B"/>
                </a:solidFill>
                <a:latin typeface="Arial" panose="020B0604020202020204"/>
              </a:rPr>
              <a:t>3. Triển khai Liên tục (CI/CD &amp; Zero Downtime): </a:t>
            </a:r>
            <a:r>
              <a:rPr sz="1000">
                <a:solidFill>
                  <a:srgbClr val="1E293B"/>
                </a:solidFill>
                <a:latin typeface="Arial" panose="020B0604020202020204"/>
              </a:rPr>
              <a:t>Phát hành tính năng mới lên môi trường Production hàng ngày mà không cần dừng hệ thống để bảo trì.</a:t>
            </a:r>
            <a:endParaRPr sz="1000">
              <a:solidFill>
                <a:srgbClr val="1E293B"/>
              </a:solidFill>
              <a:latin typeface="Arial" panose="020B06040202020202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914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1005840"/>
          </a:xfrm>
          <a:prstGeom prst="rect">
            <a:avLst/>
          </a:prstGeom>
          <a:noFill/>
        </p:spPr>
        <p:txBody>
          <a:bodyPr wrap="square" lIns="0" tIns="0" rIns="0" bIns="0">
            <a:spAutoFit/>
          </a:bodyPr>
          <a:lstStyle/>
          <a:p>
            <a:pPr>
              <a:spcAft>
                <a:spcPts val="200"/>
              </a:spcAft>
            </a:pPr>
            <a:r>
              <a:rPr sz="950" b="1">
                <a:solidFill>
                  <a:srgbClr val="D97706"/>
                </a:solidFill>
                <a:latin typeface="Arial" panose="020B0604020202020204"/>
              </a:rPr>
              <a:t>PHẦN 3: MỘT SỐ MẪU THIẾT KẾ KIẾN TRÚC PHỔ BIẾN (MỤC 3.3.2)</a:t>
            </a:r>
            <a:endParaRPr sz="950" b="1">
              <a:solidFill>
                <a:srgbClr val="D97706"/>
              </a:solidFill>
              <a:latin typeface="Arial" panose="020B0604020202020204"/>
            </a:endParaRPr>
          </a:p>
          <a:p>
            <a:pPr>
              <a:spcAft>
                <a:spcPts val="200"/>
              </a:spcAft>
            </a:pPr>
            <a:r>
              <a:rPr sz="1900" b="1">
                <a:solidFill>
                  <a:srgbClr val="0F2043"/>
                </a:solidFill>
                <a:latin typeface="Arial" panose="020B0604020202020204"/>
              </a:rPr>
              <a:t>3.2.1. KIẾN TRÚC ĐA TẦNG HIỆN ĐẠI &amp; KIẾN TRÚC SẠCH (CLEAN ARCHITECTURE)</a:t>
            </a:r>
            <a:endParaRPr sz="1900" b="1">
              <a:solidFill>
                <a:srgbClr val="0F2043"/>
              </a:solidFill>
              <a:latin typeface="Arial" panose="020B0604020202020204"/>
            </a:endParaRPr>
          </a:p>
          <a:p>
            <a:r>
              <a:rPr sz="1100" i="1">
                <a:solidFill>
                  <a:srgbClr val="64748B"/>
                </a:solidFill>
                <a:latin typeface="Arial" panose="020B0604020202020204"/>
              </a:rPr>
              <a:t>Nguyên lý Đảo ngược Phụ thuộc và mô hình Ports &amp; Adapters của Robert C. Martin (Uncle Bob)</a:t>
            </a:r>
            <a:endParaRPr sz="1100" i="1">
              <a:solidFill>
                <a:srgbClr val="64748B"/>
              </a:solidFill>
              <a:latin typeface="Arial" panose="020B0604020202020204"/>
            </a:endParaRPr>
          </a:p>
        </p:txBody>
      </p:sp>
      <p:sp>
        <p:nvSpPr>
          <p:cNvPr id="4" name="TextBox 3"/>
          <p:cNvSpPr txBox="1"/>
          <p:nvPr/>
        </p:nvSpPr>
        <p:spPr>
          <a:xfrm>
            <a:off x="731520" y="6400800"/>
            <a:ext cx="10698480" cy="320040"/>
          </a:xfrm>
          <a:prstGeom prst="rect">
            <a:avLst/>
          </a:prstGeom>
          <a:noFill/>
        </p:spPr>
        <p:txBody>
          <a:bodyPr wrap="none" lIns="0" tIns="0" rIns="0" bIns="0">
            <a:spAutoFit/>
          </a:bodyPr>
          <a:lstStyle/>
          <a:p>
            <a:r>
              <a:rPr sz="850">
                <a:solidFill>
                  <a:srgbClr val="64748B"/>
                </a:solidFill>
                <a:latin typeface="Arial" panose="020B0604020202020204"/>
              </a:rPr>
              <a:t>Học phần: Kiến trúc và Thiết kế Phần mềm — Báo cáo Chương 3: Thiết kế Kiến trúc | Dự án: php-restaurant</a:t>
            </a:r>
            <a:r>
              <a:rPr sz="850" b="1">
                <a:solidFill>
                  <a:srgbClr val="1F4E79"/>
                </a:solidFill>
                <a:latin typeface="Arial" panose="020B0604020202020204"/>
              </a:rPr>
              <a:t>             Slide 14 / 20</a:t>
            </a:r>
            <a:endParaRPr sz="850" b="1">
              <a:solidFill>
                <a:srgbClr val="1F4E79"/>
              </a:solidFill>
              <a:latin typeface="Arial" panose="020B0604020202020204"/>
            </a:endParaRPr>
          </a:p>
        </p:txBody>
      </p:sp>
      <p:sp>
        <p:nvSpPr>
          <p:cNvPr id="5" name="Rounded Rectangle 4"/>
          <p:cNvSpPr/>
          <p:nvPr/>
        </p:nvSpPr>
        <p:spPr>
          <a:xfrm>
            <a:off x="731520" y="1645920"/>
            <a:ext cx="6217920" cy="4389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5852160" cy="4114800"/>
          </a:xfrm>
          <a:prstGeom prst="rect">
            <a:avLst/>
          </a:prstGeom>
          <a:noFill/>
        </p:spPr>
        <p:txBody>
          <a:bodyPr wrap="square">
            <a:spAutoFit/>
          </a:bodyPr>
          <a:lstStyle/>
          <a:p>
            <a:pPr>
              <a:lnSpc>
                <a:spcPct val="115000"/>
              </a:lnSpc>
              <a:spcAft>
                <a:spcPts val="600"/>
              </a:spcAft>
            </a:pPr>
            <a:r>
              <a:rPr sz="1150" b="1">
                <a:solidFill>
                  <a:srgbClr val="1F4E79"/>
                </a:solidFill>
                <a:latin typeface="Arial" panose="020B0604020202020204"/>
              </a:rPr>
              <a:t>Tác giả khởi xướng: </a:t>
            </a:r>
            <a:r>
              <a:rPr sz="1100">
                <a:solidFill>
                  <a:srgbClr val="1E293B"/>
                </a:solidFill>
                <a:latin typeface="Arial" panose="020B0604020202020204"/>
              </a:rPr>
              <a:t>Robert C. Martin (Uncle Bob - 2012) &amp; Alistair Cockburn (Hexagonal Architecture - 2005).</a:t>
            </a:r>
            <a:endParaRPr sz="1100">
              <a:solidFill>
                <a:srgbClr val="1E293B"/>
              </a:solidFill>
              <a:latin typeface="Arial" panose="020B0604020202020204"/>
            </a:endParaRPr>
          </a:p>
          <a:p>
            <a:pPr>
              <a:lnSpc>
                <a:spcPct val="115000"/>
              </a:lnSpc>
              <a:spcAft>
                <a:spcPts val="600"/>
              </a:spcAft>
            </a:pPr>
            <a:r>
              <a:rPr sz="1150" b="1">
                <a:solidFill>
                  <a:srgbClr val="1F4E79"/>
                </a:solidFill>
                <a:latin typeface="Arial" panose="020B0604020202020204"/>
              </a:rPr>
              <a:t>Quy tắc Phụ thuộc Hướng tâm (The Dependency Rule): </a:t>
            </a:r>
            <a:r>
              <a:rPr sz="1100">
                <a:solidFill>
                  <a:srgbClr val="1E293B"/>
                </a:solidFill>
                <a:latin typeface="Arial" panose="020B0604020202020204"/>
              </a:rPr>
              <a:t>Mọi quan hệ phụ thuộc mã nguồn chỉ được phép trỏ TỪ NGOÀI VÀO TRONG.</a:t>
            </a:r>
            <a:endParaRPr sz="1100">
              <a:solidFill>
                <a:srgbClr val="1E293B"/>
              </a:solidFill>
              <a:latin typeface="Arial" panose="020B0604020202020204"/>
            </a:endParaRPr>
          </a:p>
          <a:p>
            <a:pPr>
              <a:lnSpc>
                <a:spcPct val="115000"/>
              </a:lnSpc>
              <a:spcAft>
                <a:spcPts val="600"/>
              </a:spcAft>
            </a:pPr>
            <a:r>
              <a:rPr sz="1150" b="1">
                <a:solidFill>
                  <a:srgbClr val="1F4E79"/>
                </a:solidFill>
                <a:latin typeface="Arial" panose="020B0604020202020204"/>
              </a:rPr>
              <a:t>Cấu trúc các vòng tròn đồng tâm: </a:t>
            </a:r>
            <a:endParaRPr sz="1150" b="1">
              <a:solidFill>
                <a:srgbClr val="1F4E79"/>
              </a:solidFill>
              <a:latin typeface="Arial" panose="020B0604020202020204"/>
            </a:endParaRPr>
          </a:p>
          <a:p>
            <a:pPr lvl="1">
              <a:lnSpc>
                <a:spcPct val="115000"/>
              </a:lnSpc>
              <a:spcAft>
                <a:spcPts val="600"/>
              </a:spcAft>
            </a:pPr>
            <a:r>
              <a:rPr sz="1050" b="1">
                <a:solidFill>
                  <a:srgbClr val="1E293B"/>
                </a:solidFill>
                <a:latin typeface="Arial" panose="020B0604020202020204"/>
              </a:rPr>
              <a:t>• Lõi trung tâm (Entities &amp; Use Cases): </a:t>
            </a:r>
            <a:r>
              <a:rPr sz="1000">
                <a:solidFill>
                  <a:srgbClr val="1E293B"/>
                </a:solidFill>
                <a:latin typeface="Arial" panose="020B0604020202020204"/>
              </a:rPr>
              <a:t>Chứa 100% quy tắc nghiệp vụ thuần túy, hoàn toàn độc lập với Framework, UI và Database.</a:t>
            </a:r>
            <a:endParaRPr sz="1000">
              <a:solidFill>
                <a:srgbClr val="1E293B"/>
              </a:solidFill>
              <a:latin typeface="Arial" panose="020B0604020202020204"/>
            </a:endParaRPr>
          </a:p>
          <a:p>
            <a:pPr lvl="1">
              <a:lnSpc>
                <a:spcPct val="115000"/>
              </a:lnSpc>
              <a:spcAft>
                <a:spcPts val="600"/>
              </a:spcAft>
            </a:pPr>
            <a:r>
              <a:rPr sz="1050" b="1">
                <a:solidFill>
                  <a:srgbClr val="1E293B"/>
                </a:solidFill>
                <a:latin typeface="Arial" panose="020B0604020202020204"/>
              </a:rPr>
              <a:t>• Vòng ngoài (Interface Adapters &amp; Frameworks): </a:t>
            </a:r>
            <a:r>
              <a:rPr sz="1000">
                <a:solidFill>
                  <a:srgbClr val="1E293B"/>
                </a:solidFill>
                <a:latin typeface="Arial" panose="020B0604020202020204"/>
              </a:rPr>
              <a:t>Controllers, Gateways, MySQL, Web Server đóng vai trò như các Plugins kết nối vào lõi qua Ports.</a:t>
            </a:r>
            <a:endParaRPr sz="1000">
              <a:solidFill>
                <a:srgbClr val="1E293B"/>
              </a:solidFill>
              <a:latin typeface="Arial" panose="020B0604020202020204"/>
            </a:endParaRPr>
          </a:p>
          <a:p>
            <a:pPr>
              <a:lnSpc>
                <a:spcPct val="115000"/>
              </a:lnSpc>
              <a:spcAft>
                <a:spcPts val="600"/>
              </a:spcAft>
            </a:pPr>
            <a:r>
              <a:rPr sz="1150" b="1">
                <a:solidFill>
                  <a:srgbClr val="1F4E79"/>
                </a:solidFill>
                <a:latin typeface="Arial" panose="020B0604020202020204"/>
              </a:rPr>
              <a:t>Ưu điểm vượt trội: </a:t>
            </a:r>
            <a:r>
              <a:rPr sz="1100">
                <a:solidFill>
                  <a:srgbClr val="1E293B"/>
                </a:solidFill>
                <a:latin typeface="Arial" panose="020B0604020202020204"/>
              </a:rPr>
              <a:t>Khả năng kiểm thử độc lập 100% (Testable) không cần bật Database; dễ dàng thay đổi công nghệ CSDL mà không sửa 1 dòng code nghiệp vụ.</a:t>
            </a:r>
            <a:endParaRPr sz="1100">
              <a:solidFill>
                <a:srgbClr val="1E293B"/>
              </a:solidFill>
              <a:latin typeface="Arial" panose="020B0604020202020204"/>
            </a:endParaRPr>
          </a:p>
        </p:txBody>
      </p:sp>
      <p:sp>
        <p:nvSpPr>
          <p:cNvPr id="7" name="Rounded Rectangle 6"/>
          <p:cNvSpPr/>
          <p:nvPr/>
        </p:nvSpPr>
        <p:spPr>
          <a:xfrm>
            <a:off x="7132320" y="1645920"/>
            <a:ext cx="429768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lean_architecture.jpg"/>
          <p:cNvPicPr>
            <a:picLocks noChangeAspect="1"/>
          </p:cNvPicPr>
          <p:nvPr/>
        </p:nvPicPr>
        <p:blipFill>
          <a:blip r:embed="rId1"/>
          <a:stretch>
            <a:fillRect/>
          </a:stretch>
        </p:blipFill>
        <p:spPr>
          <a:xfrm>
            <a:off x="7269480" y="1783080"/>
            <a:ext cx="4023360" cy="2954981"/>
          </a:xfrm>
          <a:prstGeom prst="rect">
            <a:avLst/>
          </a:prstGeom>
        </p:spPr>
      </p:pic>
      <p:sp>
        <p:nvSpPr>
          <p:cNvPr id="9" name="TextBox 8"/>
          <p:cNvSpPr txBox="1"/>
          <p:nvPr/>
        </p:nvSpPr>
        <p:spPr>
          <a:xfrm>
            <a:off x="7223760" y="5623560"/>
            <a:ext cx="4114800" cy="365760"/>
          </a:xfrm>
          <a:prstGeom prst="rect">
            <a:avLst/>
          </a:prstGeom>
          <a:noFill/>
        </p:spPr>
        <p:txBody>
          <a:bodyPr wrap="square">
            <a:spAutoFit/>
          </a:bodyPr>
          <a:lstStyle/>
          <a:p>
            <a:pPr algn="ctr"/>
            <a:r>
              <a:rPr sz="850" i="1">
                <a:solidFill>
                  <a:srgbClr val="64748B"/>
                </a:solidFill>
                <a:latin typeface="Arial" panose="020B0604020202020204"/>
              </a:rPr>
              <a:t>Minh họa: Sơ đồ Vòng tròn Đồng tâm Clean Architecture của Robert C. Martin (Uncle Bob)</a:t>
            </a:r>
            <a:endParaRPr sz="850" i="1">
              <a:solidFill>
                <a:srgbClr val="64748B"/>
              </a:solidFill>
              <a:latin typeface="Arial" panose="020B060402020202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914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1005840"/>
          </a:xfrm>
          <a:prstGeom prst="rect">
            <a:avLst/>
          </a:prstGeom>
          <a:noFill/>
        </p:spPr>
        <p:txBody>
          <a:bodyPr wrap="square" lIns="0" tIns="0" rIns="0" bIns="0">
            <a:spAutoFit/>
          </a:bodyPr>
          <a:lstStyle/>
          <a:p>
            <a:pPr>
              <a:spcAft>
                <a:spcPts val="200"/>
              </a:spcAft>
            </a:pPr>
            <a:r>
              <a:rPr sz="950" b="1">
                <a:solidFill>
                  <a:srgbClr val="D97706"/>
                </a:solidFill>
                <a:latin typeface="Arial" panose="020B0604020202020204"/>
              </a:rPr>
              <a:t>PHẦN 3: MỘT SỐ MẪU THIẾT KẾ KIẾN TRÚC PHỔ BIẾN (MỤC 3.3.2)</a:t>
            </a:r>
            <a:endParaRPr sz="950" b="1">
              <a:solidFill>
                <a:srgbClr val="D97706"/>
              </a:solidFill>
              <a:latin typeface="Arial" panose="020B0604020202020204"/>
            </a:endParaRPr>
          </a:p>
          <a:p>
            <a:pPr>
              <a:spcAft>
                <a:spcPts val="200"/>
              </a:spcAft>
            </a:pPr>
            <a:r>
              <a:rPr sz="1900" b="1">
                <a:solidFill>
                  <a:srgbClr val="0F2043"/>
                </a:solidFill>
                <a:latin typeface="Arial" panose="020B0604020202020204"/>
              </a:rPr>
              <a:t>3.2.2. KIẾN TRÚC VI DỊCH VỤ (MICROSERVICES ARCHITECTURE)</a:t>
            </a:r>
            <a:endParaRPr sz="1900" b="1">
              <a:solidFill>
                <a:srgbClr val="0F2043"/>
              </a:solidFill>
              <a:latin typeface="Arial" panose="020B0604020202020204"/>
            </a:endParaRPr>
          </a:p>
          <a:p>
            <a:r>
              <a:rPr sz="1100" i="1">
                <a:solidFill>
                  <a:srgbClr val="64748B"/>
                </a:solidFill>
                <a:latin typeface="Arial" panose="020B0604020202020204"/>
              </a:rPr>
              <a:t>Mô hình phân tán tự chủ theo Bounded Context, Database-per-Service và API Gateway</a:t>
            </a:r>
            <a:endParaRPr sz="1100" i="1">
              <a:solidFill>
                <a:srgbClr val="64748B"/>
              </a:solidFill>
              <a:latin typeface="Arial" panose="020B0604020202020204"/>
            </a:endParaRPr>
          </a:p>
        </p:txBody>
      </p:sp>
      <p:sp>
        <p:nvSpPr>
          <p:cNvPr id="4" name="TextBox 3"/>
          <p:cNvSpPr txBox="1"/>
          <p:nvPr/>
        </p:nvSpPr>
        <p:spPr>
          <a:xfrm>
            <a:off x="731520" y="6400800"/>
            <a:ext cx="10698480" cy="320040"/>
          </a:xfrm>
          <a:prstGeom prst="rect">
            <a:avLst/>
          </a:prstGeom>
          <a:noFill/>
        </p:spPr>
        <p:txBody>
          <a:bodyPr wrap="none" lIns="0" tIns="0" rIns="0" bIns="0">
            <a:spAutoFit/>
          </a:bodyPr>
          <a:lstStyle/>
          <a:p>
            <a:r>
              <a:rPr sz="850">
                <a:solidFill>
                  <a:srgbClr val="64748B"/>
                </a:solidFill>
                <a:latin typeface="Arial" panose="020B0604020202020204"/>
              </a:rPr>
              <a:t>Học phần: Kiến trúc và Thiết kế Phần mềm — Báo cáo Chương 3: Thiết kế Kiến trúc | Dự án: php-restaurant</a:t>
            </a:r>
            <a:r>
              <a:rPr sz="850" b="1">
                <a:solidFill>
                  <a:srgbClr val="1F4E79"/>
                </a:solidFill>
                <a:latin typeface="Arial" panose="020B0604020202020204"/>
              </a:rPr>
              <a:t>             Slide 15 / 20</a:t>
            </a:r>
            <a:endParaRPr sz="850" b="1">
              <a:solidFill>
                <a:srgbClr val="1F4E79"/>
              </a:solidFill>
              <a:latin typeface="Arial" panose="020B0604020202020204"/>
            </a:endParaRPr>
          </a:p>
        </p:txBody>
      </p:sp>
      <p:sp>
        <p:nvSpPr>
          <p:cNvPr id="5" name="Rounded Rectangle 4"/>
          <p:cNvSpPr/>
          <p:nvPr/>
        </p:nvSpPr>
        <p:spPr>
          <a:xfrm>
            <a:off x="731520" y="1645920"/>
            <a:ext cx="6217920" cy="4389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5852160" cy="4114800"/>
          </a:xfrm>
          <a:prstGeom prst="rect">
            <a:avLst/>
          </a:prstGeom>
          <a:noFill/>
        </p:spPr>
        <p:txBody>
          <a:bodyPr wrap="square">
            <a:spAutoFit/>
          </a:bodyPr>
          <a:lstStyle/>
          <a:p>
            <a:pPr>
              <a:lnSpc>
                <a:spcPct val="115000"/>
              </a:lnSpc>
              <a:spcAft>
                <a:spcPts val="600"/>
              </a:spcAft>
            </a:pPr>
            <a:r>
              <a:rPr sz="1150" b="1">
                <a:solidFill>
                  <a:srgbClr val="1F4E79"/>
                </a:solidFill>
                <a:latin typeface="Arial" panose="020B0604020202020204"/>
              </a:rPr>
              <a:t>Bản chất kiến trúc: </a:t>
            </a:r>
            <a:r>
              <a:rPr sz="1100">
                <a:solidFill>
                  <a:srgbClr val="1E293B"/>
                </a:solidFill>
                <a:latin typeface="Arial" panose="020B0604020202020204"/>
              </a:rPr>
              <a:t>Chia nhỏ hệ thống thành tập hợp các dịch vụ độc lập, có thể triển khai riêng rẽ, mỗi dịch vụ tập trung vào một năng lực nghiệp vụ duy nhất (Bounded Context theo DDD).</a:t>
            </a:r>
            <a:endParaRPr sz="1100">
              <a:solidFill>
                <a:srgbClr val="1E293B"/>
              </a:solidFill>
              <a:latin typeface="Arial" panose="020B0604020202020204"/>
            </a:endParaRPr>
          </a:p>
          <a:p>
            <a:pPr>
              <a:lnSpc>
                <a:spcPct val="115000"/>
              </a:lnSpc>
              <a:spcAft>
                <a:spcPts val="600"/>
              </a:spcAft>
            </a:pPr>
            <a:r>
              <a:rPr sz="1150" b="1">
                <a:solidFill>
                  <a:srgbClr val="1F4E79"/>
                </a:solidFill>
                <a:latin typeface="Arial" panose="020B0604020202020204"/>
              </a:rPr>
              <a:t>Các nguyên tắc thiết kế bắt buộc: </a:t>
            </a:r>
            <a:endParaRPr sz="1150" b="1">
              <a:solidFill>
                <a:srgbClr val="1F4E79"/>
              </a:solidFill>
              <a:latin typeface="Arial" panose="020B0604020202020204"/>
            </a:endParaRPr>
          </a:p>
          <a:p>
            <a:pPr lvl="1">
              <a:lnSpc>
                <a:spcPct val="115000"/>
              </a:lnSpc>
              <a:spcAft>
                <a:spcPts val="600"/>
              </a:spcAft>
            </a:pPr>
            <a:r>
              <a:rPr sz="1050" b="1">
                <a:solidFill>
                  <a:srgbClr val="1E293B"/>
                </a:solidFill>
                <a:latin typeface="Arial" panose="020B0604020202020204"/>
              </a:rPr>
              <a:t>• Database-per-Service: </a:t>
            </a:r>
            <a:r>
              <a:rPr sz="1000">
                <a:solidFill>
                  <a:srgbClr val="1E293B"/>
                </a:solidFill>
                <a:latin typeface="Arial" panose="020B0604020202020204"/>
              </a:rPr>
              <a:t>Mỗi microservice sở hữu CSDL riêng biệt, cấm tuyệt đối việc truy vấn trực tiếp chéo database.</a:t>
            </a:r>
            <a:endParaRPr sz="1000">
              <a:solidFill>
                <a:srgbClr val="1E293B"/>
              </a:solidFill>
              <a:latin typeface="Arial" panose="020B0604020202020204"/>
            </a:endParaRPr>
          </a:p>
          <a:p>
            <a:pPr lvl="1">
              <a:lnSpc>
                <a:spcPct val="115000"/>
              </a:lnSpc>
              <a:spcAft>
                <a:spcPts val="600"/>
              </a:spcAft>
            </a:pPr>
            <a:r>
              <a:rPr sz="1050" b="1">
                <a:solidFill>
                  <a:srgbClr val="1E293B"/>
                </a:solidFill>
                <a:latin typeface="Arial" panose="020B0604020202020204"/>
              </a:rPr>
              <a:t>• API Gateway: </a:t>
            </a:r>
            <a:r>
              <a:rPr sz="1000">
                <a:solidFill>
                  <a:srgbClr val="1E293B"/>
                </a:solidFill>
                <a:latin typeface="Arial" panose="020B0604020202020204"/>
              </a:rPr>
              <a:t>Điểm tiếp nhận tập trung duy nhất cho mọi Client, đảm nhận định tuyến, xác thực và cân bằng tải.</a:t>
            </a:r>
            <a:endParaRPr sz="1000">
              <a:solidFill>
                <a:srgbClr val="1E293B"/>
              </a:solidFill>
              <a:latin typeface="Arial" panose="020B0604020202020204"/>
            </a:endParaRPr>
          </a:p>
          <a:p>
            <a:pPr lvl="1">
              <a:lnSpc>
                <a:spcPct val="115000"/>
              </a:lnSpc>
              <a:spcAft>
                <a:spcPts val="600"/>
              </a:spcAft>
            </a:pPr>
            <a:r>
              <a:rPr sz="1050" b="1">
                <a:solidFill>
                  <a:srgbClr val="1E293B"/>
                </a:solidFill>
                <a:latin typeface="Arial" panose="020B0604020202020204"/>
              </a:rPr>
              <a:t>• Giao tiếp liên dịch vụ: </a:t>
            </a:r>
            <a:r>
              <a:rPr sz="1000">
                <a:solidFill>
                  <a:srgbClr val="1E293B"/>
                </a:solidFill>
                <a:latin typeface="Arial" panose="020B0604020202020204"/>
              </a:rPr>
              <a:t>Qua REST/gRPC (đồng bộ) hoặc Message Broker như RabbitMQ/Kafka (bất đồng bộ).</a:t>
            </a:r>
            <a:endParaRPr sz="1000">
              <a:solidFill>
                <a:srgbClr val="1E293B"/>
              </a:solidFill>
              <a:latin typeface="Arial" panose="020B0604020202020204"/>
            </a:endParaRPr>
          </a:p>
          <a:p>
            <a:pPr lvl="1">
              <a:lnSpc>
                <a:spcPct val="115000"/>
              </a:lnSpc>
              <a:spcAft>
                <a:spcPts val="600"/>
              </a:spcAft>
            </a:pPr>
            <a:r>
              <a:rPr sz="1050" b="1">
                <a:solidFill>
                  <a:srgbClr val="1E293B"/>
                </a:solidFill>
                <a:latin typeface="Arial" panose="020B0604020202020204"/>
              </a:rPr>
              <a:t>• Mẫu Circuit Breaker: </a:t>
            </a:r>
            <a:r>
              <a:rPr sz="1000">
                <a:solidFill>
                  <a:srgbClr val="1E293B"/>
                </a:solidFill>
                <a:latin typeface="Arial" panose="020B0604020202020204"/>
              </a:rPr>
              <a:t>Ngăn chặn sụp đổ dây chuyền khi một dịch vụ phụ gặp sự cố quá tải.</a:t>
            </a:r>
            <a:endParaRPr sz="1000">
              <a:solidFill>
                <a:srgbClr val="1E293B"/>
              </a:solidFill>
              <a:latin typeface="Arial" panose="020B0604020202020204"/>
            </a:endParaRPr>
          </a:p>
          <a:p>
            <a:pPr>
              <a:lnSpc>
                <a:spcPct val="115000"/>
              </a:lnSpc>
              <a:spcAft>
                <a:spcPts val="600"/>
              </a:spcAft>
            </a:pPr>
            <a:r>
              <a:rPr sz="1150" b="1">
                <a:solidFill>
                  <a:srgbClr val="1F4E79"/>
                </a:solidFill>
                <a:latin typeface="Arial" panose="020B0604020202020204"/>
              </a:rPr>
              <a:t>Ưu / Nhược điểm: </a:t>
            </a:r>
            <a:r>
              <a:rPr sz="1100">
                <a:solidFill>
                  <a:srgbClr val="1E293B"/>
                </a:solidFill>
                <a:latin typeface="Arial" panose="020B0604020202020204"/>
              </a:rPr>
              <a:t>Co giãn độc lập tuyệt vời; nhưng cực kỳ phức tạp trong gỡ lỗi phân tán và quản lý giao dịch phân tán (Saga Pattern).</a:t>
            </a:r>
            <a:endParaRPr sz="1100">
              <a:solidFill>
                <a:srgbClr val="1E293B"/>
              </a:solidFill>
              <a:latin typeface="Arial" panose="020B0604020202020204"/>
            </a:endParaRPr>
          </a:p>
        </p:txBody>
      </p:sp>
      <p:sp>
        <p:nvSpPr>
          <p:cNvPr id="7" name="Rounded Rectangle 6"/>
          <p:cNvSpPr/>
          <p:nvPr/>
        </p:nvSpPr>
        <p:spPr>
          <a:xfrm>
            <a:off x="7132320" y="1645920"/>
            <a:ext cx="429768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icroservices_arch.png"/>
          <p:cNvPicPr>
            <a:picLocks noChangeAspect="1"/>
          </p:cNvPicPr>
          <p:nvPr/>
        </p:nvPicPr>
        <p:blipFill>
          <a:blip r:embed="rId1"/>
          <a:stretch>
            <a:fillRect/>
          </a:stretch>
        </p:blipFill>
        <p:spPr>
          <a:xfrm>
            <a:off x="7269480" y="1783080"/>
            <a:ext cx="4023360" cy="3736562"/>
          </a:xfrm>
          <a:prstGeom prst="rect">
            <a:avLst/>
          </a:prstGeom>
        </p:spPr>
      </p:pic>
      <p:sp>
        <p:nvSpPr>
          <p:cNvPr id="9" name="TextBox 8"/>
          <p:cNvSpPr txBox="1"/>
          <p:nvPr/>
        </p:nvSpPr>
        <p:spPr>
          <a:xfrm>
            <a:off x="7223760" y="5623560"/>
            <a:ext cx="4114800" cy="365760"/>
          </a:xfrm>
          <a:prstGeom prst="rect">
            <a:avLst/>
          </a:prstGeom>
          <a:noFill/>
        </p:spPr>
        <p:txBody>
          <a:bodyPr wrap="square">
            <a:spAutoFit/>
          </a:bodyPr>
          <a:lstStyle/>
          <a:p>
            <a:pPr algn="ctr"/>
            <a:r>
              <a:rPr sz="850" i="1">
                <a:solidFill>
                  <a:srgbClr val="64748B"/>
                </a:solidFill>
                <a:latin typeface="Arial" panose="020B0604020202020204"/>
              </a:rPr>
              <a:t>Minh họa: Kiến trúc Vi dịch vụ (Microservices) với API Gateway và Database per Service</a:t>
            </a:r>
            <a:endParaRPr sz="850" i="1">
              <a:solidFill>
                <a:srgbClr val="64748B"/>
              </a:solidFill>
              <a:latin typeface="Arial" panose="020B060402020202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914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1005840"/>
          </a:xfrm>
          <a:prstGeom prst="rect">
            <a:avLst/>
          </a:prstGeom>
          <a:noFill/>
        </p:spPr>
        <p:txBody>
          <a:bodyPr wrap="square" lIns="0" tIns="0" rIns="0" bIns="0">
            <a:spAutoFit/>
          </a:bodyPr>
          <a:lstStyle/>
          <a:p>
            <a:pPr>
              <a:spcAft>
                <a:spcPts val="200"/>
              </a:spcAft>
            </a:pPr>
            <a:r>
              <a:rPr sz="950" b="1">
                <a:solidFill>
                  <a:srgbClr val="D97706"/>
                </a:solidFill>
                <a:latin typeface="Arial" panose="020B0604020202020204"/>
              </a:rPr>
              <a:t>PHẦN 3: MỘT SỐ MẪU THIẾT KẾ KIẾN TRÚC PHỔ BIẾN (MỤC 3.3.2)</a:t>
            </a:r>
            <a:endParaRPr sz="950" b="1">
              <a:solidFill>
                <a:srgbClr val="D97706"/>
              </a:solidFill>
              <a:latin typeface="Arial" panose="020B0604020202020204"/>
            </a:endParaRPr>
          </a:p>
          <a:p>
            <a:pPr>
              <a:spcAft>
                <a:spcPts val="200"/>
              </a:spcAft>
            </a:pPr>
            <a:r>
              <a:rPr sz="1900" b="1">
                <a:solidFill>
                  <a:srgbClr val="0F2043"/>
                </a:solidFill>
                <a:latin typeface="Arial" panose="020B0604020202020204"/>
              </a:rPr>
              <a:t>3.2.3. EVENT-DRIVEN ARCHITECTURE (EDA) &amp; SERVERLESS (FAAS)</a:t>
            </a:r>
            <a:endParaRPr sz="1900" b="1">
              <a:solidFill>
                <a:srgbClr val="0F2043"/>
              </a:solidFill>
              <a:latin typeface="Arial" panose="020B0604020202020204"/>
            </a:endParaRPr>
          </a:p>
          <a:p>
            <a:r>
              <a:rPr sz="1100" i="1">
                <a:solidFill>
                  <a:srgbClr val="64748B"/>
                </a:solidFill>
                <a:latin typeface="Arial" panose="020B0604020202020204"/>
              </a:rPr>
              <a:t>Xử lý luồng sự kiện bất đồng bộ và điện toán đám mây phi máy chủ</a:t>
            </a:r>
            <a:endParaRPr sz="1100" i="1">
              <a:solidFill>
                <a:srgbClr val="64748B"/>
              </a:solidFill>
              <a:latin typeface="Arial" panose="020B0604020202020204"/>
            </a:endParaRPr>
          </a:p>
        </p:txBody>
      </p:sp>
      <p:sp>
        <p:nvSpPr>
          <p:cNvPr id="4" name="TextBox 3"/>
          <p:cNvSpPr txBox="1"/>
          <p:nvPr/>
        </p:nvSpPr>
        <p:spPr>
          <a:xfrm>
            <a:off x="731520" y="6400800"/>
            <a:ext cx="10698480" cy="320040"/>
          </a:xfrm>
          <a:prstGeom prst="rect">
            <a:avLst/>
          </a:prstGeom>
          <a:noFill/>
        </p:spPr>
        <p:txBody>
          <a:bodyPr wrap="none" lIns="0" tIns="0" rIns="0" bIns="0">
            <a:spAutoFit/>
          </a:bodyPr>
          <a:lstStyle/>
          <a:p>
            <a:r>
              <a:rPr sz="850">
                <a:solidFill>
                  <a:srgbClr val="64748B"/>
                </a:solidFill>
                <a:latin typeface="Arial" panose="020B0604020202020204"/>
              </a:rPr>
              <a:t>Học phần: Kiến trúc và Thiết kế Phần mềm — Báo cáo Chương 3: Thiết kế Kiến trúc | Dự án: php-restaurant</a:t>
            </a:r>
            <a:r>
              <a:rPr sz="850" b="1">
                <a:solidFill>
                  <a:srgbClr val="1F4E79"/>
                </a:solidFill>
                <a:latin typeface="Arial" panose="020B0604020202020204"/>
              </a:rPr>
              <a:t>             Slide 16 / 20</a:t>
            </a:r>
            <a:endParaRPr sz="850" b="1">
              <a:solidFill>
                <a:srgbClr val="1F4E79"/>
              </a:solidFill>
              <a:latin typeface="Arial" panose="020B0604020202020204"/>
            </a:endParaRPr>
          </a:p>
        </p:txBody>
      </p:sp>
      <p:sp>
        <p:nvSpPr>
          <p:cNvPr id="5" name="Rounded Rectangle 4"/>
          <p:cNvSpPr/>
          <p:nvPr/>
        </p:nvSpPr>
        <p:spPr>
          <a:xfrm>
            <a:off x="731520" y="1645920"/>
            <a:ext cx="6217920" cy="4389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5852160" cy="4114800"/>
          </a:xfrm>
          <a:prstGeom prst="rect">
            <a:avLst/>
          </a:prstGeom>
          <a:noFill/>
        </p:spPr>
        <p:txBody>
          <a:bodyPr wrap="square">
            <a:spAutoFit/>
          </a:bodyPr>
          <a:lstStyle/>
          <a:p>
            <a:pPr>
              <a:lnSpc>
                <a:spcPct val="115000"/>
              </a:lnSpc>
              <a:spcAft>
                <a:spcPts val="600"/>
              </a:spcAft>
            </a:pPr>
            <a:r>
              <a:rPr sz="1150" b="1">
                <a:solidFill>
                  <a:srgbClr val="1F4E79"/>
                </a:solidFill>
                <a:latin typeface="Arial" panose="020B0604020202020204"/>
              </a:rPr>
              <a:t>1. Kiến trúc Hướng sự kiện (EDA): </a:t>
            </a:r>
            <a:r>
              <a:rPr sz="1100">
                <a:solidFill>
                  <a:srgbClr val="1E293B"/>
                </a:solidFill>
                <a:latin typeface="Arial" panose="020B0604020202020204"/>
              </a:rPr>
              <a:t>Tương tác bất đồng bộ thông qua các Sự kiện nghiệp vụ (Events) qua Event Broker (Apache Kafka, RabbitMQ).</a:t>
            </a:r>
            <a:endParaRPr sz="1100">
              <a:solidFill>
                <a:srgbClr val="1E293B"/>
              </a:solidFill>
              <a:latin typeface="Arial" panose="020B0604020202020204"/>
            </a:endParaRPr>
          </a:p>
          <a:p>
            <a:pPr lvl="1">
              <a:lnSpc>
                <a:spcPct val="115000"/>
              </a:lnSpc>
              <a:spcAft>
                <a:spcPts val="600"/>
              </a:spcAft>
            </a:pPr>
            <a:r>
              <a:rPr sz="1050" b="1">
                <a:solidFill>
                  <a:srgbClr val="1E293B"/>
                </a:solidFill>
                <a:latin typeface="Arial" panose="020B0604020202020204"/>
              </a:rPr>
              <a:t>• Khớp nối lỏng lẻo (Loose Coupling): </a:t>
            </a:r>
            <a:r>
              <a:rPr sz="1000">
                <a:solidFill>
                  <a:srgbClr val="1E293B"/>
                </a:solidFill>
                <a:latin typeface="Arial" panose="020B0604020202020204"/>
              </a:rPr>
              <a:t>Producer chỉ bắn sự kiện vào hàng đợi, Consumer tự do đón nhận xử lý mà không cần đợi nhau.</a:t>
            </a:r>
            <a:endParaRPr sz="1000">
              <a:solidFill>
                <a:srgbClr val="1E293B"/>
              </a:solidFill>
              <a:latin typeface="Arial" panose="020B0604020202020204"/>
            </a:endParaRPr>
          </a:p>
          <a:p>
            <a:pPr lvl="1">
              <a:lnSpc>
                <a:spcPct val="115000"/>
              </a:lnSpc>
              <a:spcAft>
                <a:spcPts val="600"/>
              </a:spcAft>
            </a:pPr>
            <a:r>
              <a:rPr sz="1050" b="1">
                <a:solidFill>
                  <a:srgbClr val="1E293B"/>
                </a:solidFill>
                <a:latin typeface="Arial" panose="020B0604020202020204"/>
              </a:rPr>
              <a:t>• Event Sourcing &amp; CQRS: </a:t>
            </a:r>
            <a:r>
              <a:rPr sz="1000">
                <a:solidFill>
                  <a:srgbClr val="1E293B"/>
                </a:solidFill>
                <a:latin typeface="Arial" panose="020B0604020202020204"/>
              </a:rPr>
              <a:t>Lưu vết toàn bộ biến động trạng thái dưới dạng luồng sự kiện bất biến; tách rời luồng ghi và luồng đọc.</a:t>
            </a:r>
            <a:endParaRPr sz="1000">
              <a:solidFill>
                <a:srgbClr val="1E293B"/>
              </a:solidFill>
              <a:latin typeface="Arial" panose="020B0604020202020204"/>
            </a:endParaRPr>
          </a:p>
          <a:p>
            <a:pPr>
              <a:lnSpc>
                <a:spcPct val="115000"/>
              </a:lnSpc>
              <a:spcAft>
                <a:spcPts val="600"/>
              </a:spcAft>
            </a:pPr>
            <a:r>
              <a:rPr sz="1150" b="1">
                <a:solidFill>
                  <a:srgbClr val="1F4E79"/>
                </a:solidFill>
                <a:latin typeface="Arial" panose="020B0604020202020204"/>
              </a:rPr>
              <a:t>2. Kiến trúc Không máy chủ (Serverless): </a:t>
            </a:r>
            <a:r>
              <a:rPr sz="1100">
                <a:solidFill>
                  <a:srgbClr val="1E293B"/>
                </a:solidFill>
                <a:latin typeface="Arial" panose="020B0604020202020204"/>
              </a:rPr>
              <a:t>Lập trình viên chỉ viết mã hàm logic (FaaS - AWS Lambda, Cloudflare Workers); nhà cung cấp Cloud quản trị 100% hạ tầng.</a:t>
            </a:r>
            <a:endParaRPr sz="1100">
              <a:solidFill>
                <a:srgbClr val="1E293B"/>
              </a:solidFill>
              <a:latin typeface="Arial" panose="020B0604020202020204"/>
            </a:endParaRPr>
          </a:p>
          <a:p>
            <a:pPr lvl="1">
              <a:lnSpc>
                <a:spcPct val="115000"/>
              </a:lnSpc>
              <a:spcAft>
                <a:spcPts val="600"/>
              </a:spcAft>
            </a:pPr>
            <a:r>
              <a:rPr sz="1050" b="1">
                <a:solidFill>
                  <a:srgbClr val="1E293B"/>
                </a:solidFill>
                <a:latin typeface="Arial" panose="020B0604020202020204"/>
              </a:rPr>
              <a:t>• Tính phí theo thực tế (Pay-per-use): </a:t>
            </a:r>
            <a:r>
              <a:rPr sz="1000">
                <a:solidFill>
                  <a:srgbClr val="1E293B"/>
                </a:solidFill>
                <a:latin typeface="Arial" panose="020B0604020202020204"/>
              </a:rPr>
              <a:t>Tính tiền theo từng mili-giây hàm chạy; không có truy cập = Chi phí bằng 0 đồng.</a:t>
            </a:r>
            <a:endParaRPr sz="1000">
              <a:solidFill>
                <a:srgbClr val="1E293B"/>
              </a:solidFill>
              <a:latin typeface="Arial" panose="020B0604020202020204"/>
            </a:endParaRPr>
          </a:p>
          <a:p>
            <a:pPr lvl="1">
              <a:lnSpc>
                <a:spcPct val="115000"/>
              </a:lnSpc>
              <a:spcAft>
                <a:spcPts val="600"/>
              </a:spcAft>
            </a:pPr>
            <a:r>
              <a:rPr sz="1050" b="1">
                <a:solidFill>
                  <a:srgbClr val="1E293B"/>
                </a:solidFill>
                <a:latin typeface="Arial" panose="020B0604020202020204"/>
              </a:rPr>
              <a:t>• Tự động co giãn đàn hồi: </a:t>
            </a:r>
            <a:r>
              <a:rPr sz="1000">
                <a:solidFill>
                  <a:srgbClr val="1E293B"/>
                </a:solidFill>
                <a:latin typeface="Arial" panose="020B0604020202020204"/>
              </a:rPr>
              <a:t>Mở rộng từ 0 lên 10.000 instances tức thời.</a:t>
            </a:r>
            <a:endParaRPr sz="1000">
              <a:solidFill>
                <a:srgbClr val="1E293B"/>
              </a:solidFill>
              <a:latin typeface="Arial" panose="020B0604020202020204"/>
            </a:endParaRPr>
          </a:p>
          <a:p>
            <a:pPr lvl="1">
              <a:lnSpc>
                <a:spcPct val="115000"/>
              </a:lnSpc>
              <a:spcAft>
                <a:spcPts val="600"/>
              </a:spcAft>
            </a:pPr>
            <a:r>
              <a:rPr sz="1050" b="1">
                <a:solidFill>
                  <a:srgbClr val="1E293B"/>
                </a:solidFill>
                <a:latin typeface="Arial" panose="020B0604020202020204"/>
              </a:rPr>
              <a:t>• Thách thức: </a:t>
            </a:r>
            <a:r>
              <a:rPr sz="1000">
                <a:solidFill>
                  <a:srgbClr val="1E293B"/>
                </a:solidFill>
                <a:latin typeface="Arial" panose="020B0604020202020204"/>
              </a:rPr>
              <a:t>Độ trễ khởi động lại hàm (Cold Start) và rủi ro phụ thuộc nền tảng đám mây (Vendor Lock-in).</a:t>
            </a:r>
            <a:endParaRPr sz="1000">
              <a:solidFill>
                <a:srgbClr val="1E293B"/>
              </a:solidFill>
              <a:latin typeface="Arial" panose="020B0604020202020204"/>
            </a:endParaRPr>
          </a:p>
        </p:txBody>
      </p:sp>
      <p:sp>
        <p:nvSpPr>
          <p:cNvPr id="7" name="Rounded Rectangle 6"/>
          <p:cNvSpPr/>
          <p:nvPr/>
        </p:nvSpPr>
        <p:spPr>
          <a:xfrm>
            <a:off x="7132320" y="1645920"/>
            <a:ext cx="429768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event_driven_queue.png"/>
          <p:cNvPicPr>
            <a:picLocks noChangeAspect="1"/>
          </p:cNvPicPr>
          <p:nvPr/>
        </p:nvPicPr>
        <p:blipFill>
          <a:blip r:embed="rId1"/>
          <a:stretch>
            <a:fillRect/>
          </a:stretch>
        </p:blipFill>
        <p:spPr>
          <a:xfrm>
            <a:off x="7269480" y="1783080"/>
            <a:ext cx="4023360" cy="917326"/>
          </a:xfrm>
          <a:prstGeom prst="rect">
            <a:avLst/>
          </a:prstGeom>
        </p:spPr>
      </p:pic>
      <p:sp>
        <p:nvSpPr>
          <p:cNvPr id="9" name="TextBox 8"/>
          <p:cNvSpPr txBox="1"/>
          <p:nvPr/>
        </p:nvSpPr>
        <p:spPr>
          <a:xfrm>
            <a:off x="7223760" y="5623560"/>
            <a:ext cx="4114800" cy="365760"/>
          </a:xfrm>
          <a:prstGeom prst="rect">
            <a:avLst/>
          </a:prstGeom>
          <a:noFill/>
        </p:spPr>
        <p:txBody>
          <a:bodyPr wrap="square">
            <a:spAutoFit/>
          </a:bodyPr>
          <a:lstStyle/>
          <a:p>
            <a:pPr algn="ctr"/>
            <a:r>
              <a:rPr sz="850" i="1">
                <a:solidFill>
                  <a:srgbClr val="64748B"/>
                </a:solidFill>
                <a:latin typeface="Arial" panose="020B0604020202020204"/>
              </a:rPr>
              <a:t>Minh họa: Kiến trúc Hướng sự kiện (Event-Driven) và Hàng đợi Bất đồng bộ (Message Queue)</a:t>
            </a:r>
            <a:endParaRPr sz="850" i="1">
              <a:solidFill>
                <a:srgbClr val="64748B"/>
              </a:solidFill>
              <a:latin typeface="Arial" panose="020B060402020202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914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1005840"/>
          </a:xfrm>
          <a:prstGeom prst="rect">
            <a:avLst/>
          </a:prstGeom>
          <a:noFill/>
        </p:spPr>
        <p:txBody>
          <a:bodyPr wrap="square" lIns="0" tIns="0" rIns="0" bIns="0">
            <a:spAutoFit/>
          </a:bodyPr>
          <a:lstStyle/>
          <a:p>
            <a:pPr>
              <a:spcAft>
                <a:spcPts val="200"/>
              </a:spcAft>
            </a:pPr>
            <a:r>
              <a:rPr sz="950" b="1">
                <a:solidFill>
                  <a:srgbClr val="D97706"/>
                </a:solidFill>
                <a:latin typeface="Arial" panose="020B0604020202020204"/>
              </a:rPr>
              <a:t>PHẦN 3: MỘT SỐ MẪU THIẾT KẾ KIẾN TRÚC PHỔ BIẾN (MỤC 3.3.2)</a:t>
            </a:r>
            <a:endParaRPr sz="950" b="1">
              <a:solidFill>
                <a:srgbClr val="D97706"/>
              </a:solidFill>
              <a:latin typeface="Arial" panose="020B0604020202020204"/>
            </a:endParaRPr>
          </a:p>
          <a:p>
            <a:pPr>
              <a:spcAft>
                <a:spcPts val="200"/>
              </a:spcAft>
            </a:pPr>
            <a:r>
              <a:rPr sz="1900" b="1">
                <a:solidFill>
                  <a:srgbClr val="0F2043"/>
                </a:solidFill>
                <a:latin typeface="Arial" panose="020B0604020202020204"/>
              </a:rPr>
              <a:t>3.3. MA TRẬN SO SÁNH TOÀN DIỆN 5 MẪU KIẾN TRÚC HIỆN ĐẠI</a:t>
            </a:r>
            <a:endParaRPr sz="1900" b="1">
              <a:solidFill>
                <a:srgbClr val="0F2043"/>
              </a:solidFill>
              <a:latin typeface="Arial" panose="020B0604020202020204"/>
            </a:endParaRPr>
          </a:p>
          <a:p>
            <a:r>
              <a:rPr sz="1100" i="1">
                <a:solidFill>
                  <a:srgbClr val="64748B"/>
                </a:solidFill>
                <a:latin typeface="Arial" panose="020B0604020202020204"/>
              </a:rPr>
              <a:t>Bảng đối chiếu đa chiều về độ phức tạp, khả năng mở rộng, tính nhất quán và chi phí</a:t>
            </a:r>
            <a:endParaRPr sz="1100" i="1">
              <a:solidFill>
                <a:srgbClr val="64748B"/>
              </a:solidFill>
              <a:latin typeface="Arial" panose="020B0604020202020204"/>
            </a:endParaRPr>
          </a:p>
        </p:txBody>
      </p:sp>
      <p:sp>
        <p:nvSpPr>
          <p:cNvPr id="4" name="TextBox 3"/>
          <p:cNvSpPr txBox="1"/>
          <p:nvPr/>
        </p:nvSpPr>
        <p:spPr>
          <a:xfrm>
            <a:off x="731520" y="6400800"/>
            <a:ext cx="10698480" cy="320040"/>
          </a:xfrm>
          <a:prstGeom prst="rect">
            <a:avLst/>
          </a:prstGeom>
          <a:noFill/>
        </p:spPr>
        <p:txBody>
          <a:bodyPr wrap="none" lIns="0" tIns="0" rIns="0" bIns="0">
            <a:spAutoFit/>
          </a:bodyPr>
          <a:lstStyle/>
          <a:p>
            <a:r>
              <a:rPr sz="850">
                <a:solidFill>
                  <a:srgbClr val="64748B"/>
                </a:solidFill>
                <a:latin typeface="Arial" panose="020B0604020202020204"/>
              </a:rPr>
              <a:t>Học phần: Kiến trúc và Thiết kế Phần mềm — Báo cáo Chương 3: Thiết kế Kiến trúc | Dự án: php-restaurant</a:t>
            </a:r>
            <a:r>
              <a:rPr sz="850" b="1">
                <a:solidFill>
                  <a:srgbClr val="1F4E79"/>
                </a:solidFill>
                <a:latin typeface="Arial" panose="020B0604020202020204"/>
              </a:rPr>
              <a:t>             Slide 17 / 20</a:t>
            </a:r>
            <a:endParaRPr sz="850" b="1">
              <a:solidFill>
                <a:srgbClr val="1F4E79"/>
              </a:solidFill>
              <a:latin typeface="Arial" panose="020B0604020202020204"/>
            </a:endParaRPr>
          </a:p>
        </p:txBody>
      </p:sp>
      <p:graphicFrame>
        <p:nvGraphicFramePr>
          <p:cNvPr id="5" name="Table 4"/>
          <p:cNvGraphicFramePr>
            <a:graphicFrameLocks noGrp="1"/>
          </p:cNvGraphicFramePr>
          <p:nvPr/>
        </p:nvGraphicFramePr>
        <p:xfrm>
          <a:off x="731520" y="1645920"/>
          <a:ext cx="10698480" cy="4389120"/>
        </p:xfrm>
        <a:graphic>
          <a:graphicData uri="http://schemas.openxmlformats.org/drawingml/2006/table">
            <a:tbl>
              <a:tblPr firstRow="1" bandRow="1">
                <a:tableStyleId>{5C22544A-7EE6-4342-B048-85BDC9FD1C3A}</a:tableStyleId>
              </a:tblPr>
              <a:tblGrid>
                <a:gridCol w="1645920"/>
                <a:gridCol w="1828800"/>
                <a:gridCol w="1828800"/>
                <a:gridCol w="1828800"/>
                <a:gridCol w="1828800"/>
                <a:gridCol w="1737360"/>
              </a:tblGrid>
              <a:tr h="627017">
                <a:tc>
                  <a:txBody>
                    <a:bodyPr/>
                    <a:lstStyle/>
                    <a:p>
                      <a:pPr algn="l"/>
                      <a:r>
                        <a:rPr sz="950" b="1">
                          <a:solidFill>
                            <a:srgbClr val="FFFFFF"/>
                          </a:solidFill>
                          <a:latin typeface="Arial" panose="020B0604020202020204"/>
                        </a:rPr>
                        <a:t>Tiêu chí So Sánh</a:t>
                      </a:r>
                      <a:endParaRPr sz="950" b="1">
                        <a:solidFill>
                          <a:srgbClr val="FFFFFF"/>
                        </a:solidFill>
                        <a:latin typeface="Arial" panose="020B0604020202020204"/>
                      </a:endParaRPr>
                    </a:p>
                  </a:txBody>
                  <a:tcPr>
                    <a:solidFill>
                      <a:srgbClr val="1F4E79"/>
                    </a:solidFill>
                  </a:tcPr>
                </a:tc>
                <a:tc>
                  <a:txBody>
                    <a:bodyPr/>
                    <a:lstStyle/>
                    <a:p>
                      <a:pPr algn="ctr"/>
                      <a:r>
                        <a:rPr sz="950" b="1">
                          <a:solidFill>
                            <a:srgbClr val="FFFFFF"/>
                          </a:solidFill>
                          <a:latin typeface="Arial" panose="020B0604020202020204"/>
                        </a:rPr>
                        <a:t>Clean Architecture</a:t>
                      </a:r>
                      <a:endParaRPr sz="950" b="1">
                        <a:solidFill>
                          <a:srgbClr val="FFFFFF"/>
                        </a:solidFill>
                        <a:latin typeface="Arial" panose="020B0604020202020204"/>
                      </a:endParaRPr>
                    </a:p>
                  </a:txBody>
                  <a:tcPr>
                    <a:solidFill>
                      <a:srgbClr val="1F4E79"/>
                    </a:solidFill>
                  </a:tcPr>
                </a:tc>
                <a:tc>
                  <a:txBody>
                    <a:bodyPr/>
                    <a:lstStyle/>
                    <a:p>
                      <a:pPr algn="ctr"/>
                      <a:r>
                        <a:rPr sz="950" b="1">
                          <a:solidFill>
                            <a:srgbClr val="FFFFFF"/>
                          </a:solidFill>
                          <a:latin typeface="Arial" panose="020B0604020202020204"/>
                        </a:rPr>
                        <a:t>Microservices</a:t>
                      </a:r>
                      <a:endParaRPr sz="950" b="1">
                        <a:solidFill>
                          <a:srgbClr val="FFFFFF"/>
                        </a:solidFill>
                        <a:latin typeface="Arial" panose="020B0604020202020204"/>
                      </a:endParaRPr>
                    </a:p>
                  </a:txBody>
                  <a:tcPr>
                    <a:solidFill>
                      <a:srgbClr val="1F4E79"/>
                    </a:solidFill>
                  </a:tcPr>
                </a:tc>
                <a:tc>
                  <a:txBody>
                    <a:bodyPr/>
                    <a:lstStyle/>
                    <a:p>
                      <a:pPr algn="ctr"/>
                      <a:r>
                        <a:rPr sz="950" b="1">
                          <a:solidFill>
                            <a:srgbClr val="FFFFFF"/>
                          </a:solidFill>
                          <a:latin typeface="Arial" panose="020B0604020202020204"/>
                        </a:rPr>
                        <a:t>Event-Driven (EDA)</a:t>
                      </a:r>
                      <a:endParaRPr sz="950" b="1">
                        <a:solidFill>
                          <a:srgbClr val="FFFFFF"/>
                        </a:solidFill>
                        <a:latin typeface="Arial" panose="020B0604020202020204"/>
                      </a:endParaRPr>
                    </a:p>
                  </a:txBody>
                  <a:tcPr>
                    <a:solidFill>
                      <a:srgbClr val="1F4E79"/>
                    </a:solidFill>
                  </a:tcPr>
                </a:tc>
                <a:tc>
                  <a:txBody>
                    <a:bodyPr/>
                    <a:lstStyle/>
                    <a:p>
                      <a:pPr algn="ctr"/>
                      <a:r>
                        <a:rPr sz="950" b="1">
                          <a:solidFill>
                            <a:srgbClr val="FFFFFF"/>
                          </a:solidFill>
                          <a:latin typeface="Arial" panose="020B0604020202020204"/>
                        </a:rPr>
                        <a:t>Serverless (FaaS)</a:t>
                      </a:r>
                      <a:endParaRPr sz="950" b="1">
                        <a:solidFill>
                          <a:srgbClr val="FFFFFF"/>
                        </a:solidFill>
                        <a:latin typeface="Arial" panose="020B0604020202020204"/>
                      </a:endParaRPr>
                    </a:p>
                  </a:txBody>
                  <a:tcPr>
                    <a:solidFill>
                      <a:srgbClr val="1F4E79"/>
                    </a:solidFill>
                  </a:tcPr>
                </a:tc>
                <a:tc>
                  <a:txBody>
                    <a:bodyPr/>
                    <a:lstStyle/>
                    <a:p>
                      <a:pPr algn="ctr"/>
                      <a:r>
                        <a:rPr sz="950" b="1">
                          <a:solidFill>
                            <a:srgbClr val="FFFFFF"/>
                          </a:solidFill>
                          <a:latin typeface="Arial" panose="020B0604020202020204"/>
                        </a:rPr>
                        <a:t>Space-Based (RAM)</a:t>
                      </a:r>
                      <a:endParaRPr sz="950" b="1">
                        <a:solidFill>
                          <a:srgbClr val="FFFFFF"/>
                        </a:solidFill>
                        <a:latin typeface="Arial" panose="020B0604020202020204"/>
                      </a:endParaRPr>
                    </a:p>
                  </a:txBody>
                  <a:tcPr>
                    <a:solidFill>
                      <a:srgbClr val="1F4E79"/>
                    </a:solidFill>
                  </a:tcPr>
                </a:tc>
              </a:tr>
              <a:tr h="627017">
                <a:tc>
                  <a:txBody>
                    <a:bodyPr/>
                    <a:lstStyle/>
                    <a:p>
                      <a:pPr algn="l"/>
                      <a:r>
                        <a:rPr sz="850" b="1">
                          <a:solidFill>
                            <a:srgbClr val="1E293B"/>
                          </a:solidFill>
                          <a:latin typeface="Arial" panose="020B0604020202020204"/>
                        </a:rPr>
                        <a:t>Bản chất Cốt lõi</a:t>
                      </a:r>
                      <a:endParaRPr sz="850" b="1">
                        <a:solidFill>
                          <a:srgbClr val="1E293B"/>
                        </a:solidFill>
                        <a:latin typeface="Arial" panose="020B0604020202020204"/>
                      </a:endParaRPr>
                    </a:p>
                  </a:txBody>
                  <a:tcPr>
                    <a:solidFill>
                      <a:srgbClr val="F8FAFC"/>
                    </a:solidFill>
                  </a:tcPr>
                </a:tc>
                <a:tc>
                  <a:txBody>
                    <a:bodyPr/>
                    <a:lstStyle/>
                    <a:p>
                      <a:pPr algn="ctr"/>
                      <a:r>
                        <a:rPr sz="850">
                          <a:solidFill>
                            <a:srgbClr val="1E293B"/>
                          </a:solidFill>
                          <a:latin typeface="Arial" panose="020B0604020202020204"/>
                        </a:rPr>
                        <a:t>Đảo ngược phụ thuộc, độc lập Framework</a:t>
                      </a:r>
                      <a:endParaRPr sz="850">
                        <a:solidFill>
                          <a:srgbClr val="1E293B"/>
                        </a:solidFill>
                        <a:latin typeface="Arial" panose="020B0604020202020204"/>
                      </a:endParaRPr>
                    </a:p>
                  </a:txBody>
                  <a:tcPr>
                    <a:solidFill>
                      <a:srgbClr val="F8FAFC"/>
                    </a:solidFill>
                  </a:tcPr>
                </a:tc>
                <a:tc>
                  <a:txBody>
                    <a:bodyPr/>
                    <a:lstStyle/>
                    <a:p>
                      <a:pPr algn="ctr"/>
                      <a:r>
                        <a:rPr sz="850">
                          <a:solidFill>
                            <a:srgbClr val="1E293B"/>
                          </a:solidFill>
                          <a:latin typeface="Arial" panose="020B0604020202020204"/>
                        </a:rPr>
                        <a:t>Phân tán theo Bounded Context</a:t>
                      </a:r>
                      <a:endParaRPr sz="850">
                        <a:solidFill>
                          <a:srgbClr val="1E293B"/>
                        </a:solidFill>
                        <a:latin typeface="Arial" panose="020B0604020202020204"/>
                      </a:endParaRPr>
                    </a:p>
                  </a:txBody>
                  <a:tcPr>
                    <a:solidFill>
                      <a:srgbClr val="F8FAFC"/>
                    </a:solidFill>
                  </a:tcPr>
                </a:tc>
                <a:tc>
                  <a:txBody>
                    <a:bodyPr/>
                    <a:lstStyle/>
                    <a:p>
                      <a:pPr algn="ctr"/>
                      <a:r>
                        <a:rPr sz="850">
                          <a:solidFill>
                            <a:srgbClr val="1E293B"/>
                          </a:solidFill>
                          <a:latin typeface="Arial" panose="020B0604020202020204"/>
                        </a:rPr>
                        <a:t>Giao tiếp bất đồng bộ qua Broker</a:t>
                      </a:r>
                      <a:endParaRPr sz="850">
                        <a:solidFill>
                          <a:srgbClr val="1E293B"/>
                        </a:solidFill>
                        <a:latin typeface="Arial" panose="020B0604020202020204"/>
                      </a:endParaRPr>
                    </a:p>
                  </a:txBody>
                  <a:tcPr>
                    <a:solidFill>
                      <a:srgbClr val="F8FAFC"/>
                    </a:solidFill>
                  </a:tcPr>
                </a:tc>
                <a:tc>
                  <a:txBody>
                    <a:bodyPr/>
                    <a:lstStyle/>
                    <a:p>
                      <a:pPr algn="ctr"/>
                      <a:r>
                        <a:rPr sz="850">
                          <a:solidFill>
                            <a:srgbClr val="1E293B"/>
                          </a:solidFill>
                          <a:latin typeface="Arial" panose="020B0604020202020204"/>
                        </a:rPr>
                        <a:t>Mã hàm phi trạng thái, Cloud quản lý</a:t>
                      </a:r>
                      <a:endParaRPr sz="850">
                        <a:solidFill>
                          <a:srgbClr val="1E293B"/>
                        </a:solidFill>
                        <a:latin typeface="Arial" panose="020B0604020202020204"/>
                      </a:endParaRPr>
                    </a:p>
                  </a:txBody>
                  <a:tcPr>
                    <a:solidFill>
                      <a:srgbClr val="F8FAFC"/>
                    </a:solidFill>
                  </a:tcPr>
                </a:tc>
                <a:tc>
                  <a:txBody>
                    <a:bodyPr/>
                    <a:lstStyle/>
                    <a:p>
                      <a:pPr algn="ctr"/>
                      <a:r>
                        <a:rPr sz="850">
                          <a:solidFill>
                            <a:srgbClr val="1E293B"/>
                          </a:solidFill>
                          <a:latin typeface="Arial" panose="020B0604020202020204"/>
                        </a:rPr>
                        <a:t>Phân tán trên RAM, xóa nghẽn DB</a:t>
                      </a:r>
                      <a:endParaRPr sz="850">
                        <a:solidFill>
                          <a:srgbClr val="1E293B"/>
                        </a:solidFill>
                        <a:latin typeface="Arial" panose="020B0604020202020204"/>
                      </a:endParaRPr>
                    </a:p>
                  </a:txBody>
                  <a:tcPr>
                    <a:solidFill>
                      <a:srgbClr val="F8FAFC"/>
                    </a:solidFill>
                  </a:tcPr>
                </a:tc>
              </a:tr>
              <a:tr h="627017">
                <a:tc>
                  <a:txBody>
                    <a:bodyPr/>
                    <a:lstStyle/>
                    <a:p>
                      <a:pPr algn="l"/>
                      <a:r>
                        <a:rPr sz="850" b="1">
                          <a:solidFill>
                            <a:srgbClr val="1E293B"/>
                          </a:solidFill>
                          <a:latin typeface="Arial" panose="020B0604020202020204"/>
                        </a:rPr>
                        <a:t>Khả năng Mở rộng</a:t>
                      </a:r>
                      <a:endParaRPr sz="850" b="1">
                        <a:solidFill>
                          <a:srgbClr val="1E293B"/>
                        </a:solidFill>
                        <a:latin typeface="Arial" panose="020B0604020202020204"/>
                      </a:endParaRPr>
                    </a:p>
                  </a:txBody>
                  <a:tcPr>
                    <a:solidFill>
                      <a:srgbClr val="FFFFFF"/>
                    </a:solidFill>
                  </a:tcPr>
                </a:tc>
                <a:tc>
                  <a:txBody>
                    <a:bodyPr/>
                    <a:lstStyle/>
                    <a:p>
                      <a:pPr algn="ctr"/>
                      <a:r>
                        <a:rPr sz="850">
                          <a:solidFill>
                            <a:srgbClr val="1E293B"/>
                          </a:solidFill>
                          <a:latin typeface="Arial" panose="020B0604020202020204"/>
                        </a:rPr>
                        <a:t>Trung bình (Theo khối ứng dụng)</a:t>
                      </a:r>
                      <a:endParaRPr sz="850">
                        <a:solidFill>
                          <a:srgbClr val="1E293B"/>
                        </a:solidFill>
                        <a:latin typeface="Arial" panose="020B0604020202020204"/>
                      </a:endParaRPr>
                    </a:p>
                  </a:txBody>
                  <a:tcPr>
                    <a:solidFill>
                      <a:srgbClr val="FFFFFF"/>
                    </a:solidFill>
                  </a:tcPr>
                </a:tc>
                <a:tc>
                  <a:txBody>
                    <a:bodyPr/>
                    <a:lstStyle/>
                    <a:p>
                      <a:pPr algn="ctr"/>
                      <a:r>
                        <a:rPr sz="850">
                          <a:solidFill>
                            <a:srgbClr val="1E293B"/>
                          </a:solidFill>
                          <a:latin typeface="Arial" panose="020B0604020202020204"/>
                        </a:rPr>
                        <a:t>Rất cao (Độc lập từng dịch vụ)</a:t>
                      </a:r>
                      <a:endParaRPr sz="850">
                        <a:solidFill>
                          <a:srgbClr val="1E293B"/>
                        </a:solidFill>
                        <a:latin typeface="Arial" panose="020B0604020202020204"/>
                      </a:endParaRPr>
                    </a:p>
                  </a:txBody>
                  <a:tcPr>
                    <a:solidFill>
                      <a:srgbClr val="FFFFFF"/>
                    </a:solidFill>
                  </a:tcPr>
                </a:tc>
                <a:tc>
                  <a:txBody>
                    <a:bodyPr/>
                    <a:lstStyle/>
                    <a:p>
                      <a:pPr algn="ctr"/>
                      <a:r>
                        <a:rPr sz="850">
                          <a:solidFill>
                            <a:srgbClr val="1E293B"/>
                          </a:solidFill>
                          <a:latin typeface="Arial" panose="020B0604020202020204"/>
                        </a:rPr>
                        <a:t>Cực cao (Xử lý stream lớn)</a:t>
                      </a:r>
                      <a:endParaRPr sz="850">
                        <a:solidFill>
                          <a:srgbClr val="1E293B"/>
                        </a:solidFill>
                        <a:latin typeface="Arial" panose="020B0604020202020204"/>
                      </a:endParaRPr>
                    </a:p>
                  </a:txBody>
                  <a:tcPr>
                    <a:solidFill>
                      <a:srgbClr val="FFFFFF"/>
                    </a:solidFill>
                  </a:tcPr>
                </a:tc>
                <a:tc>
                  <a:txBody>
                    <a:bodyPr/>
                    <a:lstStyle/>
                    <a:p>
                      <a:pPr algn="ctr"/>
                      <a:r>
                        <a:rPr sz="850">
                          <a:solidFill>
                            <a:srgbClr val="1E293B"/>
                          </a:solidFill>
                          <a:latin typeface="Arial" panose="020B0604020202020204"/>
                        </a:rPr>
                        <a:t>Tự động vô hạn (0 đến N instances)</a:t>
                      </a:r>
                      <a:endParaRPr sz="850">
                        <a:solidFill>
                          <a:srgbClr val="1E293B"/>
                        </a:solidFill>
                        <a:latin typeface="Arial" panose="020B0604020202020204"/>
                      </a:endParaRPr>
                    </a:p>
                  </a:txBody>
                  <a:tcPr>
                    <a:solidFill>
                      <a:srgbClr val="FFFFFF"/>
                    </a:solidFill>
                  </a:tcPr>
                </a:tc>
                <a:tc>
                  <a:txBody>
                    <a:bodyPr/>
                    <a:lstStyle/>
                    <a:p>
                      <a:pPr algn="ctr"/>
                      <a:r>
                        <a:rPr sz="850">
                          <a:solidFill>
                            <a:srgbClr val="1E293B"/>
                          </a:solidFill>
                          <a:latin typeface="Arial" panose="020B0604020202020204"/>
                        </a:rPr>
                        <a:t>Cực cao (Mở rộng cụm RAM)</a:t>
                      </a:r>
                      <a:endParaRPr sz="850">
                        <a:solidFill>
                          <a:srgbClr val="1E293B"/>
                        </a:solidFill>
                        <a:latin typeface="Arial" panose="020B0604020202020204"/>
                      </a:endParaRPr>
                    </a:p>
                  </a:txBody>
                  <a:tcPr>
                    <a:solidFill>
                      <a:srgbClr val="FFFFFF"/>
                    </a:solidFill>
                  </a:tcPr>
                </a:tc>
              </a:tr>
              <a:tr h="627017">
                <a:tc>
                  <a:txBody>
                    <a:bodyPr/>
                    <a:lstStyle/>
                    <a:p>
                      <a:pPr algn="l"/>
                      <a:r>
                        <a:rPr sz="850" b="1">
                          <a:solidFill>
                            <a:srgbClr val="1E293B"/>
                          </a:solidFill>
                          <a:latin typeface="Arial" panose="020B0604020202020204"/>
                        </a:rPr>
                        <a:t>Nhất quán Dữ liệu</a:t>
                      </a:r>
                      <a:endParaRPr sz="850" b="1">
                        <a:solidFill>
                          <a:srgbClr val="1E293B"/>
                        </a:solidFill>
                        <a:latin typeface="Arial" panose="020B0604020202020204"/>
                      </a:endParaRPr>
                    </a:p>
                  </a:txBody>
                  <a:tcPr>
                    <a:solidFill>
                      <a:srgbClr val="F8FAFC"/>
                    </a:solidFill>
                  </a:tcPr>
                </a:tc>
                <a:tc>
                  <a:txBody>
                    <a:bodyPr/>
                    <a:lstStyle/>
                    <a:p>
                      <a:pPr algn="ctr"/>
                      <a:r>
                        <a:rPr sz="850">
                          <a:solidFill>
                            <a:srgbClr val="1E293B"/>
                          </a:solidFill>
                          <a:latin typeface="Arial" panose="020B0604020202020204"/>
                        </a:rPr>
                        <a:t>Rất cao (ACID CSDL chuẩn)</a:t>
                      </a:r>
                      <a:endParaRPr sz="850">
                        <a:solidFill>
                          <a:srgbClr val="1E293B"/>
                        </a:solidFill>
                        <a:latin typeface="Arial" panose="020B0604020202020204"/>
                      </a:endParaRPr>
                    </a:p>
                  </a:txBody>
                  <a:tcPr>
                    <a:solidFill>
                      <a:srgbClr val="F8FAFC"/>
                    </a:solidFill>
                  </a:tcPr>
                </a:tc>
                <a:tc>
                  <a:txBody>
                    <a:bodyPr/>
                    <a:lstStyle/>
                    <a:p>
                      <a:pPr algn="ctr"/>
                      <a:r>
                        <a:rPr sz="850">
                          <a:solidFill>
                            <a:srgbClr val="1E293B"/>
                          </a:solidFill>
                          <a:latin typeface="Arial" panose="020B0604020202020204"/>
                        </a:rPr>
                        <a:t>Eventual Consistency (Saga)</a:t>
                      </a:r>
                      <a:endParaRPr sz="850">
                        <a:solidFill>
                          <a:srgbClr val="1E293B"/>
                        </a:solidFill>
                        <a:latin typeface="Arial" panose="020B0604020202020204"/>
                      </a:endParaRPr>
                    </a:p>
                  </a:txBody>
                  <a:tcPr>
                    <a:solidFill>
                      <a:srgbClr val="F8FAFC"/>
                    </a:solidFill>
                  </a:tcPr>
                </a:tc>
                <a:tc>
                  <a:txBody>
                    <a:bodyPr/>
                    <a:lstStyle/>
                    <a:p>
                      <a:pPr algn="ctr"/>
                      <a:r>
                        <a:rPr sz="850">
                          <a:solidFill>
                            <a:srgbClr val="1E293B"/>
                          </a:solidFill>
                          <a:latin typeface="Arial" panose="020B0604020202020204"/>
                        </a:rPr>
                        <a:t>Eventual Consistency (Saga)</a:t>
                      </a:r>
                      <a:endParaRPr sz="850">
                        <a:solidFill>
                          <a:srgbClr val="1E293B"/>
                        </a:solidFill>
                        <a:latin typeface="Arial" panose="020B0604020202020204"/>
                      </a:endParaRPr>
                    </a:p>
                  </a:txBody>
                  <a:tcPr>
                    <a:solidFill>
                      <a:srgbClr val="F8FAFC"/>
                    </a:solidFill>
                  </a:tcPr>
                </a:tc>
                <a:tc>
                  <a:txBody>
                    <a:bodyPr/>
                    <a:lstStyle/>
                    <a:p>
                      <a:pPr algn="ctr"/>
                      <a:r>
                        <a:rPr sz="850">
                          <a:solidFill>
                            <a:srgbClr val="1E293B"/>
                          </a:solidFill>
                          <a:latin typeface="Arial" panose="020B0604020202020204"/>
                        </a:rPr>
                        <a:t>Phụ thuộc CSDL (DynamoDB/SQL)</a:t>
                      </a:r>
                      <a:endParaRPr sz="850">
                        <a:solidFill>
                          <a:srgbClr val="1E293B"/>
                        </a:solidFill>
                        <a:latin typeface="Arial" panose="020B0604020202020204"/>
                      </a:endParaRPr>
                    </a:p>
                  </a:txBody>
                  <a:tcPr>
                    <a:solidFill>
                      <a:srgbClr val="F8FAFC"/>
                    </a:solidFill>
                  </a:tcPr>
                </a:tc>
                <a:tc>
                  <a:txBody>
                    <a:bodyPr/>
                    <a:lstStyle/>
                    <a:p>
                      <a:pPr algn="ctr"/>
                      <a:r>
                        <a:rPr sz="850">
                          <a:solidFill>
                            <a:srgbClr val="1E293B"/>
                          </a:solidFill>
                          <a:latin typeface="Arial" panose="020B0604020202020204"/>
                        </a:rPr>
                        <a:t>Rất cao (Đồng bộ trên RAM tức thời)</a:t>
                      </a:r>
                      <a:endParaRPr sz="850">
                        <a:solidFill>
                          <a:srgbClr val="1E293B"/>
                        </a:solidFill>
                        <a:latin typeface="Arial" panose="020B0604020202020204"/>
                      </a:endParaRPr>
                    </a:p>
                  </a:txBody>
                  <a:tcPr>
                    <a:solidFill>
                      <a:srgbClr val="F8FAFC"/>
                    </a:solidFill>
                  </a:tcPr>
                </a:tc>
              </a:tr>
              <a:tr h="627017">
                <a:tc>
                  <a:txBody>
                    <a:bodyPr/>
                    <a:lstStyle/>
                    <a:p>
                      <a:pPr algn="l"/>
                      <a:r>
                        <a:rPr sz="850" b="1">
                          <a:solidFill>
                            <a:srgbClr val="1E293B"/>
                          </a:solidFill>
                          <a:latin typeface="Arial" panose="020B0604020202020204"/>
                        </a:rPr>
                        <a:t>Độ Phức tạp DevOps</a:t>
                      </a:r>
                      <a:endParaRPr sz="850" b="1">
                        <a:solidFill>
                          <a:srgbClr val="1E293B"/>
                        </a:solidFill>
                        <a:latin typeface="Arial" panose="020B0604020202020204"/>
                      </a:endParaRPr>
                    </a:p>
                  </a:txBody>
                  <a:tcPr>
                    <a:solidFill>
                      <a:srgbClr val="FFFFFF"/>
                    </a:solidFill>
                  </a:tcPr>
                </a:tc>
                <a:tc>
                  <a:txBody>
                    <a:bodyPr/>
                    <a:lstStyle/>
                    <a:p>
                      <a:pPr algn="ctr"/>
                      <a:r>
                        <a:rPr sz="850">
                          <a:solidFill>
                            <a:srgbClr val="1E293B"/>
                          </a:solidFill>
                          <a:latin typeface="Arial" panose="020B0604020202020204"/>
                        </a:rPr>
                        <a:t>Thấp - Vừa (Như Monolith)</a:t>
                      </a:r>
                      <a:endParaRPr sz="850">
                        <a:solidFill>
                          <a:srgbClr val="1E293B"/>
                        </a:solidFill>
                        <a:latin typeface="Arial" panose="020B0604020202020204"/>
                      </a:endParaRPr>
                    </a:p>
                  </a:txBody>
                  <a:tcPr>
                    <a:solidFill>
                      <a:srgbClr val="FFFFFF"/>
                    </a:solidFill>
                  </a:tcPr>
                </a:tc>
                <a:tc>
                  <a:txBody>
                    <a:bodyPr/>
                    <a:lstStyle/>
                    <a:p>
                      <a:pPr algn="ctr"/>
                      <a:r>
                        <a:rPr sz="850">
                          <a:solidFill>
                            <a:srgbClr val="1E293B"/>
                          </a:solidFill>
                          <a:latin typeface="Arial" panose="020B0604020202020204"/>
                        </a:rPr>
                        <a:t>Cực cao (K8s, Tracing, Mesh)</a:t>
                      </a:r>
                      <a:endParaRPr sz="850">
                        <a:solidFill>
                          <a:srgbClr val="1E293B"/>
                        </a:solidFill>
                        <a:latin typeface="Arial" panose="020B0604020202020204"/>
                      </a:endParaRPr>
                    </a:p>
                  </a:txBody>
                  <a:tcPr>
                    <a:solidFill>
                      <a:srgbClr val="FFFFFF"/>
                    </a:solidFill>
                  </a:tcPr>
                </a:tc>
                <a:tc>
                  <a:txBody>
                    <a:bodyPr/>
                    <a:lstStyle/>
                    <a:p>
                      <a:pPr algn="ctr"/>
                      <a:r>
                        <a:rPr sz="850">
                          <a:solidFill>
                            <a:srgbClr val="1E293B"/>
                          </a:solidFill>
                          <a:latin typeface="Arial" panose="020B0604020202020204"/>
                        </a:rPr>
                        <a:t>Cao (Quản trị Kafka/RabbitMQ)</a:t>
                      </a:r>
                      <a:endParaRPr sz="850">
                        <a:solidFill>
                          <a:srgbClr val="1E293B"/>
                        </a:solidFill>
                        <a:latin typeface="Arial" panose="020B0604020202020204"/>
                      </a:endParaRPr>
                    </a:p>
                  </a:txBody>
                  <a:tcPr>
                    <a:solidFill>
                      <a:srgbClr val="FFFFFF"/>
                    </a:solidFill>
                  </a:tcPr>
                </a:tc>
                <a:tc>
                  <a:txBody>
                    <a:bodyPr/>
                    <a:lstStyle/>
                    <a:p>
                      <a:pPr algn="ctr"/>
                      <a:r>
                        <a:rPr sz="850">
                          <a:solidFill>
                            <a:srgbClr val="1E293B"/>
                          </a:solidFill>
                          <a:latin typeface="Arial" panose="020B0604020202020204"/>
                        </a:rPr>
                        <a:t>Thấp (Cloud provider gánh)</a:t>
                      </a:r>
                      <a:endParaRPr sz="850">
                        <a:solidFill>
                          <a:srgbClr val="1E293B"/>
                        </a:solidFill>
                        <a:latin typeface="Arial" panose="020B0604020202020204"/>
                      </a:endParaRPr>
                    </a:p>
                  </a:txBody>
                  <a:tcPr>
                    <a:solidFill>
                      <a:srgbClr val="FFFFFF"/>
                    </a:solidFill>
                  </a:tcPr>
                </a:tc>
                <a:tc>
                  <a:txBody>
                    <a:bodyPr/>
                    <a:lstStyle/>
                    <a:p>
                      <a:pPr algn="ctr"/>
                      <a:r>
                        <a:rPr sz="850">
                          <a:solidFill>
                            <a:srgbClr val="1E293B"/>
                          </a:solidFill>
                          <a:latin typeface="Arial" panose="020B0604020202020204"/>
                        </a:rPr>
                        <a:t>Rất cao (Quản trị RAM phân tán)</a:t>
                      </a:r>
                      <a:endParaRPr sz="850">
                        <a:solidFill>
                          <a:srgbClr val="1E293B"/>
                        </a:solidFill>
                        <a:latin typeface="Arial" panose="020B0604020202020204"/>
                      </a:endParaRPr>
                    </a:p>
                  </a:txBody>
                  <a:tcPr>
                    <a:solidFill>
                      <a:srgbClr val="FFFFFF"/>
                    </a:solidFill>
                  </a:tcPr>
                </a:tc>
              </a:tr>
              <a:tr h="627017">
                <a:tc>
                  <a:txBody>
                    <a:bodyPr/>
                    <a:lstStyle/>
                    <a:p>
                      <a:pPr algn="l"/>
                      <a:r>
                        <a:rPr sz="850" b="1">
                          <a:solidFill>
                            <a:srgbClr val="1E293B"/>
                          </a:solidFill>
                          <a:latin typeface="Arial" panose="020B0604020202020204"/>
                        </a:rPr>
                        <a:t>Độ Trễ Phản Hồi</a:t>
                      </a:r>
                      <a:endParaRPr sz="850" b="1">
                        <a:solidFill>
                          <a:srgbClr val="1E293B"/>
                        </a:solidFill>
                        <a:latin typeface="Arial" panose="020B0604020202020204"/>
                      </a:endParaRPr>
                    </a:p>
                  </a:txBody>
                  <a:tcPr>
                    <a:solidFill>
                      <a:srgbClr val="F8FAFC"/>
                    </a:solidFill>
                  </a:tcPr>
                </a:tc>
                <a:tc>
                  <a:txBody>
                    <a:bodyPr/>
                    <a:lstStyle/>
                    <a:p>
                      <a:pPr algn="ctr"/>
                      <a:r>
                        <a:rPr sz="850">
                          <a:solidFill>
                            <a:srgbClr val="1E293B"/>
                          </a:solidFill>
                          <a:latin typeface="Arial" panose="020B0604020202020204"/>
                        </a:rPr>
                        <a:t>Cực thấp (Lời gọi hàm RAM)</a:t>
                      </a:r>
                      <a:endParaRPr sz="850">
                        <a:solidFill>
                          <a:srgbClr val="1E293B"/>
                        </a:solidFill>
                        <a:latin typeface="Arial" panose="020B0604020202020204"/>
                      </a:endParaRPr>
                    </a:p>
                  </a:txBody>
                  <a:tcPr>
                    <a:solidFill>
                      <a:srgbClr val="F8FAFC"/>
                    </a:solidFill>
                  </a:tcPr>
                </a:tc>
                <a:tc>
                  <a:txBody>
                    <a:bodyPr/>
                    <a:lstStyle/>
                    <a:p>
                      <a:pPr algn="ctr"/>
                      <a:r>
                        <a:rPr sz="850">
                          <a:solidFill>
                            <a:srgbClr val="1E293B"/>
                          </a:solidFill>
                          <a:latin typeface="Arial" panose="020B0604020202020204"/>
                        </a:rPr>
                        <a:t>Trung bình (Độ trễ mạng Network)</a:t>
                      </a:r>
                      <a:endParaRPr sz="850">
                        <a:solidFill>
                          <a:srgbClr val="1E293B"/>
                        </a:solidFill>
                        <a:latin typeface="Arial" panose="020B0604020202020204"/>
                      </a:endParaRPr>
                    </a:p>
                  </a:txBody>
                  <a:tcPr>
                    <a:solidFill>
                      <a:srgbClr val="F8FAFC"/>
                    </a:solidFill>
                  </a:tcPr>
                </a:tc>
                <a:tc>
                  <a:txBody>
                    <a:bodyPr/>
                    <a:lstStyle/>
                    <a:p>
                      <a:pPr algn="ctr"/>
                      <a:r>
                        <a:rPr sz="850">
                          <a:solidFill>
                            <a:srgbClr val="1E293B"/>
                          </a:solidFill>
                          <a:latin typeface="Arial" panose="020B0604020202020204"/>
                        </a:rPr>
                        <a:t>Thấp - Vừa (Bất đồng bộ)</a:t>
                      </a:r>
                      <a:endParaRPr sz="850">
                        <a:solidFill>
                          <a:srgbClr val="1E293B"/>
                        </a:solidFill>
                        <a:latin typeface="Arial" panose="020B0604020202020204"/>
                      </a:endParaRPr>
                    </a:p>
                  </a:txBody>
                  <a:tcPr>
                    <a:solidFill>
                      <a:srgbClr val="F8FAFC"/>
                    </a:solidFill>
                  </a:tcPr>
                </a:tc>
                <a:tc>
                  <a:txBody>
                    <a:bodyPr/>
                    <a:lstStyle/>
                    <a:p>
                      <a:pPr algn="ctr"/>
                      <a:r>
                        <a:rPr sz="850">
                          <a:solidFill>
                            <a:srgbClr val="1E293B"/>
                          </a:solidFill>
                          <a:latin typeface="Arial" panose="020B0604020202020204"/>
                        </a:rPr>
                        <a:t>Trung bình (Bị ảnh hưởng Cold Start)</a:t>
                      </a:r>
                      <a:endParaRPr sz="850">
                        <a:solidFill>
                          <a:srgbClr val="1E293B"/>
                        </a:solidFill>
                        <a:latin typeface="Arial" panose="020B0604020202020204"/>
                      </a:endParaRPr>
                    </a:p>
                  </a:txBody>
                  <a:tcPr>
                    <a:solidFill>
                      <a:srgbClr val="F8FAFC"/>
                    </a:solidFill>
                  </a:tcPr>
                </a:tc>
                <a:tc>
                  <a:txBody>
                    <a:bodyPr/>
                    <a:lstStyle/>
                    <a:p>
                      <a:pPr algn="ctr"/>
                      <a:r>
                        <a:rPr sz="850">
                          <a:solidFill>
                            <a:srgbClr val="1E293B"/>
                          </a:solidFill>
                          <a:latin typeface="Arial" panose="020B0604020202020204"/>
                        </a:rPr>
                        <a:t>Siêu thấp (Tính bằng Micro-giây)</a:t>
                      </a:r>
                      <a:endParaRPr sz="850">
                        <a:solidFill>
                          <a:srgbClr val="1E293B"/>
                        </a:solidFill>
                        <a:latin typeface="Arial" panose="020B0604020202020204"/>
                      </a:endParaRPr>
                    </a:p>
                  </a:txBody>
                  <a:tcPr>
                    <a:solidFill>
                      <a:srgbClr val="F8FAFC"/>
                    </a:solidFill>
                  </a:tcPr>
                </a:tc>
              </a:tr>
              <a:tr h="627018">
                <a:tc>
                  <a:txBody>
                    <a:bodyPr/>
                    <a:lstStyle/>
                    <a:p>
                      <a:pPr algn="l"/>
                      <a:r>
                        <a:rPr sz="850" b="1">
                          <a:solidFill>
                            <a:srgbClr val="1E293B"/>
                          </a:solidFill>
                          <a:latin typeface="Arial" panose="020B0604020202020204"/>
                        </a:rPr>
                        <a:t>Phù hợp nhất với</a:t>
                      </a:r>
                      <a:endParaRPr sz="850" b="1">
                        <a:solidFill>
                          <a:srgbClr val="1E293B"/>
                        </a:solidFill>
                        <a:latin typeface="Arial" panose="020B0604020202020204"/>
                      </a:endParaRPr>
                    </a:p>
                  </a:txBody>
                  <a:tcPr>
                    <a:solidFill>
                      <a:srgbClr val="FFFFFF"/>
                    </a:solidFill>
                  </a:tcPr>
                </a:tc>
                <a:tc>
                  <a:txBody>
                    <a:bodyPr/>
                    <a:lstStyle/>
                    <a:p>
                      <a:pPr algn="ctr"/>
                      <a:r>
                        <a:rPr sz="850">
                          <a:solidFill>
                            <a:srgbClr val="1E293B"/>
                          </a:solidFill>
                          <a:latin typeface="Arial" panose="020B0604020202020204"/>
                        </a:rPr>
                        <a:t>Nghiệp vụ lõi phức tạp, cần test sâu</a:t>
                      </a:r>
                      <a:endParaRPr sz="850">
                        <a:solidFill>
                          <a:srgbClr val="1E293B"/>
                        </a:solidFill>
                        <a:latin typeface="Arial" panose="020B0604020202020204"/>
                      </a:endParaRPr>
                    </a:p>
                  </a:txBody>
                  <a:tcPr>
                    <a:solidFill>
                      <a:srgbClr val="FFFFFF"/>
                    </a:solidFill>
                  </a:tcPr>
                </a:tc>
                <a:tc>
                  <a:txBody>
                    <a:bodyPr/>
                    <a:lstStyle/>
                    <a:p>
                      <a:pPr algn="ctr"/>
                      <a:r>
                        <a:rPr sz="850">
                          <a:solidFill>
                            <a:srgbClr val="1E293B"/>
                          </a:solidFill>
                          <a:latin typeface="Arial" panose="020B0604020202020204"/>
                        </a:rPr>
                        <a:t>Doanh nghiệp lớn, nhiều nhóm dev</a:t>
                      </a:r>
                      <a:endParaRPr sz="850">
                        <a:solidFill>
                          <a:srgbClr val="1E293B"/>
                        </a:solidFill>
                        <a:latin typeface="Arial" panose="020B0604020202020204"/>
                      </a:endParaRPr>
                    </a:p>
                  </a:txBody>
                  <a:tcPr>
                    <a:solidFill>
                      <a:srgbClr val="FFFFFF"/>
                    </a:solidFill>
                  </a:tcPr>
                </a:tc>
                <a:tc>
                  <a:txBody>
                    <a:bodyPr/>
                    <a:lstStyle/>
                    <a:p>
                      <a:pPr algn="ctr"/>
                      <a:r>
                        <a:rPr sz="850">
                          <a:solidFill>
                            <a:srgbClr val="1E293B"/>
                          </a:solidFill>
                          <a:latin typeface="Arial" panose="020B0604020202020204"/>
                        </a:rPr>
                        <a:t>Thời gian thực, IoT, tài chính</a:t>
                      </a:r>
                      <a:endParaRPr sz="850">
                        <a:solidFill>
                          <a:srgbClr val="1E293B"/>
                        </a:solidFill>
                        <a:latin typeface="Arial" panose="020B0604020202020204"/>
                      </a:endParaRPr>
                    </a:p>
                  </a:txBody>
                  <a:tcPr>
                    <a:solidFill>
                      <a:srgbClr val="FFFFFF"/>
                    </a:solidFill>
                  </a:tcPr>
                </a:tc>
                <a:tc>
                  <a:txBody>
                    <a:bodyPr/>
                    <a:lstStyle/>
                    <a:p>
                      <a:pPr algn="ctr"/>
                      <a:r>
                        <a:rPr sz="850">
                          <a:solidFill>
                            <a:srgbClr val="1E293B"/>
                          </a:solidFill>
                          <a:latin typeface="Arial" panose="020B0604020202020204"/>
                        </a:rPr>
                        <a:t>Tác vụ nền, tải đột biến thất thường</a:t>
                      </a:r>
                      <a:endParaRPr sz="850">
                        <a:solidFill>
                          <a:srgbClr val="1E293B"/>
                        </a:solidFill>
                        <a:latin typeface="Arial" panose="020B0604020202020204"/>
                      </a:endParaRPr>
                    </a:p>
                  </a:txBody>
                  <a:tcPr>
                    <a:solidFill>
                      <a:srgbClr val="FFFFFF"/>
                    </a:solidFill>
                  </a:tcPr>
                </a:tc>
                <a:tc>
                  <a:txBody>
                    <a:bodyPr/>
                    <a:lstStyle/>
                    <a:p>
                      <a:pPr algn="ctr"/>
                      <a:r>
                        <a:rPr sz="850">
                          <a:solidFill>
                            <a:srgbClr val="1E293B"/>
                          </a:solidFill>
                          <a:latin typeface="Arial" panose="020B0604020202020204"/>
                        </a:rPr>
                        <a:t>Sàn chứng khoán, bán vé concert flash-sale</a:t>
                      </a:r>
                      <a:endParaRPr sz="850">
                        <a:solidFill>
                          <a:srgbClr val="1E293B"/>
                        </a:solidFill>
                        <a:latin typeface="Arial" panose="020B0604020202020204"/>
                      </a:endParaRPr>
                    </a:p>
                  </a:txBody>
                  <a:tcPr>
                    <a:solidFill>
                      <a:srgbClr val="FFFFFF"/>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914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1005840"/>
          </a:xfrm>
          <a:prstGeom prst="rect">
            <a:avLst/>
          </a:prstGeom>
          <a:noFill/>
        </p:spPr>
        <p:txBody>
          <a:bodyPr wrap="square" lIns="0" tIns="0" rIns="0" bIns="0">
            <a:spAutoFit/>
          </a:bodyPr>
          <a:lstStyle/>
          <a:p>
            <a:pPr>
              <a:spcAft>
                <a:spcPts val="200"/>
              </a:spcAft>
            </a:pPr>
            <a:r>
              <a:rPr sz="950" b="1">
                <a:solidFill>
                  <a:srgbClr val="D97706"/>
                </a:solidFill>
                <a:latin typeface="Arial" panose="020B0604020202020204"/>
              </a:rPr>
              <a:t>PHẦN 3: MỘT SỐ MẪU THIẾT KẾ KIẾN TRÚC PHỔ BIẾN (MỤC 3.3.2)</a:t>
            </a:r>
            <a:endParaRPr sz="950" b="1">
              <a:solidFill>
                <a:srgbClr val="D97706"/>
              </a:solidFill>
              <a:latin typeface="Arial" panose="020B0604020202020204"/>
            </a:endParaRPr>
          </a:p>
          <a:p>
            <a:pPr>
              <a:spcAft>
                <a:spcPts val="200"/>
              </a:spcAft>
            </a:pPr>
            <a:r>
              <a:rPr sz="1900" b="1">
                <a:solidFill>
                  <a:srgbClr val="0F2043"/>
                </a:solidFill>
                <a:latin typeface="Arial" panose="020B0604020202020204"/>
              </a:rPr>
              <a:t>3.4. ĐỊNH HƯỚNG ỨNG DỤNG: THIẾT KẾ KIẾN TRÚC ĐÍCH CHO DỰ ÁN</a:t>
            </a:r>
            <a:endParaRPr sz="1900" b="1">
              <a:solidFill>
                <a:srgbClr val="0F2043"/>
              </a:solidFill>
              <a:latin typeface="Arial" panose="020B0604020202020204"/>
            </a:endParaRPr>
          </a:p>
          <a:p>
            <a:r>
              <a:rPr sz="1100" i="1">
                <a:solidFill>
                  <a:srgbClr val="64748B"/>
                </a:solidFill>
                <a:latin typeface="Arial" panose="020B0604020202020204"/>
              </a:rPr>
              <a:t>Nhận diện điểm nghẽn chuỗi 50 nhà hàng và Bản thiết kế Target Architecture Hybrid Microservices + EDA</a:t>
            </a:r>
            <a:endParaRPr sz="1100" i="1">
              <a:solidFill>
                <a:srgbClr val="64748B"/>
              </a:solidFill>
              <a:latin typeface="Arial" panose="020B0604020202020204"/>
            </a:endParaRPr>
          </a:p>
        </p:txBody>
      </p:sp>
      <p:sp>
        <p:nvSpPr>
          <p:cNvPr id="4" name="TextBox 3"/>
          <p:cNvSpPr txBox="1"/>
          <p:nvPr/>
        </p:nvSpPr>
        <p:spPr>
          <a:xfrm>
            <a:off x="731520" y="6400800"/>
            <a:ext cx="10698480" cy="320040"/>
          </a:xfrm>
          <a:prstGeom prst="rect">
            <a:avLst/>
          </a:prstGeom>
          <a:noFill/>
        </p:spPr>
        <p:txBody>
          <a:bodyPr wrap="none" lIns="0" tIns="0" rIns="0" bIns="0">
            <a:spAutoFit/>
          </a:bodyPr>
          <a:lstStyle/>
          <a:p>
            <a:r>
              <a:rPr sz="850">
                <a:solidFill>
                  <a:srgbClr val="64748B"/>
                </a:solidFill>
                <a:latin typeface="Arial" panose="020B0604020202020204"/>
              </a:rPr>
              <a:t>Học phần: Kiến trúc và Thiết kế Phần mềm — Báo cáo Chương 3: Thiết kế Kiến trúc | Dự án: php-restaurant</a:t>
            </a:r>
            <a:r>
              <a:rPr sz="850" b="1">
                <a:solidFill>
                  <a:srgbClr val="1F4E79"/>
                </a:solidFill>
                <a:latin typeface="Arial" panose="020B0604020202020204"/>
              </a:rPr>
              <a:t>             Slide 18 / 20</a:t>
            </a:r>
            <a:endParaRPr sz="850" b="1">
              <a:solidFill>
                <a:srgbClr val="1F4E79"/>
              </a:solidFill>
              <a:latin typeface="Arial" panose="020B0604020202020204"/>
            </a:endParaRPr>
          </a:p>
        </p:txBody>
      </p:sp>
      <p:sp>
        <p:nvSpPr>
          <p:cNvPr id="5" name="Rounded Rectangle 4"/>
          <p:cNvSpPr/>
          <p:nvPr/>
        </p:nvSpPr>
        <p:spPr>
          <a:xfrm>
            <a:off x="731520" y="1645920"/>
            <a:ext cx="6217920" cy="4389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5852160" cy="4114800"/>
          </a:xfrm>
          <a:prstGeom prst="rect">
            <a:avLst/>
          </a:prstGeom>
          <a:noFill/>
        </p:spPr>
        <p:txBody>
          <a:bodyPr wrap="square">
            <a:spAutoFit/>
          </a:bodyPr>
          <a:lstStyle/>
          <a:p>
            <a:pPr>
              <a:lnSpc>
                <a:spcPct val="115000"/>
              </a:lnSpc>
              <a:spcAft>
                <a:spcPts val="600"/>
              </a:spcAft>
            </a:pPr>
            <a:r>
              <a:rPr sz="1150" b="1">
                <a:solidFill>
                  <a:srgbClr val="1F4E79"/>
                </a:solidFill>
                <a:latin typeface="Arial" panose="020B0604020202020204"/>
              </a:rPr>
              <a:t>Điểm nghẽn khi mở rộng chuỗi 50 nhà hàng: </a:t>
            </a:r>
            <a:r>
              <a:rPr sz="1100">
                <a:solidFill>
                  <a:srgbClr val="1E293B"/>
                </a:solidFill>
                <a:latin typeface="Arial" panose="020B0604020202020204"/>
              </a:rPr>
              <a:t>Vào giờ cao điểm (11h30 &amp; 18h30), hàng ngàn khách quét QR cùng lúc làm cạn kiệt MySQL connections và tiến trình Apache, khiến quầy thu ngân và kho bị tê liệt.</a:t>
            </a:r>
            <a:endParaRPr sz="1100">
              <a:solidFill>
                <a:srgbClr val="1E293B"/>
              </a:solidFill>
              <a:latin typeface="Arial" panose="020B0604020202020204"/>
            </a:endParaRPr>
          </a:p>
          <a:p>
            <a:pPr>
              <a:lnSpc>
                <a:spcPct val="115000"/>
              </a:lnSpc>
              <a:spcAft>
                <a:spcPts val="600"/>
              </a:spcAft>
            </a:pPr>
            <a:r>
              <a:rPr sz="1150" b="1">
                <a:solidFill>
                  <a:srgbClr val="1F4E79"/>
                </a:solidFill>
                <a:latin typeface="Arial" panose="020B0604020202020204"/>
              </a:rPr>
              <a:t>Bản Thiết kế Kiến trúc Đích (Target Architecture): </a:t>
            </a:r>
            <a:r>
              <a:rPr sz="1100">
                <a:solidFill>
                  <a:srgbClr val="1E293B"/>
                </a:solidFill>
                <a:latin typeface="Arial" panose="020B0604020202020204"/>
              </a:rPr>
              <a:t>Mô hình lai phân tán Microservices kết hợp Event-Driven (EDA):</a:t>
            </a:r>
            <a:endParaRPr sz="1100">
              <a:solidFill>
                <a:srgbClr val="1E293B"/>
              </a:solidFill>
              <a:latin typeface="Arial" panose="020B0604020202020204"/>
            </a:endParaRPr>
          </a:p>
          <a:p>
            <a:pPr lvl="1">
              <a:lnSpc>
                <a:spcPct val="115000"/>
              </a:lnSpc>
              <a:spcAft>
                <a:spcPts val="600"/>
              </a:spcAft>
            </a:pPr>
            <a:r>
              <a:rPr sz="1050" b="1">
                <a:solidFill>
                  <a:srgbClr val="1E293B"/>
                </a:solidFill>
                <a:latin typeface="Arial" panose="020B0604020202020204"/>
              </a:rPr>
              <a:t>• API Gateway (Kong): </a:t>
            </a:r>
            <a:r>
              <a:rPr sz="1000">
                <a:solidFill>
                  <a:srgbClr val="1E293B"/>
                </a:solidFill>
                <a:latin typeface="Arial" panose="020B0604020202020204"/>
              </a:rPr>
              <a:t>Đón nhận, rate-limiting và bảo vệ an toàn lưu lượng truy cập.</a:t>
            </a:r>
            <a:endParaRPr sz="1000">
              <a:solidFill>
                <a:srgbClr val="1E293B"/>
              </a:solidFill>
              <a:latin typeface="Arial" panose="020B0604020202020204"/>
            </a:endParaRPr>
          </a:p>
          <a:p>
            <a:pPr lvl="1">
              <a:lnSpc>
                <a:spcPct val="115000"/>
              </a:lnSpc>
              <a:spcAft>
                <a:spcPts val="600"/>
              </a:spcAft>
            </a:pPr>
            <a:r>
              <a:rPr sz="1050" b="1">
                <a:solidFill>
                  <a:srgbClr val="1E293B"/>
                </a:solidFill>
                <a:latin typeface="Arial" panose="020B0604020202020204"/>
              </a:rPr>
              <a:t>• 1. Order &amp; Table Service (Node.js + Redis): </a:t>
            </a:r>
            <a:r>
              <a:rPr sz="1000">
                <a:solidFill>
                  <a:srgbClr val="1E293B"/>
                </a:solidFill>
                <a:latin typeface="Arial" panose="020B0604020202020204"/>
              </a:rPr>
              <a:t>Xử lý khách quét QR gọi món tốc độ cao, chịu tải &gt; 10.000 RPS với độ trễ &lt; 20ms.</a:t>
            </a:r>
            <a:endParaRPr sz="1000">
              <a:solidFill>
                <a:srgbClr val="1E293B"/>
              </a:solidFill>
              <a:latin typeface="Arial" panose="020B0604020202020204"/>
            </a:endParaRPr>
          </a:p>
          <a:p>
            <a:pPr lvl="1">
              <a:lnSpc>
                <a:spcPct val="115000"/>
              </a:lnSpc>
              <a:spcAft>
                <a:spcPts val="600"/>
              </a:spcAft>
            </a:pPr>
            <a:r>
              <a:rPr sz="1050" b="1">
                <a:solidFill>
                  <a:srgbClr val="1E293B"/>
                </a:solidFill>
                <a:latin typeface="Arial" panose="020B0604020202020204"/>
              </a:rPr>
              <a:t>• 2. Kitchen Display Service (KDS): </a:t>
            </a:r>
            <a:r>
              <a:rPr sz="1000">
                <a:solidFill>
                  <a:srgbClr val="1E293B"/>
                </a:solidFill>
                <a:latin typeface="Arial" panose="020B0604020202020204"/>
              </a:rPr>
              <a:t>Kết nối WebSocket hai chiều đẩy đơn vào màn hình bếp tức thì.</a:t>
            </a:r>
            <a:endParaRPr sz="1000">
              <a:solidFill>
                <a:srgbClr val="1E293B"/>
              </a:solidFill>
              <a:latin typeface="Arial" panose="020B0604020202020204"/>
            </a:endParaRPr>
          </a:p>
          <a:p>
            <a:pPr lvl="1">
              <a:lnSpc>
                <a:spcPct val="115000"/>
              </a:lnSpc>
              <a:spcAft>
                <a:spcPts val="600"/>
              </a:spcAft>
            </a:pPr>
            <a:r>
              <a:rPr sz="1050" b="1">
                <a:solidFill>
                  <a:srgbClr val="1E293B"/>
                </a:solidFill>
                <a:latin typeface="Arial" panose="020B0604020202020204"/>
              </a:rPr>
              <a:t>• 3. Inventory Service (PHP Core): </a:t>
            </a:r>
            <a:r>
              <a:rPr sz="1000">
                <a:solidFill>
                  <a:srgbClr val="1E293B"/>
                </a:solidFill>
                <a:latin typeface="Arial" panose="020B0604020202020204"/>
              </a:rPr>
              <a:t>Kế thừa nghiệp vụ phiếu nhập kho (InventoryReceipt) và công thức (recipe) với CSDL PostgreSQL ACID.</a:t>
            </a:r>
            <a:endParaRPr sz="1000">
              <a:solidFill>
                <a:srgbClr val="1E293B"/>
              </a:solidFill>
              <a:latin typeface="Arial" panose="020B0604020202020204"/>
            </a:endParaRPr>
          </a:p>
          <a:p>
            <a:pPr lvl="1">
              <a:lnSpc>
                <a:spcPct val="115000"/>
              </a:lnSpc>
              <a:spcAft>
                <a:spcPts val="600"/>
              </a:spcAft>
            </a:pPr>
            <a:r>
              <a:rPr sz="1050" b="1">
                <a:solidFill>
                  <a:srgbClr val="1E293B"/>
                </a:solidFill>
                <a:latin typeface="Arial" panose="020B0604020202020204"/>
              </a:rPr>
              <a:t>• 4. Event Broker (Apache Kafka): </a:t>
            </a:r>
            <a:r>
              <a:rPr sz="1000">
                <a:solidFill>
                  <a:srgbClr val="1E293B"/>
                </a:solidFill>
                <a:latin typeface="Arial" panose="020B0604020202020204"/>
              </a:rPr>
              <a:t>Điều phối luồng sự kiện OrderCreated, PaymentSuccess, InventoryDepleted.</a:t>
            </a:r>
            <a:endParaRPr sz="1000">
              <a:solidFill>
                <a:srgbClr val="1E293B"/>
              </a:solidFill>
              <a:latin typeface="Arial" panose="020B0604020202020204"/>
            </a:endParaRPr>
          </a:p>
        </p:txBody>
      </p:sp>
      <p:sp>
        <p:nvSpPr>
          <p:cNvPr id="7" name="Rounded Rectangle 6"/>
          <p:cNvSpPr/>
          <p:nvPr/>
        </p:nvSpPr>
        <p:spPr>
          <a:xfrm>
            <a:off x="7132320" y="1645920"/>
            <a:ext cx="429768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icroservices_app_layer.png"/>
          <p:cNvPicPr>
            <a:picLocks noChangeAspect="1"/>
          </p:cNvPicPr>
          <p:nvPr/>
        </p:nvPicPr>
        <p:blipFill>
          <a:blip r:embed="rId1"/>
          <a:stretch>
            <a:fillRect/>
          </a:stretch>
        </p:blipFill>
        <p:spPr>
          <a:xfrm>
            <a:off x="7269480" y="1783080"/>
            <a:ext cx="4023360" cy="1207008"/>
          </a:xfrm>
          <a:prstGeom prst="rect">
            <a:avLst/>
          </a:prstGeom>
        </p:spPr>
      </p:pic>
      <p:sp>
        <p:nvSpPr>
          <p:cNvPr id="9" name="TextBox 8"/>
          <p:cNvSpPr txBox="1"/>
          <p:nvPr/>
        </p:nvSpPr>
        <p:spPr>
          <a:xfrm>
            <a:off x="7223760" y="5623560"/>
            <a:ext cx="4114800" cy="365760"/>
          </a:xfrm>
          <a:prstGeom prst="rect">
            <a:avLst/>
          </a:prstGeom>
          <a:noFill/>
        </p:spPr>
        <p:txBody>
          <a:bodyPr wrap="square">
            <a:spAutoFit/>
          </a:bodyPr>
          <a:lstStyle/>
          <a:p>
            <a:pPr algn="ctr"/>
            <a:r>
              <a:rPr sz="850" i="1">
                <a:solidFill>
                  <a:srgbClr val="64748B"/>
                </a:solidFill>
                <a:latin typeface="Arial" panose="020B0604020202020204"/>
              </a:rPr>
              <a:t>Minh họa: Sơ đồ Kiến trúc Đích Đề xuất cho Hệ thống Chuỗi Nhà hàng</a:t>
            </a:r>
            <a:endParaRPr sz="850" i="1">
              <a:solidFill>
                <a:srgbClr val="64748B"/>
              </a:solidFill>
              <a:latin typeface="Arial" panose="020B06040202020202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914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1005840"/>
          </a:xfrm>
          <a:prstGeom prst="rect">
            <a:avLst/>
          </a:prstGeom>
          <a:noFill/>
        </p:spPr>
        <p:txBody>
          <a:bodyPr wrap="square" lIns="0" tIns="0" rIns="0" bIns="0">
            <a:spAutoFit/>
          </a:bodyPr>
          <a:lstStyle/>
          <a:p>
            <a:pPr>
              <a:spcAft>
                <a:spcPts val="200"/>
              </a:spcAft>
            </a:pPr>
            <a:r>
              <a:rPr sz="950" b="1">
                <a:solidFill>
                  <a:srgbClr val="D97706"/>
                </a:solidFill>
                <a:latin typeface="Arial" panose="020B0604020202020204"/>
              </a:rPr>
              <a:t>PHẦN 3: MỘT SỐ MẪU THIẾT KẾ KIẾN TRÚC PHỔ BIẾN (MỤC 3.3.2)</a:t>
            </a:r>
            <a:endParaRPr sz="950" b="1">
              <a:solidFill>
                <a:srgbClr val="D97706"/>
              </a:solidFill>
              <a:latin typeface="Arial" panose="020B0604020202020204"/>
            </a:endParaRPr>
          </a:p>
          <a:p>
            <a:pPr>
              <a:spcAft>
                <a:spcPts val="200"/>
              </a:spcAft>
            </a:pPr>
            <a:r>
              <a:rPr sz="1900" b="1">
                <a:solidFill>
                  <a:srgbClr val="0F2043"/>
                </a:solidFill>
                <a:latin typeface="Arial" panose="020B0604020202020204"/>
              </a:rPr>
              <a:t>3.4. LỘ TRÌNH CHUYỂN ĐỔI AN TOÀN: STRANGLER FIG PATTERN</a:t>
            </a:r>
            <a:endParaRPr sz="1900" b="1">
              <a:solidFill>
                <a:srgbClr val="0F2043"/>
              </a:solidFill>
              <a:latin typeface="Arial" panose="020B0604020202020204"/>
            </a:endParaRPr>
          </a:p>
          <a:p>
            <a:r>
              <a:rPr sz="1100" i="1">
                <a:solidFill>
                  <a:srgbClr val="64748B"/>
                </a:solidFill>
                <a:latin typeface="Arial" panose="020B0604020202020204"/>
              </a:rPr>
              <a:t>Chiến lược di chuyển từng bước của Martin Fowler bảo đảm nhà hàng hoạt động 24/7 không gián đoạn</a:t>
            </a:r>
            <a:endParaRPr sz="1100" i="1">
              <a:solidFill>
                <a:srgbClr val="64748B"/>
              </a:solidFill>
              <a:latin typeface="Arial" panose="020B0604020202020204"/>
            </a:endParaRPr>
          </a:p>
        </p:txBody>
      </p:sp>
      <p:sp>
        <p:nvSpPr>
          <p:cNvPr id="4" name="TextBox 3"/>
          <p:cNvSpPr txBox="1"/>
          <p:nvPr/>
        </p:nvSpPr>
        <p:spPr>
          <a:xfrm>
            <a:off x="731520" y="6400800"/>
            <a:ext cx="10698480" cy="320040"/>
          </a:xfrm>
          <a:prstGeom prst="rect">
            <a:avLst/>
          </a:prstGeom>
          <a:noFill/>
        </p:spPr>
        <p:txBody>
          <a:bodyPr wrap="none" lIns="0" tIns="0" rIns="0" bIns="0">
            <a:spAutoFit/>
          </a:bodyPr>
          <a:lstStyle/>
          <a:p>
            <a:r>
              <a:rPr sz="850">
                <a:solidFill>
                  <a:srgbClr val="64748B"/>
                </a:solidFill>
                <a:latin typeface="Arial" panose="020B0604020202020204"/>
              </a:rPr>
              <a:t>Học phần: Kiến trúc và Thiết kế Phần mềm — Báo cáo Chương 3: Thiết kế Kiến trúc | Dự án: php-restaurant</a:t>
            </a:r>
            <a:r>
              <a:rPr sz="850" b="1">
                <a:solidFill>
                  <a:srgbClr val="1F4E79"/>
                </a:solidFill>
                <a:latin typeface="Arial" panose="020B0604020202020204"/>
              </a:rPr>
              <a:t>             Slide 19 / 20</a:t>
            </a:r>
            <a:endParaRPr sz="850" b="1">
              <a:solidFill>
                <a:srgbClr val="1F4E79"/>
              </a:solidFill>
              <a:latin typeface="Arial" panose="020B0604020202020204"/>
            </a:endParaRPr>
          </a:p>
        </p:txBody>
      </p:sp>
      <p:sp>
        <p:nvSpPr>
          <p:cNvPr id="5" name="Rounded Rectangle 4"/>
          <p:cNvSpPr/>
          <p:nvPr/>
        </p:nvSpPr>
        <p:spPr>
          <a:xfrm>
            <a:off x="731520" y="1645920"/>
            <a:ext cx="6217920" cy="4389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5852160" cy="4114800"/>
          </a:xfrm>
          <a:prstGeom prst="rect">
            <a:avLst/>
          </a:prstGeom>
          <a:noFill/>
        </p:spPr>
        <p:txBody>
          <a:bodyPr wrap="square">
            <a:spAutoFit/>
          </a:bodyPr>
          <a:lstStyle/>
          <a:p>
            <a:pPr>
              <a:lnSpc>
                <a:spcPct val="115000"/>
              </a:lnSpc>
              <a:spcAft>
                <a:spcPts val="600"/>
              </a:spcAft>
            </a:pPr>
            <a:r>
              <a:rPr sz="1150" b="1">
                <a:solidFill>
                  <a:srgbClr val="1F4E79"/>
                </a:solidFill>
                <a:latin typeface="Arial" panose="020B0604020202020204"/>
              </a:rPr>
              <a:t>Mẫu Cây Đa Siết (Strangler Fig Pattern): </a:t>
            </a:r>
            <a:r>
              <a:rPr sz="1100">
                <a:solidFill>
                  <a:srgbClr val="1E293B"/>
                </a:solidFill>
                <a:latin typeface="Arial" panose="020B0604020202020204"/>
              </a:rPr>
              <a:t>Nguyên lý của Martin Fowler: Tuyệt đối tránh 'Đập đi xây lại' (Big Bang Rewrite); thay vào đó trồng một hệ thống mới bao bọc dần hệ thống cũ cho đến khi cũ biến mất.</a:t>
            </a:r>
            <a:endParaRPr sz="1100">
              <a:solidFill>
                <a:srgbClr val="1E293B"/>
              </a:solidFill>
              <a:latin typeface="Arial" panose="020B0604020202020204"/>
            </a:endParaRPr>
          </a:p>
          <a:p>
            <a:pPr>
              <a:lnSpc>
                <a:spcPct val="115000"/>
              </a:lnSpc>
              <a:spcAft>
                <a:spcPts val="600"/>
              </a:spcAft>
            </a:pPr>
            <a:r>
              <a:rPr sz="1150" b="1">
                <a:solidFill>
                  <a:srgbClr val="1F4E79"/>
                </a:solidFill>
                <a:latin typeface="Arial" panose="020B0604020202020204"/>
              </a:rPr>
              <a:t>Lộ trình 4 Giai đoạn Di chuyển Thực tế: </a:t>
            </a:r>
            <a:endParaRPr sz="1150" b="1">
              <a:solidFill>
                <a:srgbClr val="1F4E79"/>
              </a:solidFill>
              <a:latin typeface="Arial" panose="020B0604020202020204"/>
            </a:endParaRPr>
          </a:p>
          <a:p>
            <a:pPr lvl="1">
              <a:lnSpc>
                <a:spcPct val="115000"/>
              </a:lnSpc>
              <a:spcAft>
                <a:spcPts val="600"/>
              </a:spcAft>
            </a:pPr>
            <a:r>
              <a:rPr sz="1050" b="1">
                <a:solidFill>
                  <a:srgbClr val="1E293B"/>
                </a:solidFill>
                <a:latin typeface="Arial" panose="020B0604020202020204"/>
              </a:rPr>
              <a:t>• Giai đoạn 1 (Thiết lập Gateway): </a:t>
            </a:r>
            <a:r>
              <a:rPr sz="1000">
                <a:solidFill>
                  <a:srgbClr val="1E293B"/>
                </a:solidFill>
                <a:latin typeface="Arial" panose="020B0604020202020204"/>
              </a:rPr>
              <a:t>Đặt API Gateway (Kong / NGINX) đứng trước Monolith PHP hiện tại; 100% traffic ban đầu vẫn đi vào Monolith cũ.</a:t>
            </a:r>
            <a:endParaRPr sz="1000">
              <a:solidFill>
                <a:srgbClr val="1E293B"/>
              </a:solidFill>
              <a:latin typeface="Arial" panose="020B0604020202020204"/>
            </a:endParaRPr>
          </a:p>
          <a:p>
            <a:pPr lvl="1">
              <a:lnSpc>
                <a:spcPct val="115000"/>
              </a:lnSpc>
              <a:spcAft>
                <a:spcPts val="600"/>
              </a:spcAft>
            </a:pPr>
            <a:r>
              <a:rPr sz="1050" b="1">
                <a:solidFill>
                  <a:srgbClr val="1E293B"/>
                </a:solidFill>
                <a:latin typeface="Arial" panose="020B0604020202020204"/>
              </a:rPr>
              <a:t>• Giai đoạn 2 (Tách module QR Order): </a:t>
            </a:r>
            <a:r>
              <a:rPr sz="1000">
                <a:solidFill>
                  <a:srgbClr val="1E293B"/>
                </a:solidFill>
                <a:latin typeface="Arial" panose="020B0604020202020204"/>
              </a:rPr>
              <a:t>Xây dựng service Order mới (Node.js). Cấu hình Gateway bẻ hướng toàn bộ luồng gọi món QR sang service mới; kho và kế toán giữ nguyên.</a:t>
            </a:r>
            <a:endParaRPr sz="1000">
              <a:solidFill>
                <a:srgbClr val="1E293B"/>
              </a:solidFill>
              <a:latin typeface="Arial" panose="020B0604020202020204"/>
            </a:endParaRPr>
          </a:p>
          <a:p>
            <a:pPr lvl="1">
              <a:lnSpc>
                <a:spcPct val="115000"/>
              </a:lnSpc>
              <a:spcAft>
                <a:spcPts val="600"/>
              </a:spcAft>
            </a:pPr>
            <a:r>
              <a:rPr sz="1050" b="1">
                <a:solidFill>
                  <a:srgbClr val="1E293B"/>
                </a:solidFill>
                <a:latin typeface="Arial" panose="020B0604020202020204"/>
              </a:rPr>
              <a:t>• Giai đoạn 3 (Tách module Bếp KDS &amp; Thanh toán): </a:t>
            </a:r>
            <a:r>
              <a:rPr sz="1000">
                <a:solidFill>
                  <a:srgbClr val="1E293B"/>
                </a:solidFill>
                <a:latin typeface="Arial" panose="020B0604020202020204"/>
              </a:rPr>
              <a:t>Tách màn hình bếp WebSocket và cổng VietQR, tích hợp đồng bộ qua Kafka.</a:t>
            </a:r>
            <a:endParaRPr sz="1000">
              <a:solidFill>
                <a:srgbClr val="1E293B"/>
              </a:solidFill>
              <a:latin typeface="Arial" panose="020B0604020202020204"/>
            </a:endParaRPr>
          </a:p>
          <a:p>
            <a:pPr lvl="1">
              <a:lnSpc>
                <a:spcPct val="115000"/>
              </a:lnSpc>
              <a:spcAft>
                <a:spcPts val="600"/>
              </a:spcAft>
            </a:pPr>
            <a:r>
              <a:rPr sz="1050" b="1">
                <a:solidFill>
                  <a:srgbClr val="1E293B"/>
                </a:solidFill>
                <a:latin typeface="Arial" panose="020B0604020202020204"/>
              </a:rPr>
              <a:t>• Giai đoạn 4 (Triệt tiêu Monolith cũ): </a:t>
            </a:r>
            <a:r>
              <a:rPr sz="1000">
                <a:solidFill>
                  <a:srgbClr val="1E293B"/>
                </a:solidFill>
                <a:latin typeface="Arial" panose="020B0604020202020204"/>
              </a:rPr>
              <a:t>Khi toàn bộ module đã hoạt động độc lập ổn định, Monolith cũ chính thức được giải phóng mà chuỗi nhà hàng không mất 1 giây gián đoạn kinh doanh.</a:t>
            </a:r>
            <a:endParaRPr sz="1000">
              <a:solidFill>
                <a:srgbClr val="1E293B"/>
              </a:solidFill>
              <a:latin typeface="Arial" panose="020B0604020202020204"/>
            </a:endParaRPr>
          </a:p>
        </p:txBody>
      </p:sp>
      <p:sp>
        <p:nvSpPr>
          <p:cNvPr id="7" name="Rounded Rectangle 6"/>
          <p:cNvSpPr/>
          <p:nvPr/>
        </p:nvSpPr>
        <p:spPr>
          <a:xfrm>
            <a:off x="7132320" y="1645920"/>
            <a:ext cx="429768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pi_gateway_proxy.png"/>
          <p:cNvPicPr>
            <a:picLocks noChangeAspect="1"/>
          </p:cNvPicPr>
          <p:nvPr/>
        </p:nvPicPr>
        <p:blipFill>
          <a:blip r:embed="rId1"/>
          <a:stretch>
            <a:fillRect/>
          </a:stretch>
        </p:blipFill>
        <p:spPr>
          <a:xfrm>
            <a:off x="7269480" y="1783080"/>
            <a:ext cx="4023360" cy="1538625"/>
          </a:xfrm>
          <a:prstGeom prst="rect">
            <a:avLst/>
          </a:prstGeom>
        </p:spPr>
      </p:pic>
      <p:sp>
        <p:nvSpPr>
          <p:cNvPr id="9" name="TextBox 8"/>
          <p:cNvSpPr txBox="1"/>
          <p:nvPr/>
        </p:nvSpPr>
        <p:spPr>
          <a:xfrm>
            <a:off x="7223760" y="5623560"/>
            <a:ext cx="4114800" cy="365760"/>
          </a:xfrm>
          <a:prstGeom prst="rect">
            <a:avLst/>
          </a:prstGeom>
          <a:noFill/>
        </p:spPr>
        <p:txBody>
          <a:bodyPr wrap="square">
            <a:spAutoFit/>
          </a:bodyPr>
          <a:lstStyle/>
          <a:p>
            <a:pPr algn="ctr"/>
            <a:r>
              <a:rPr sz="850" i="1">
                <a:solidFill>
                  <a:srgbClr val="64748B"/>
                </a:solidFill>
                <a:latin typeface="Arial" panose="020B0604020202020204"/>
              </a:rPr>
              <a:t>Minh họa: Cơ chế API Gateway Điều phối Dòng chảy Chuyển đổi Kiến trúc</a:t>
            </a:r>
            <a:endParaRPr sz="850" i="1">
              <a:solidFill>
                <a:srgbClr val="64748B"/>
              </a:solidFill>
              <a:latin typeface="Arial" panose="020B0604020202020204"/>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0F2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0" y="1097280"/>
            <a:ext cx="2286000"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371600"/>
            <a:ext cx="9875520" cy="3881755"/>
          </a:xfrm>
          <a:prstGeom prst="rect">
            <a:avLst/>
          </a:prstGeom>
          <a:noFill/>
        </p:spPr>
        <p:txBody>
          <a:bodyPr wrap="square">
            <a:spAutoFit/>
          </a:bodyPr>
          <a:lstStyle/>
          <a:p>
            <a:r>
              <a:rPr sz="2400" b="1">
                <a:solidFill>
                  <a:srgbClr val="FFFFFF"/>
                </a:solidFill>
                <a:latin typeface="Arial" panose="020B0604020202020204"/>
              </a:rPr>
              <a:t>TỔNG KẾT </a:t>
            </a:r>
            <a:endParaRPr sz="2400" b="1">
              <a:solidFill>
                <a:srgbClr val="FFFFFF"/>
              </a:solidFill>
              <a:latin typeface="Arial" panose="020B0604020202020204"/>
            </a:endParaRPr>
          </a:p>
          <a:p>
            <a:pPr>
              <a:spcBef>
                <a:spcPts val="1600"/>
              </a:spcBef>
            </a:pPr>
            <a:r>
              <a:rPr sz="1350" b="1">
                <a:solidFill>
                  <a:srgbClr val="D97706"/>
                </a:solidFill>
                <a:latin typeface="Arial" panose="020B0604020202020204"/>
              </a:rPr>
              <a:t>1. Đánh giá kiến trúc là một quá trình liên tục (Continuous Evaluation):
</a:t>
            </a:r>
            <a:r>
              <a:rPr sz="1150">
                <a:solidFill>
                  <a:srgbClr val="E2E8F0"/>
                </a:solidFill>
                <a:latin typeface="Arial" panose="020B0604020202020204"/>
              </a:rPr>
              <a:t>Không có kiến trúc tốt nhất, chỉ có kiến trúc phù hợp nhất với giai đoạn phát triển của doanh nghiệp. Monolith MVC là lựa chọn tối ưu hiện tại; Hybrid Microservices là đích đến tương lai.</a:t>
            </a:r>
            <a:endParaRPr sz="1150">
              <a:solidFill>
                <a:srgbClr val="E2E8F0"/>
              </a:solidFill>
              <a:latin typeface="Arial" panose="020B0604020202020204"/>
            </a:endParaRPr>
          </a:p>
          <a:p>
            <a:pPr>
              <a:spcBef>
                <a:spcPts val="1200"/>
              </a:spcBef>
            </a:pPr>
            <a:r>
              <a:rPr sz="1350" b="1">
                <a:solidFill>
                  <a:srgbClr val="D97706"/>
                </a:solidFill>
                <a:latin typeface="Arial" panose="020B0604020202020204"/>
              </a:rPr>
              <a:t>2. Phổ mẫu thiết kế bảo đảm tính nhất quán kỹ thuật (Spectrum Alignment):
</a:t>
            </a:r>
            <a:r>
              <a:rPr sz="1150">
                <a:solidFill>
                  <a:srgbClr val="E2E8F0"/>
                </a:solidFill>
                <a:latin typeface="Arial" panose="020B0604020202020204"/>
              </a:rPr>
              <a:t>Tư duy theo dải phổ giúp gắn kết chặt chẽ giữa Chiến lược kiến trúc (Macro) -&gt; Thiết kế hướng đối tượng (Meso) -&gt; Cú pháp an toàn (Micro Idiom), phòng chống triệt để xói mòn kiến trúc.</a:t>
            </a:r>
            <a:endParaRPr sz="1150">
              <a:solidFill>
                <a:srgbClr val="E2E8F0"/>
              </a:solidFill>
              <a:latin typeface="Arial" panose="020B0604020202020204"/>
            </a:endParaRPr>
          </a:p>
          <a:p>
            <a:pPr>
              <a:spcBef>
                <a:spcPts val="1200"/>
              </a:spcBef>
            </a:pPr>
            <a:r>
              <a:rPr sz="1350" b="1">
                <a:solidFill>
                  <a:srgbClr val="D97706"/>
                </a:solidFill>
                <a:latin typeface="Arial" panose="020B0604020202020204"/>
              </a:rPr>
              <a:t>3. Kiến trúc phần mềm phải phục vụ giá trị kinh doanh (Business Value First):
</a:t>
            </a:r>
            <a:r>
              <a:rPr sz="1150">
                <a:solidFill>
                  <a:srgbClr val="E2E8F0"/>
                </a:solidFill>
                <a:latin typeface="Arial" panose="020B0604020202020204"/>
              </a:rPr>
              <a:t>Mọi quyết định kỹ thuật phải hướng tới việc nâng cao hiệu quả vận hành của nhà hàng và trải nghiệm gọi món của thực khách.</a:t>
            </a:r>
            <a:endParaRPr sz="1150">
              <a:solidFill>
                <a:srgbClr val="E2E8F0"/>
              </a:solidFill>
              <a:latin typeface="Arial" panose="020B0604020202020204"/>
            </a:endParaRPr>
          </a:p>
          <a:p>
            <a:pPr>
              <a:spcBef>
                <a:spcPts val="1200"/>
              </a:spcBef>
            </a:pPr>
            <a:endParaRPr sz="1150">
              <a:solidFill>
                <a:srgbClr val="E2E8F0"/>
              </a:solidFill>
              <a:latin typeface="Arial" panose="020B0604020202020204"/>
            </a:endParaRPr>
          </a:p>
          <a:p>
            <a:pPr>
              <a:spcBef>
                <a:spcPts val="1200"/>
              </a:spcBef>
            </a:pPr>
            <a:endParaRPr sz="1150">
              <a:solidFill>
                <a:srgbClr val="E2E8F0"/>
              </a:solidFill>
              <a:latin typeface="Arial" panose="020B0604020202020204"/>
            </a:endParaRPr>
          </a:p>
          <a:p>
            <a:pPr algn="ctr">
              <a:spcBef>
                <a:spcPts val="2400"/>
              </a:spcBef>
            </a:pPr>
            <a:r>
              <a:rPr sz="1400" b="1">
                <a:solidFill>
                  <a:srgbClr val="FFFFFF"/>
                </a:solidFill>
                <a:latin typeface="Arial" panose="020B0604020202020204"/>
              </a:rPr>
              <a:t>XIN TRÂN TRỌNG CẢM ƠN THẦY VÀ CÁC BẠN ĐÃ LẮNG NGHE!
</a:t>
            </a:r>
            <a:endParaRPr sz="1400" b="1">
              <a:solidFill>
                <a:srgbClr val="FFFFFF"/>
              </a:solidFill>
              <a:latin typeface="Arial" panose="020B06040202020202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24931</Words>
  <Application>WPS Presentation</Application>
  <PresentationFormat>On-screen Show (4:3)</PresentationFormat>
  <Paragraphs>611</Paragraphs>
  <Slides>21</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21</vt:i4>
      </vt:variant>
    </vt:vector>
  </HeadingPairs>
  <TitlesOfParts>
    <vt:vector size="31" baseType="lpstr">
      <vt:lpstr>Arial</vt:lpstr>
      <vt:lpstr>SimSun</vt:lpstr>
      <vt:lpstr>Wingdings</vt:lpstr>
      <vt:lpstr>Arial</vt:lpstr>
      <vt:lpstr>Segoe UI</vt:lpstr>
      <vt:lpstr>Times New Roman</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Cimon Nguyen</cp:lastModifiedBy>
  <cp:revision>3</cp:revision>
  <dcterms:created xsi:type="dcterms:W3CDTF">2013-01-27T09:14:00Z</dcterms:created>
  <dcterms:modified xsi:type="dcterms:W3CDTF">2026-09-10T03:06:50Z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8102F88B9E1549728BC172C63C904D54_12</vt:lpwstr>
  </property>
</Properties>
</file>